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1027"/>
  </p:normalViewPr>
  <p:slideViewPr>
    <p:cSldViewPr snapToGrid="0" snapToObjects="1">
      <p:cViewPr varScale="1">
        <p:scale>
          <a:sx n="118" d="100"/>
          <a:sy n="118" d="100"/>
        </p:scale>
        <p:origin x="20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9345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</a:t>
            </a:r>
            <a:r>
              <a:rPr lang="en-US" dirty="0" err="1"/>
              <a:t>presentazione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divisa in cinque </a:t>
            </a:r>
            <a:r>
              <a:rPr lang="en-US" dirty="0" err="1"/>
              <a:t>blocchi</a:t>
            </a:r>
            <a:r>
              <a:rPr lang="en-US" dirty="0"/>
              <a:t> </a:t>
            </a:r>
            <a:r>
              <a:rPr lang="en-US" dirty="0" err="1"/>
              <a:t>logici</a:t>
            </a:r>
            <a:r>
              <a:rPr lang="en-US" dirty="0"/>
              <a:t>. </a:t>
            </a:r>
            <a:r>
              <a:rPr lang="en-US" dirty="0" err="1"/>
              <a:t>Iniziamo</a:t>
            </a:r>
            <a:r>
              <a:rPr lang="en-US" dirty="0"/>
              <a:t> con le </a:t>
            </a:r>
            <a:r>
              <a:rPr lang="en-US" dirty="0" err="1"/>
              <a:t>basi</a:t>
            </a:r>
            <a:r>
              <a:rPr lang="en-US" dirty="0"/>
              <a:t> </a:t>
            </a:r>
            <a:r>
              <a:rPr lang="en-US" dirty="0" err="1"/>
              <a:t>tecniche</a:t>
            </a:r>
            <a:r>
              <a:rPr lang="en-US" dirty="0"/>
              <a:t> — come </a:t>
            </a:r>
            <a:r>
              <a:rPr lang="en-US" dirty="0" err="1"/>
              <a:t>funziona</a:t>
            </a:r>
            <a:r>
              <a:rPr lang="en-US" dirty="0"/>
              <a:t> TORCS, come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interfaccia</a:t>
            </a:r>
            <a:r>
              <a:rPr lang="en-US" dirty="0"/>
              <a:t> con Python, </a:t>
            </a:r>
            <a:r>
              <a:rPr lang="en-US" dirty="0" err="1"/>
              <a:t>cosa</a:t>
            </a:r>
            <a:r>
              <a:rPr lang="en-US" dirty="0"/>
              <a:t> </a:t>
            </a:r>
            <a:r>
              <a:rPr lang="en-US" dirty="0" err="1"/>
              <a:t>vedono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sensori</a:t>
            </a:r>
            <a:r>
              <a:rPr lang="en-US" dirty="0"/>
              <a:t>,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mandiamo</a:t>
            </a:r>
            <a:r>
              <a:rPr lang="en-US" dirty="0"/>
              <a:t> al </a:t>
            </a:r>
            <a:r>
              <a:rPr lang="en-US" dirty="0" err="1"/>
              <a:t>motore</a:t>
            </a:r>
            <a:r>
              <a:rPr lang="en-US" dirty="0"/>
              <a:t>. Senza </a:t>
            </a:r>
            <a:r>
              <a:rPr lang="en-US" dirty="0" err="1"/>
              <a:t>capire</a:t>
            </a:r>
            <a:r>
              <a:rPr lang="en-US" dirty="0"/>
              <a:t> </a:t>
            </a:r>
            <a:r>
              <a:rPr lang="en-US" dirty="0" err="1"/>
              <a:t>l'ambiente</a:t>
            </a:r>
            <a:r>
              <a:rPr lang="en-US" dirty="0"/>
              <a:t> non ha senso </a:t>
            </a:r>
            <a:r>
              <a:rPr lang="en-US" dirty="0" err="1"/>
              <a:t>parlare</a:t>
            </a:r>
            <a:r>
              <a:rPr lang="en-US" dirty="0"/>
              <a:t> di </a:t>
            </a:r>
            <a:r>
              <a:rPr lang="en-US" dirty="0" err="1"/>
              <a:t>algoritmi</a:t>
            </a:r>
            <a:r>
              <a:rPr lang="en-US" dirty="0"/>
              <a:t>.</a:t>
            </a:r>
          </a:p>
          <a:p>
            <a:r>
              <a:rPr lang="en-US" dirty="0"/>
              <a:t>Poi </a:t>
            </a:r>
            <a:r>
              <a:rPr lang="en-US" dirty="0" err="1"/>
              <a:t>passiamo</a:t>
            </a:r>
            <a:r>
              <a:rPr lang="en-US" dirty="0"/>
              <a:t> </a:t>
            </a:r>
            <a:r>
              <a:rPr lang="en-US" dirty="0" err="1"/>
              <a:t>agli</a:t>
            </a:r>
            <a:r>
              <a:rPr lang="en-US" dirty="0"/>
              <a:t> </a:t>
            </a:r>
            <a:r>
              <a:rPr lang="en-US" dirty="0" err="1"/>
              <a:t>algoritmi</a:t>
            </a:r>
            <a:r>
              <a:rPr lang="en-US" dirty="0"/>
              <a:t>, in </a:t>
            </a:r>
            <a:r>
              <a:rPr lang="en-US" dirty="0" err="1"/>
              <a:t>ordine</a:t>
            </a:r>
            <a:r>
              <a:rPr lang="en-US" dirty="0"/>
              <a:t> </a:t>
            </a:r>
            <a:r>
              <a:rPr lang="en-US" dirty="0" err="1"/>
              <a:t>crescente</a:t>
            </a:r>
            <a:r>
              <a:rPr lang="en-US" dirty="0"/>
              <a:t> di </a:t>
            </a:r>
            <a:r>
              <a:rPr lang="en-US" dirty="0" err="1"/>
              <a:t>complessità</a:t>
            </a:r>
            <a:r>
              <a:rPr lang="en-US" dirty="0"/>
              <a:t>: prima il Q-Learning classico (senza </a:t>
            </a:r>
            <a:r>
              <a:rPr lang="en-US" dirty="0" err="1"/>
              <a:t>reti</a:t>
            </a:r>
            <a:r>
              <a:rPr lang="en-US" dirty="0"/>
              <a:t> </a:t>
            </a:r>
            <a:r>
              <a:rPr lang="en-US" dirty="0" err="1"/>
              <a:t>neurali</a:t>
            </a:r>
            <a:r>
              <a:rPr lang="en-US" dirty="0"/>
              <a:t>, </a:t>
            </a:r>
            <a:r>
              <a:rPr lang="en-US" dirty="0" err="1"/>
              <a:t>tutto</a:t>
            </a:r>
            <a:r>
              <a:rPr lang="en-US" dirty="0"/>
              <a:t> </a:t>
            </a:r>
            <a:r>
              <a:rPr lang="en-US" dirty="0" err="1"/>
              <a:t>gestito</a:t>
            </a:r>
            <a:r>
              <a:rPr lang="en-US" dirty="0"/>
              <a:t> con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tabella</a:t>
            </a:r>
            <a:r>
              <a:rPr lang="en-US" dirty="0"/>
              <a:t>), poi il Deep Reinforcement Learning (DDPG e PPO, dove </a:t>
            </a:r>
            <a:r>
              <a:rPr lang="en-US" dirty="0" err="1"/>
              <a:t>usiamo</a:t>
            </a:r>
            <a:r>
              <a:rPr lang="en-US" dirty="0"/>
              <a:t> </a:t>
            </a:r>
            <a:r>
              <a:rPr lang="en-US" dirty="0" err="1"/>
              <a:t>reti</a:t>
            </a:r>
            <a:r>
              <a:rPr lang="en-US" dirty="0"/>
              <a:t> </a:t>
            </a:r>
            <a:r>
              <a:rPr lang="en-US" dirty="0" err="1"/>
              <a:t>neurali</a:t>
            </a:r>
            <a:r>
              <a:rPr lang="en-US" dirty="0"/>
              <a:t>), poi </a:t>
            </a:r>
            <a:r>
              <a:rPr lang="en-US" dirty="0" err="1"/>
              <a:t>l'Imitation</a:t>
            </a:r>
            <a:r>
              <a:rPr lang="en-US" dirty="0"/>
              <a:t> Learning.</a:t>
            </a:r>
          </a:p>
          <a:p>
            <a:r>
              <a:rPr lang="en-US" dirty="0" err="1"/>
              <a:t>Infine</a:t>
            </a:r>
            <a:r>
              <a:rPr lang="en-US" dirty="0"/>
              <a:t> </a:t>
            </a:r>
            <a:r>
              <a:rPr lang="en-US" dirty="0" err="1"/>
              <a:t>chiudiamo</a:t>
            </a:r>
            <a:r>
              <a:rPr lang="en-US" dirty="0"/>
              <a:t> con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sezione</a:t>
            </a:r>
            <a:r>
              <a:rPr lang="en-US" dirty="0"/>
              <a:t> </a:t>
            </a:r>
            <a:r>
              <a:rPr lang="en-US" dirty="0" err="1"/>
              <a:t>pratica</a:t>
            </a:r>
            <a:r>
              <a:rPr lang="en-US" dirty="0"/>
              <a:t>: le </a:t>
            </a:r>
            <a:r>
              <a:rPr lang="en-US" dirty="0" err="1"/>
              <a:t>insidie</a:t>
            </a:r>
            <a:r>
              <a:rPr lang="en-US" dirty="0"/>
              <a:t> </a:t>
            </a:r>
            <a:r>
              <a:rPr lang="en-US" dirty="0" err="1"/>
              <a:t>comuni</a:t>
            </a:r>
            <a:r>
              <a:rPr lang="en-US" dirty="0"/>
              <a:t>,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consigli</a:t>
            </a:r>
            <a:r>
              <a:rPr lang="en-US" dirty="0"/>
              <a:t> di debugging, e un </a:t>
            </a:r>
            <a:r>
              <a:rPr lang="en-US" dirty="0" err="1"/>
              <a:t>confronto</a:t>
            </a:r>
            <a:r>
              <a:rPr lang="en-US" dirty="0"/>
              <a:t> </a:t>
            </a:r>
            <a:r>
              <a:rPr lang="en-US" dirty="0" err="1"/>
              <a:t>onesto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tutti </a:t>
            </a:r>
            <a:r>
              <a:rPr lang="en-US" dirty="0" err="1"/>
              <a:t>gli</a:t>
            </a:r>
            <a:r>
              <a:rPr lang="en-US" dirty="0"/>
              <a:t> </a:t>
            </a:r>
            <a:r>
              <a:rPr lang="en-US" dirty="0" err="1"/>
              <a:t>approcci</a:t>
            </a:r>
            <a:r>
              <a:rPr lang="en-US" dirty="0"/>
              <a:t>.</a:t>
            </a:r>
          </a:p>
          <a:p>
            <a:r>
              <a:rPr lang="en-US" dirty="0"/>
              <a:t>Una </a:t>
            </a:r>
            <a:r>
              <a:rPr lang="en-US" dirty="0" err="1"/>
              <a:t>cosa</a:t>
            </a:r>
            <a:r>
              <a:rPr lang="en-US" dirty="0"/>
              <a:t> </a:t>
            </a:r>
            <a:r>
              <a:rPr lang="en-US" dirty="0" err="1"/>
              <a:t>importante</a:t>
            </a:r>
            <a:r>
              <a:rPr lang="en-US" dirty="0"/>
              <a:t>: non </a:t>
            </a:r>
            <a:r>
              <a:rPr lang="en-US" dirty="0" err="1"/>
              <a:t>siete</a:t>
            </a:r>
            <a:r>
              <a:rPr lang="en-US" dirty="0"/>
              <a:t> obbligati a </a:t>
            </a:r>
            <a:r>
              <a:rPr lang="en-US" dirty="0" err="1"/>
              <a:t>usare</a:t>
            </a:r>
            <a:r>
              <a:rPr lang="en-US" dirty="0"/>
              <a:t> tutte le </a:t>
            </a:r>
            <a:r>
              <a:rPr lang="en-US" dirty="0" err="1"/>
              <a:t>tecniche</a:t>
            </a:r>
            <a:r>
              <a:rPr lang="en-US" dirty="0"/>
              <a:t>. La </a:t>
            </a:r>
            <a:r>
              <a:rPr lang="en-US" dirty="0" err="1"/>
              <a:t>gara</a:t>
            </a:r>
            <a:r>
              <a:rPr lang="en-US" dirty="0"/>
              <a:t> non ha un </a:t>
            </a:r>
            <a:r>
              <a:rPr lang="en-US" dirty="0" err="1"/>
              <a:t>algoritmo</a:t>
            </a:r>
            <a:r>
              <a:rPr lang="en-US" dirty="0"/>
              <a:t> "</a:t>
            </a:r>
            <a:r>
              <a:rPr lang="en-US" dirty="0" err="1"/>
              <a:t>corretto</a:t>
            </a:r>
            <a:r>
              <a:rPr lang="en-US" dirty="0"/>
              <a:t>". </a:t>
            </a:r>
            <a:r>
              <a:rPr lang="en-US" dirty="0" err="1"/>
              <a:t>L'obiettivo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capire</a:t>
            </a:r>
            <a:r>
              <a:rPr lang="en-US" dirty="0"/>
              <a:t> le </a:t>
            </a:r>
            <a:r>
              <a:rPr lang="en-US" dirty="0" err="1"/>
              <a:t>opzioni</a:t>
            </a:r>
            <a:r>
              <a:rPr lang="en-US" dirty="0"/>
              <a:t>, </a:t>
            </a:r>
            <a:r>
              <a:rPr lang="en-US" dirty="0" err="1"/>
              <a:t>scegliere</a:t>
            </a:r>
            <a:r>
              <a:rPr lang="en-US" dirty="0"/>
              <a:t> </a:t>
            </a:r>
            <a:r>
              <a:rPr lang="en-US" dirty="0" err="1"/>
              <a:t>quella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adatta</a:t>
            </a:r>
            <a:r>
              <a:rPr lang="en-US" dirty="0"/>
              <a:t> al vostro </a:t>
            </a:r>
            <a:r>
              <a:rPr lang="en-US" dirty="0" err="1"/>
              <a:t>livello</a:t>
            </a:r>
            <a:r>
              <a:rPr lang="en-US" dirty="0"/>
              <a:t> e al tempo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avete</a:t>
            </a:r>
            <a:r>
              <a:rPr lang="en-US" dirty="0"/>
              <a:t>, e </a:t>
            </a:r>
            <a:r>
              <a:rPr lang="en-US" dirty="0" err="1"/>
              <a:t>implementarla</a:t>
            </a:r>
            <a:r>
              <a:rPr lang="en-US" dirty="0"/>
              <a:t> bene.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Iniziamo con le basi: come funziona TORCS e come interfacciarsi con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TORCS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l'acronimo</a:t>
            </a:r>
            <a:r>
              <a:rPr lang="en-US" dirty="0"/>
              <a:t> di </a:t>
            </a:r>
            <a:r>
              <a:rPr lang="en-US" i="1" dirty="0"/>
              <a:t>The Open Racing Car Simulator</a:t>
            </a:r>
            <a:r>
              <a:rPr lang="en-US" dirty="0"/>
              <a:t>. </a:t>
            </a:r>
            <a:r>
              <a:rPr lang="en-US" dirty="0" err="1"/>
              <a:t>Nasce</a:t>
            </a:r>
            <a:r>
              <a:rPr lang="en-US" dirty="0"/>
              <a:t> </a:t>
            </a:r>
            <a:r>
              <a:rPr lang="en-US" dirty="0" err="1"/>
              <a:t>nel</a:t>
            </a:r>
            <a:r>
              <a:rPr lang="en-US" dirty="0"/>
              <a:t> 1997 come </a:t>
            </a:r>
            <a:r>
              <a:rPr lang="en-US" dirty="0" err="1"/>
              <a:t>videogioco</a:t>
            </a:r>
            <a:r>
              <a:rPr lang="en-US" dirty="0"/>
              <a:t> di </a:t>
            </a:r>
            <a:r>
              <a:rPr lang="en-US" dirty="0" err="1"/>
              <a:t>corse</a:t>
            </a:r>
            <a:r>
              <a:rPr lang="en-US" dirty="0"/>
              <a:t> open-source, </a:t>
            </a:r>
            <a:r>
              <a:rPr lang="en-US" dirty="0" err="1"/>
              <a:t>sviluppato</a:t>
            </a:r>
            <a:r>
              <a:rPr lang="en-US" dirty="0"/>
              <a:t> da Eric Espié e Christophe Guionneau, poi </a:t>
            </a:r>
            <a:r>
              <a:rPr lang="en-US" dirty="0" err="1"/>
              <a:t>evoluto</a:t>
            </a:r>
            <a:r>
              <a:rPr lang="en-US" dirty="0"/>
              <a:t> da Bernhard Wymann in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piattaforma</a:t>
            </a:r>
            <a:r>
              <a:rPr lang="en-US" dirty="0"/>
              <a:t> seria per la </a:t>
            </a:r>
            <a:r>
              <a:rPr lang="en-US" dirty="0" err="1"/>
              <a:t>ricerca</a:t>
            </a:r>
            <a:r>
              <a:rPr lang="en-US" dirty="0"/>
              <a:t> in </a:t>
            </a:r>
            <a:r>
              <a:rPr lang="en-US" dirty="0" err="1"/>
              <a:t>intelligenza</a:t>
            </a:r>
            <a:r>
              <a:rPr lang="en-US" dirty="0"/>
              <a:t> </a:t>
            </a:r>
            <a:r>
              <a:rPr lang="en-US" dirty="0" err="1"/>
              <a:t>artificiale</a:t>
            </a:r>
            <a:r>
              <a:rPr lang="en-US" dirty="0"/>
              <a:t>. Oggi, </a:t>
            </a:r>
            <a:r>
              <a:rPr lang="en-US" dirty="0" err="1"/>
              <a:t>nella</a:t>
            </a:r>
            <a:r>
              <a:rPr lang="en-US" dirty="0"/>
              <a:t> </a:t>
            </a:r>
            <a:r>
              <a:rPr lang="en-US" dirty="0" err="1"/>
              <a:t>versione</a:t>
            </a:r>
            <a:r>
              <a:rPr lang="en-US" dirty="0"/>
              <a:t> 1.3.7 (2016), </a:t>
            </a:r>
            <a:r>
              <a:rPr lang="en-US" dirty="0" err="1"/>
              <a:t>è</a:t>
            </a:r>
            <a:r>
              <a:rPr lang="en-US" dirty="0"/>
              <a:t> uno </a:t>
            </a:r>
            <a:r>
              <a:rPr lang="en-US" dirty="0" err="1"/>
              <a:t>dei</a:t>
            </a:r>
            <a:r>
              <a:rPr lang="en-US" dirty="0"/>
              <a:t> benchmark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usati</a:t>
            </a:r>
            <a:r>
              <a:rPr lang="en-US" dirty="0"/>
              <a:t> al mondo per </a:t>
            </a:r>
            <a:r>
              <a:rPr lang="en-US" dirty="0" err="1"/>
              <a:t>testare</a:t>
            </a:r>
            <a:r>
              <a:rPr lang="en-US" dirty="0"/>
              <a:t> </a:t>
            </a:r>
            <a:r>
              <a:rPr lang="en-US" dirty="0" err="1"/>
              <a:t>algoritmi</a:t>
            </a:r>
            <a:r>
              <a:rPr lang="en-US" dirty="0"/>
              <a:t> di </a:t>
            </a:r>
            <a:r>
              <a:rPr lang="en-US" dirty="0" err="1"/>
              <a:t>guida</a:t>
            </a:r>
            <a:r>
              <a:rPr lang="en-US" dirty="0"/>
              <a:t> </a:t>
            </a:r>
            <a:r>
              <a:rPr lang="en-US" dirty="0" err="1"/>
              <a:t>autonoma</a:t>
            </a:r>
            <a:r>
              <a:rPr lang="en-US" dirty="0"/>
              <a:t>.</a:t>
            </a:r>
          </a:p>
          <a:p>
            <a:r>
              <a:rPr lang="en-US" dirty="0" err="1"/>
              <a:t>Perché</a:t>
            </a:r>
            <a:r>
              <a:rPr lang="en-US" dirty="0"/>
              <a:t> TORCS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interessante</a:t>
            </a:r>
            <a:r>
              <a:rPr lang="en-US" dirty="0"/>
              <a:t> per la </a:t>
            </a:r>
            <a:r>
              <a:rPr lang="en-US" dirty="0" err="1"/>
              <a:t>ricerca</a:t>
            </a:r>
            <a:r>
              <a:rPr lang="en-US" dirty="0"/>
              <a:t> AI? </a:t>
            </a:r>
            <a:r>
              <a:rPr lang="en-US" dirty="0" err="1"/>
              <a:t>Perché</a:t>
            </a:r>
            <a:r>
              <a:rPr lang="en-US" dirty="0"/>
              <a:t> </a:t>
            </a:r>
            <a:r>
              <a:rPr lang="en-US" dirty="0" err="1"/>
              <a:t>espone</a:t>
            </a:r>
            <a:r>
              <a:rPr lang="en-US" dirty="0"/>
              <a:t> un </a:t>
            </a:r>
            <a:r>
              <a:rPr lang="en-US" dirty="0" err="1"/>
              <a:t>ambiente</a:t>
            </a:r>
            <a:r>
              <a:rPr lang="en-US" dirty="0"/>
              <a:t> </a:t>
            </a:r>
            <a:r>
              <a:rPr lang="en-US" dirty="0" err="1"/>
              <a:t>fisicamente</a:t>
            </a:r>
            <a:r>
              <a:rPr lang="en-US" dirty="0"/>
              <a:t> </a:t>
            </a:r>
            <a:r>
              <a:rPr lang="en-US" dirty="0" err="1"/>
              <a:t>realistico</a:t>
            </a:r>
            <a:r>
              <a:rPr lang="en-US" dirty="0"/>
              <a:t> ma </a:t>
            </a:r>
            <a:r>
              <a:rPr lang="en-US" dirty="0" err="1"/>
              <a:t>computazionalmente</a:t>
            </a:r>
            <a:r>
              <a:rPr lang="en-US" dirty="0"/>
              <a:t> </a:t>
            </a:r>
            <a:r>
              <a:rPr lang="en-US" dirty="0" err="1"/>
              <a:t>controllato</a:t>
            </a:r>
            <a:r>
              <a:rPr lang="en-US" dirty="0"/>
              <a:t>: </a:t>
            </a:r>
            <a:r>
              <a:rPr lang="en-US" dirty="0" err="1"/>
              <a:t>c'è</a:t>
            </a:r>
            <a:r>
              <a:rPr lang="en-US" dirty="0"/>
              <a:t> </a:t>
            </a:r>
            <a:r>
              <a:rPr lang="en-US" dirty="0" err="1"/>
              <a:t>attrito</a:t>
            </a:r>
            <a:r>
              <a:rPr lang="en-US" dirty="0"/>
              <a:t>, </a:t>
            </a:r>
            <a:r>
              <a:rPr lang="en-US" dirty="0" err="1"/>
              <a:t>inerzia</a:t>
            </a:r>
            <a:r>
              <a:rPr lang="en-US" dirty="0"/>
              <a:t>, peso del </a:t>
            </a:r>
            <a:r>
              <a:rPr lang="en-US" dirty="0" err="1"/>
              <a:t>veicolo</a:t>
            </a:r>
            <a:r>
              <a:rPr lang="en-US" dirty="0"/>
              <a:t>, </a:t>
            </a:r>
            <a:r>
              <a:rPr lang="en-US" dirty="0" err="1"/>
              <a:t>geometria</a:t>
            </a:r>
            <a:r>
              <a:rPr lang="en-US" dirty="0"/>
              <a:t> del </a:t>
            </a:r>
            <a:r>
              <a:rPr lang="en-US" dirty="0" err="1"/>
              <a:t>tracciato</a:t>
            </a:r>
            <a:r>
              <a:rPr lang="en-US" dirty="0"/>
              <a:t> — ma </a:t>
            </a:r>
            <a:r>
              <a:rPr lang="en-US" dirty="0" err="1"/>
              <a:t>tutto</a:t>
            </a:r>
            <a:r>
              <a:rPr lang="en-US" dirty="0"/>
              <a:t> </a:t>
            </a:r>
            <a:r>
              <a:rPr lang="en-US" dirty="0" err="1"/>
              <a:t>avviene</a:t>
            </a:r>
            <a:r>
              <a:rPr lang="en-US" dirty="0"/>
              <a:t> in </a:t>
            </a:r>
            <a:r>
              <a:rPr lang="en-US" dirty="0" err="1"/>
              <a:t>simulazione</a:t>
            </a:r>
            <a:r>
              <a:rPr lang="en-US" dirty="0"/>
              <a:t>, </a:t>
            </a:r>
            <a:r>
              <a:rPr lang="en-US" dirty="0" err="1"/>
              <a:t>quindi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può</a:t>
            </a:r>
            <a:r>
              <a:rPr lang="en-US" dirty="0"/>
              <a:t> far </a:t>
            </a:r>
            <a:r>
              <a:rPr lang="en-US" dirty="0" err="1"/>
              <a:t>girare</a:t>
            </a:r>
            <a:r>
              <a:rPr lang="en-US" dirty="0"/>
              <a:t> a </a:t>
            </a:r>
            <a:r>
              <a:rPr lang="en-US" dirty="0" err="1"/>
              <a:t>velocità</a:t>
            </a:r>
            <a:r>
              <a:rPr lang="en-US" dirty="0"/>
              <a:t> </a:t>
            </a:r>
            <a:r>
              <a:rPr lang="en-US" dirty="0" err="1"/>
              <a:t>accelerata</a:t>
            </a:r>
            <a:r>
              <a:rPr lang="en-US" dirty="0"/>
              <a:t> senza </a:t>
            </a:r>
            <a:r>
              <a:rPr lang="en-US" dirty="0" err="1"/>
              <a:t>rischi</a:t>
            </a:r>
            <a:r>
              <a:rPr lang="en-US" dirty="0"/>
              <a:t> e senza </a:t>
            </a:r>
            <a:r>
              <a:rPr lang="en-US" dirty="0" err="1"/>
              <a:t>costi</a:t>
            </a:r>
            <a:r>
              <a:rPr lang="en-US" dirty="0"/>
              <a:t>. Si </a:t>
            </a:r>
            <a:r>
              <a:rPr lang="en-US" dirty="0" err="1"/>
              <a:t>possono</a:t>
            </a:r>
            <a:r>
              <a:rPr lang="en-US" dirty="0"/>
              <a:t> </a:t>
            </a:r>
            <a:r>
              <a:rPr lang="en-US" dirty="0" err="1"/>
              <a:t>raccogliere</a:t>
            </a:r>
            <a:r>
              <a:rPr lang="en-US" dirty="0"/>
              <a:t> </a:t>
            </a:r>
            <a:r>
              <a:rPr lang="en-US" dirty="0" err="1"/>
              <a:t>milioni</a:t>
            </a:r>
            <a:r>
              <a:rPr lang="en-US" dirty="0"/>
              <a:t> di </a:t>
            </a:r>
            <a:r>
              <a:rPr lang="en-US" dirty="0" err="1"/>
              <a:t>passi</a:t>
            </a:r>
            <a:r>
              <a:rPr lang="en-US" dirty="0"/>
              <a:t> di </a:t>
            </a:r>
            <a:r>
              <a:rPr lang="en-US" dirty="0" err="1"/>
              <a:t>simulazione</a:t>
            </a:r>
            <a:r>
              <a:rPr lang="en-US" dirty="0"/>
              <a:t> in ore </a:t>
            </a:r>
            <a:r>
              <a:rPr lang="en-US" dirty="0" err="1"/>
              <a:t>invece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anni.</a:t>
            </a:r>
          </a:p>
          <a:p>
            <a:r>
              <a:rPr lang="en-US" dirty="0"/>
              <a:t>La </a:t>
            </a:r>
            <a:r>
              <a:rPr lang="en-US" dirty="0" err="1"/>
              <a:t>gara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affronterete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essenzialmente</a:t>
            </a:r>
            <a:r>
              <a:rPr lang="en-US" dirty="0"/>
              <a:t> </a:t>
            </a:r>
            <a:r>
              <a:rPr lang="en-US" dirty="0" err="1"/>
              <a:t>questo</a:t>
            </a:r>
            <a:r>
              <a:rPr lang="en-US" dirty="0"/>
              <a:t>: </a:t>
            </a:r>
            <a:r>
              <a:rPr lang="en-US" dirty="0" err="1"/>
              <a:t>scrivete</a:t>
            </a:r>
            <a:r>
              <a:rPr lang="en-US" dirty="0"/>
              <a:t> un </a:t>
            </a:r>
            <a:r>
              <a:rPr lang="en-US" dirty="0" err="1"/>
              <a:t>programma</a:t>
            </a:r>
            <a:r>
              <a:rPr lang="en-US" dirty="0"/>
              <a:t> Python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prende</a:t>
            </a:r>
            <a:r>
              <a:rPr lang="en-US" dirty="0"/>
              <a:t> in input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sensori</a:t>
            </a:r>
            <a:r>
              <a:rPr lang="en-US" dirty="0"/>
              <a:t> </a:t>
            </a:r>
            <a:r>
              <a:rPr lang="en-US" dirty="0" err="1"/>
              <a:t>dell'auto</a:t>
            </a:r>
            <a:r>
              <a:rPr lang="en-US" dirty="0"/>
              <a:t> (</a:t>
            </a:r>
            <a:r>
              <a:rPr lang="en-US" dirty="0" err="1"/>
              <a:t>posizione</a:t>
            </a:r>
            <a:r>
              <a:rPr lang="en-US" dirty="0"/>
              <a:t>, </a:t>
            </a:r>
            <a:r>
              <a:rPr lang="en-US" dirty="0" err="1"/>
              <a:t>velocità</a:t>
            </a:r>
            <a:r>
              <a:rPr lang="en-US" dirty="0"/>
              <a:t>, </a:t>
            </a:r>
            <a:r>
              <a:rPr lang="en-US" dirty="0" err="1"/>
              <a:t>distanza</a:t>
            </a:r>
            <a:r>
              <a:rPr lang="en-US" dirty="0"/>
              <a:t> </a:t>
            </a:r>
            <a:r>
              <a:rPr lang="en-US" dirty="0" err="1"/>
              <a:t>dai</a:t>
            </a:r>
            <a:r>
              <a:rPr lang="en-US" dirty="0"/>
              <a:t> </a:t>
            </a:r>
            <a:r>
              <a:rPr lang="en-US" dirty="0" err="1"/>
              <a:t>bordi</a:t>
            </a:r>
            <a:r>
              <a:rPr lang="en-US" dirty="0"/>
              <a:t> della </a:t>
            </a:r>
            <a:r>
              <a:rPr lang="en-US" dirty="0" err="1"/>
              <a:t>pista</a:t>
            </a:r>
            <a:r>
              <a:rPr lang="en-US" dirty="0"/>
              <a:t>) e </a:t>
            </a:r>
            <a:r>
              <a:rPr lang="en-US" dirty="0" err="1"/>
              <a:t>restituisce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comandi</a:t>
            </a:r>
            <a:r>
              <a:rPr lang="en-US" dirty="0"/>
              <a:t> (</a:t>
            </a:r>
            <a:r>
              <a:rPr lang="en-US" dirty="0" err="1"/>
              <a:t>sterzo</a:t>
            </a:r>
            <a:r>
              <a:rPr lang="en-US" dirty="0"/>
              <a:t>, gas, </a:t>
            </a:r>
            <a:r>
              <a:rPr lang="en-US" dirty="0" err="1"/>
              <a:t>freno</a:t>
            </a:r>
            <a:r>
              <a:rPr lang="en-US" dirty="0"/>
              <a:t>). </a:t>
            </a:r>
            <a:r>
              <a:rPr lang="en-US" dirty="0" err="1"/>
              <a:t>L'obiettivo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completare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giri</a:t>
            </a:r>
            <a:r>
              <a:rPr lang="en-US" dirty="0"/>
              <a:t> </a:t>
            </a:r>
            <a:r>
              <a:rPr lang="en-US" dirty="0" err="1"/>
              <a:t>nel</a:t>
            </a:r>
            <a:r>
              <a:rPr lang="en-US" dirty="0"/>
              <a:t> minor tempo </a:t>
            </a:r>
            <a:r>
              <a:rPr lang="en-US" dirty="0" err="1"/>
              <a:t>possibile</a:t>
            </a:r>
            <a:r>
              <a:rPr lang="en-US" dirty="0"/>
              <a:t> senza </a:t>
            </a:r>
            <a:r>
              <a:rPr lang="en-US" dirty="0" err="1"/>
              <a:t>uscire</a:t>
            </a:r>
            <a:r>
              <a:rPr lang="en-US" dirty="0"/>
              <a:t> di </a:t>
            </a:r>
            <a:r>
              <a:rPr lang="en-US" dirty="0" err="1"/>
              <a:t>pista</a:t>
            </a:r>
            <a:r>
              <a:rPr lang="en-US" dirty="0"/>
              <a:t>.</a:t>
            </a:r>
          </a:p>
          <a:p>
            <a:r>
              <a:rPr lang="en-US" dirty="0"/>
              <a:t>Ci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tre</a:t>
            </a:r>
            <a:r>
              <a:rPr lang="en-US" dirty="0"/>
              <a:t> </a:t>
            </a:r>
            <a:r>
              <a:rPr lang="en-US" dirty="0" err="1"/>
              <a:t>grandi</a:t>
            </a:r>
            <a:r>
              <a:rPr lang="en-US" dirty="0"/>
              <a:t> </a:t>
            </a:r>
            <a:r>
              <a:rPr lang="en-US" dirty="0" err="1"/>
              <a:t>famiglie</a:t>
            </a:r>
            <a:r>
              <a:rPr lang="en-US" dirty="0"/>
              <a:t> di </a:t>
            </a:r>
            <a:r>
              <a:rPr lang="en-US" dirty="0" err="1"/>
              <a:t>tecniche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vedremo</a:t>
            </a:r>
            <a:r>
              <a:rPr lang="en-US" dirty="0"/>
              <a:t>: il </a:t>
            </a:r>
            <a:r>
              <a:rPr lang="en-US" b="1" dirty="0"/>
              <a:t>Reinforcement Learning</a:t>
            </a:r>
            <a:r>
              <a:rPr lang="en-US" dirty="0"/>
              <a:t> (</a:t>
            </a:r>
            <a:r>
              <a:rPr lang="en-US" dirty="0" err="1"/>
              <a:t>l'auto</a:t>
            </a:r>
            <a:r>
              <a:rPr lang="en-US" dirty="0"/>
              <a:t> </a:t>
            </a:r>
            <a:r>
              <a:rPr lang="en-US" dirty="0" err="1"/>
              <a:t>impara</a:t>
            </a:r>
            <a:r>
              <a:rPr lang="en-US" dirty="0"/>
              <a:t> per </a:t>
            </a:r>
            <a:r>
              <a:rPr lang="en-US" dirty="0" err="1"/>
              <a:t>tentativi</a:t>
            </a:r>
            <a:r>
              <a:rPr lang="en-US" dirty="0"/>
              <a:t> ed </a:t>
            </a:r>
            <a:r>
              <a:rPr lang="en-US" dirty="0" err="1"/>
              <a:t>errori</a:t>
            </a:r>
            <a:r>
              <a:rPr lang="en-US" dirty="0"/>
              <a:t>, come un bambino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impara</a:t>
            </a:r>
            <a:r>
              <a:rPr lang="en-US" dirty="0"/>
              <a:t> ad </a:t>
            </a:r>
            <a:r>
              <a:rPr lang="en-US" dirty="0" err="1"/>
              <a:t>andare</a:t>
            </a:r>
            <a:r>
              <a:rPr lang="en-US" dirty="0"/>
              <a:t> in </a:t>
            </a:r>
            <a:r>
              <a:rPr lang="en-US" dirty="0" err="1"/>
              <a:t>bici</a:t>
            </a:r>
            <a:r>
              <a:rPr lang="en-US" dirty="0"/>
              <a:t>), </a:t>
            </a:r>
            <a:r>
              <a:rPr lang="en-US" dirty="0" err="1"/>
              <a:t>l'</a:t>
            </a:r>
            <a:r>
              <a:rPr lang="en-US" b="1" dirty="0" err="1"/>
              <a:t>Imitation</a:t>
            </a:r>
            <a:r>
              <a:rPr lang="en-US" b="1" dirty="0"/>
              <a:t> Learning</a:t>
            </a:r>
            <a:r>
              <a:rPr lang="en-US" dirty="0"/>
              <a:t> (</a:t>
            </a:r>
            <a:r>
              <a:rPr lang="en-US" dirty="0" err="1"/>
              <a:t>l'auto</a:t>
            </a:r>
            <a:r>
              <a:rPr lang="en-US" dirty="0"/>
              <a:t> </a:t>
            </a:r>
            <a:r>
              <a:rPr lang="en-US" dirty="0" err="1"/>
              <a:t>impara</a:t>
            </a:r>
            <a:r>
              <a:rPr lang="en-US" dirty="0"/>
              <a:t> </a:t>
            </a:r>
            <a:r>
              <a:rPr lang="en-US" dirty="0" err="1"/>
              <a:t>copiando</a:t>
            </a:r>
            <a:r>
              <a:rPr lang="en-US" dirty="0"/>
              <a:t> un </a:t>
            </a:r>
            <a:r>
              <a:rPr lang="en-US" dirty="0" err="1"/>
              <a:t>guidatore</a:t>
            </a:r>
            <a:r>
              <a:rPr lang="en-US" dirty="0"/>
              <a:t> </a:t>
            </a:r>
            <a:r>
              <a:rPr lang="en-US" dirty="0" err="1"/>
              <a:t>esperto</a:t>
            </a:r>
            <a:r>
              <a:rPr lang="en-US" dirty="0"/>
              <a:t>, come un </a:t>
            </a:r>
            <a:r>
              <a:rPr lang="en-US" dirty="0" err="1"/>
              <a:t>apprendista</a:t>
            </a:r>
            <a:r>
              <a:rPr lang="en-US" dirty="0"/>
              <a:t> </a:t>
            </a:r>
            <a:r>
              <a:rPr lang="en-US" dirty="0" err="1"/>
              <a:t>meccanico</a:t>
            </a:r>
            <a:r>
              <a:rPr lang="en-US" dirty="0"/>
              <a:t>), e </a:t>
            </a:r>
            <a:r>
              <a:rPr lang="en-US" dirty="0" err="1"/>
              <a:t>approcci</a:t>
            </a:r>
            <a:r>
              <a:rPr lang="en-US" dirty="0"/>
              <a:t> </a:t>
            </a:r>
            <a:r>
              <a:rPr lang="en-US" dirty="0" err="1"/>
              <a:t>ibridi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due.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TORCS di per </a:t>
            </a:r>
            <a:r>
              <a:rPr lang="en-US" dirty="0" err="1"/>
              <a:t>sé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scritto</a:t>
            </a:r>
            <a:r>
              <a:rPr lang="en-US" dirty="0"/>
              <a:t> in C++. Per </a:t>
            </a:r>
            <a:r>
              <a:rPr lang="en-US" dirty="0" err="1"/>
              <a:t>controllarlo</a:t>
            </a:r>
            <a:r>
              <a:rPr lang="en-US" dirty="0"/>
              <a:t> da Python </a:t>
            </a:r>
            <a:r>
              <a:rPr lang="en-US" dirty="0" err="1"/>
              <a:t>esistono</a:t>
            </a:r>
            <a:r>
              <a:rPr lang="en-US" dirty="0"/>
              <a:t> due wrapper </a:t>
            </a:r>
            <a:r>
              <a:rPr lang="en-US" dirty="0" err="1"/>
              <a:t>principali</a:t>
            </a:r>
            <a:r>
              <a:rPr lang="en-US" dirty="0"/>
              <a:t>.</a:t>
            </a:r>
          </a:p>
          <a:p>
            <a:r>
              <a:rPr lang="en-US" dirty="0"/>
              <a:t>Il primo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b="1" dirty="0" err="1"/>
              <a:t>gym_torcs</a:t>
            </a:r>
            <a:r>
              <a:rPr lang="en-US" dirty="0"/>
              <a:t> (repository: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ugo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-nama-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kun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gym_torcs</a:t>
            </a:r>
            <a:r>
              <a:rPr lang="en-US" dirty="0"/>
              <a:t>), </a:t>
            </a:r>
            <a:r>
              <a:rPr lang="en-US" dirty="0" err="1"/>
              <a:t>scritto</a:t>
            </a:r>
            <a:r>
              <a:rPr lang="en-US" dirty="0"/>
              <a:t> da Naoto Yoshida.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quello</a:t>
            </a:r>
            <a:r>
              <a:rPr lang="en-US" dirty="0"/>
              <a:t> citato </a:t>
            </a:r>
            <a:r>
              <a:rPr lang="en-US" dirty="0" err="1"/>
              <a:t>nella</a:t>
            </a:r>
            <a:r>
              <a:rPr lang="en-US" dirty="0"/>
              <a:t> </a:t>
            </a:r>
            <a:r>
              <a:rPr lang="en-US" dirty="0" err="1"/>
              <a:t>maggior</a:t>
            </a:r>
            <a:r>
              <a:rPr lang="en-US" dirty="0"/>
              <a:t> </a:t>
            </a:r>
            <a:r>
              <a:rPr lang="en-US" dirty="0" err="1"/>
              <a:t>parte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paper </a:t>
            </a:r>
            <a:r>
              <a:rPr lang="en-US" dirty="0" err="1"/>
              <a:t>accademici</a:t>
            </a:r>
            <a:r>
              <a:rPr lang="en-US" dirty="0"/>
              <a:t> e degli </a:t>
            </a:r>
            <a:r>
              <a:rPr lang="en-US" dirty="0" err="1"/>
              <a:t>esempi</a:t>
            </a:r>
            <a:r>
              <a:rPr lang="en-US" dirty="0"/>
              <a:t> online. </a:t>
            </a:r>
            <a:r>
              <a:rPr lang="en-US" dirty="0" err="1"/>
              <a:t>Implementa</a:t>
            </a:r>
            <a:r>
              <a:rPr lang="en-US" dirty="0"/>
              <a:t> </a:t>
            </a:r>
            <a:r>
              <a:rPr lang="en-US" dirty="0" err="1"/>
              <a:t>l'API</a:t>
            </a:r>
            <a:r>
              <a:rPr lang="en-US" dirty="0"/>
              <a:t> standard di OpenAI Gym,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lo standard de facto per </a:t>
            </a:r>
            <a:r>
              <a:rPr lang="en-US" dirty="0" err="1"/>
              <a:t>gli</a:t>
            </a:r>
            <a:r>
              <a:rPr lang="en-US" dirty="0"/>
              <a:t> </a:t>
            </a:r>
            <a:r>
              <a:rPr lang="en-US" dirty="0" err="1"/>
              <a:t>ambienti</a:t>
            </a:r>
            <a:r>
              <a:rPr lang="en-US" dirty="0"/>
              <a:t> di Reinforcement Learning in Python.</a:t>
            </a:r>
          </a:p>
          <a:p>
            <a:r>
              <a:rPr lang="en-US" dirty="0"/>
              <a:t>Il secondo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b="1" dirty="0" err="1"/>
              <a:t>pyTORCS</a:t>
            </a:r>
            <a:r>
              <a:rPr lang="en-US" dirty="0"/>
              <a:t> (repository: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gerkone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pyTORCS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-docker</a:t>
            </a:r>
            <a:r>
              <a:rPr lang="en-US" dirty="0"/>
              <a:t>, </a:t>
            </a:r>
            <a:r>
              <a:rPr lang="en-US" dirty="0" err="1"/>
              <a:t>tesi</a:t>
            </a:r>
            <a:r>
              <a:rPr lang="en-US" dirty="0"/>
              <a:t> di Gianluca Galletti </a:t>
            </a:r>
            <a:r>
              <a:rPr lang="en-US" dirty="0" err="1"/>
              <a:t>all'Università</a:t>
            </a:r>
            <a:r>
              <a:rPr lang="en-US" dirty="0"/>
              <a:t> di Bologna, 2019).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riscrittura</a:t>
            </a:r>
            <a:r>
              <a:rPr lang="en-US" dirty="0"/>
              <a:t> moderna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risolve</a:t>
            </a:r>
            <a:r>
              <a:rPr lang="en-US" dirty="0"/>
              <a:t> </a:t>
            </a:r>
            <a:r>
              <a:rPr lang="en-US" dirty="0" err="1"/>
              <a:t>diversi</a:t>
            </a:r>
            <a:r>
              <a:rPr lang="en-US" dirty="0"/>
              <a:t> bug </a:t>
            </a:r>
            <a:r>
              <a:rPr lang="en-US" dirty="0" err="1"/>
              <a:t>storici</a:t>
            </a:r>
            <a:r>
              <a:rPr lang="en-US" dirty="0"/>
              <a:t> di </a:t>
            </a:r>
            <a:r>
              <a:rPr lang="en-US" dirty="0" err="1"/>
              <a:t>gym_torcs</a:t>
            </a:r>
            <a:r>
              <a:rPr lang="en-US" dirty="0"/>
              <a:t>:</a:t>
            </a:r>
          </a:p>
          <a:p>
            <a:r>
              <a:rPr lang="en-US" dirty="0" err="1"/>
              <a:t>gym_torcs</a:t>
            </a:r>
            <a:r>
              <a:rPr lang="en-US" dirty="0"/>
              <a:t> </a:t>
            </a:r>
            <a:r>
              <a:rPr lang="en-US" dirty="0" err="1"/>
              <a:t>usava</a:t>
            </a:r>
            <a:r>
              <a:rPr lang="en-US" dirty="0"/>
              <a:t> TORCS 1.3.2, </a:t>
            </a:r>
            <a:r>
              <a:rPr lang="en-US" dirty="0" err="1"/>
              <a:t>che</a:t>
            </a:r>
            <a:r>
              <a:rPr lang="en-US" dirty="0"/>
              <a:t> ha un </a:t>
            </a:r>
            <a:r>
              <a:rPr lang="en-US" b="1" dirty="0"/>
              <a:t>memory leak</a:t>
            </a:r>
            <a:r>
              <a:rPr lang="en-US" dirty="0"/>
              <a:t>: ogni volta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riavvia</a:t>
            </a:r>
            <a:r>
              <a:rPr lang="en-US" dirty="0"/>
              <a:t> un </a:t>
            </a:r>
            <a:r>
              <a:rPr lang="en-US" dirty="0" err="1"/>
              <a:t>episodio</a:t>
            </a:r>
            <a:r>
              <a:rPr lang="en-US" dirty="0"/>
              <a:t>, TORCS </a:t>
            </a:r>
            <a:r>
              <a:rPr lang="en-US" dirty="0" err="1"/>
              <a:t>perde</a:t>
            </a:r>
            <a:r>
              <a:rPr lang="en-US" dirty="0"/>
              <a:t> un po' di memoria, e dopo </a:t>
            </a:r>
            <a:r>
              <a:rPr lang="en-US" dirty="0" err="1"/>
              <a:t>centinaia</a:t>
            </a:r>
            <a:r>
              <a:rPr lang="en-US" dirty="0"/>
              <a:t> di </a:t>
            </a:r>
            <a:r>
              <a:rPr lang="en-US" dirty="0" err="1"/>
              <a:t>episodi</a:t>
            </a:r>
            <a:r>
              <a:rPr lang="en-US" dirty="0"/>
              <a:t> </a:t>
            </a:r>
            <a:r>
              <a:rPr lang="en-US" dirty="0" err="1"/>
              <a:t>crasha</a:t>
            </a:r>
            <a:r>
              <a:rPr lang="en-US" dirty="0"/>
              <a:t>.</a:t>
            </a:r>
          </a:p>
          <a:p>
            <a:r>
              <a:rPr lang="en-US" dirty="0" err="1"/>
              <a:t>gym_torcs</a:t>
            </a:r>
            <a:r>
              <a:rPr lang="en-US" dirty="0"/>
              <a:t> </a:t>
            </a:r>
            <a:r>
              <a:rPr lang="en-US" dirty="0" err="1"/>
              <a:t>usava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xautomation</a:t>
            </a:r>
            <a:r>
              <a:rPr lang="en-US" dirty="0"/>
              <a:t> per </a:t>
            </a:r>
            <a:r>
              <a:rPr lang="en-US" dirty="0" err="1"/>
              <a:t>simulare</a:t>
            </a:r>
            <a:r>
              <a:rPr lang="en-US" dirty="0"/>
              <a:t> la </a:t>
            </a:r>
            <a:r>
              <a:rPr lang="en-US" dirty="0" err="1"/>
              <a:t>tastiera</a:t>
            </a:r>
            <a:r>
              <a:rPr lang="en-US" dirty="0"/>
              <a:t> e </a:t>
            </a:r>
            <a:r>
              <a:rPr lang="en-US" dirty="0" err="1"/>
              <a:t>selezionare</a:t>
            </a:r>
            <a:r>
              <a:rPr lang="en-US" dirty="0"/>
              <a:t> la </a:t>
            </a:r>
            <a:r>
              <a:rPr lang="en-US" dirty="0" err="1"/>
              <a:t>gara</a:t>
            </a:r>
            <a:r>
              <a:rPr lang="en-US" dirty="0"/>
              <a:t> dal menu — il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significava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non </a:t>
            </a:r>
            <a:r>
              <a:rPr lang="en-US" dirty="0" err="1"/>
              <a:t>potevate</a:t>
            </a:r>
            <a:r>
              <a:rPr lang="en-US" dirty="0"/>
              <a:t> </a:t>
            </a:r>
            <a:r>
              <a:rPr lang="en-US" dirty="0" err="1"/>
              <a:t>usare</a:t>
            </a:r>
            <a:r>
              <a:rPr lang="en-US" dirty="0"/>
              <a:t> il computer </a:t>
            </a:r>
            <a:r>
              <a:rPr lang="en-US" dirty="0" err="1"/>
              <a:t>durante</a:t>
            </a:r>
            <a:r>
              <a:rPr lang="en-US" dirty="0"/>
              <a:t> il training.</a:t>
            </a:r>
          </a:p>
          <a:p>
            <a:r>
              <a:rPr lang="en-US" dirty="0" err="1"/>
              <a:t>C'era</a:t>
            </a:r>
            <a:r>
              <a:rPr lang="en-US" dirty="0"/>
              <a:t> un </a:t>
            </a:r>
            <a:r>
              <a:rPr lang="en-US" dirty="0" err="1"/>
              <a:t>problema</a:t>
            </a:r>
            <a:r>
              <a:rPr lang="en-US" dirty="0"/>
              <a:t> di </a:t>
            </a:r>
            <a:r>
              <a:rPr lang="en-US" b="1" dirty="0"/>
              <a:t>buffer bloat UDP</a:t>
            </a:r>
            <a:r>
              <a:rPr lang="en-US" dirty="0"/>
              <a:t>: il buffer di rete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riempiva</a:t>
            </a:r>
            <a:r>
              <a:rPr lang="en-US" dirty="0"/>
              <a:t> di </a:t>
            </a:r>
            <a:r>
              <a:rPr lang="en-US" dirty="0" err="1"/>
              <a:t>pacchetti</a:t>
            </a:r>
            <a:r>
              <a:rPr lang="en-US" dirty="0"/>
              <a:t> </a:t>
            </a:r>
            <a:r>
              <a:rPr lang="en-US" dirty="0" err="1"/>
              <a:t>vecchi</a:t>
            </a:r>
            <a:r>
              <a:rPr lang="en-US" dirty="0"/>
              <a:t>, e </a:t>
            </a:r>
            <a:r>
              <a:rPr lang="en-US" dirty="0" err="1"/>
              <a:t>l'agente</a:t>
            </a:r>
            <a:r>
              <a:rPr lang="en-US" dirty="0"/>
              <a:t> </a:t>
            </a:r>
            <a:r>
              <a:rPr lang="en-US" dirty="0" err="1"/>
              <a:t>riceveva</a:t>
            </a:r>
            <a:r>
              <a:rPr lang="en-US" dirty="0"/>
              <a:t> </a:t>
            </a:r>
            <a:r>
              <a:rPr lang="en-US" dirty="0" err="1"/>
              <a:t>stati</a:t>
            </a:r>
            <a:r>
              <a:rPr lang="en-US" dirty="0"/>
              <a:t> con </a:t>
            </a:r>
            <a:r>
              <a:rPr lang="en-US" dirty="0" err="1"/>
              <a:t>diversi</a:t>
            </a:r>
            <a:r>
              <a:rPr lang="en-US" dirty="0"/>
              <a:t> secondi di </a:t>
            </a:r>
            <a:r>
              <a:rPr lang="en-US" dirty="0" err="1"/>
              <a:t>ritardo</a:t>
            </a:r>
            <a:r>
              <a:rPr lang="en-US" dirty="0"/>
              <a:t>.</a:t>
            </a:r>
          </a:p>
          <a:p>
            <a:r>
              <a:rPr lang="en-US" dirty="0" err="1"/>
              <a:t>pyTORCS</a:t>
            </a:r>
            <a:r>
              <a:rPr lang="en-US" dirty="0"/>
              <a:t> </a:t>
            </a:r>
            <a:r>
              <a:rPr lang="en-US" dirty="0" err="1"/>
              <a:t>risolve</a:t>
            </a:r>
            <a:r>
              <a:rPr lang="en-US" dirty="0"/>
              <a:t> </a:t>
            </a:r>
            <a:r>
              <a:rPr lang="en-US" dirty="0" err="1"/>
              <a:t>tutto</a:t>
            </a:r>
            <a:r>
              <a:rPr lang="en-US" dirty="0"/>
              <a:t> </a:t>
            </a:r>
            <a:r>
              <a:rPr lang="en-US" dirty="0" err="1"/>
              <a:t>questo</a:t>
            </a:r>
            <a:r>
              <a:rPr lang="en-US" dirty="0"/>
              <a:t> </a:t>
            </a:r>
            <a:r>
              <a:rPr lang="en-US" dirty="0" err="1"/>
              <a:t>usando</a:t>
            </a:r>
            <a:r>
              <a:rPr lang="en-US" dirty="0"/>
              <a:t> Docker (TORCS </a:t>
            </a:r>
            <a:r>
              <a:rPr lang="en-US" dirty="0" err="1"/>
              <a:t>gira</a:t>
            </a:r>
            <a:r>
              <a:rPr lang="en-US" dirty="0"/>
              <a:t> </a:t>
            </a:r>
            <a:r>
              <a:rPr lang="en-US" dirty="0" err="1"/>
              <a:t>isolato</a:t>
            </a:r>
            <a:r>
              <a:rPr lang="en-US" dirty="0"/>
              <a:t> in un container) e la </a:t>
            </a:r>
            <a:r>
              <a:rPr lang="en-US" dirty="0" err="1"/>
              <a:t>versione</a:t>
            </a:r>
            <a:r>
              <a:rPr lang="en-US" dirty="0"/>
              <a:t> 1.3.7.</a:t>
            </a:r>
          </a:p>
          <a:p>
            <a:r>
              <a:rPr lang="en-US" b="1" dirty="0"/>
              <a:t>L'API Gym </a:t>
            </a:r>
            <a:r>
              <a:rPr lang="en-US" b="1" dirty="0" err="1"/>
              <a:t>è</a:t>
            </a:r>
            <a:r>
              <a:rPr lang="en-US" b="1" dirty="0"/>
              <a:t> </a:t>
            </a:r>
            <a:r>
              <a:rPr lang="en-US" b="1" dirty="0" err="1"/>
              <a:t>fondamentale</a:t>
            </a:r>
            <a:r>
              <a:rPr lang="en-US" b="1" dirty="0"/>
              <a:t> da </a:t>
            </a:r>
            <a:r>
              <a:rPr lang="en-US" b="1" dirty="0" err="1"/>
              <a:t>capire</a:t>
            </a:r>
            <a:r>
              <a:rPr lang="en-US" b="1" dirty="0"/>
              <a:t>.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lo </a:t>
            </a:r>
            <a:r>
              <a:rPr lang="en-US" dirty="0" err="1"/>
              <a:t>stesso</a:t>
            </a:r>
            <a:r>
              <a:rPr lang="en-US" dirty="0"/>
              <a:t> standard </a:t>
            </a:r>
            <a:r>
              <a:rPr lang="en-US" dirty="0" err="1"/>
              <a:t>usato</a:t>
            </a:r>
            <a:r>
              <a:rPr lang="en-US" dirty="0"/>
              <a:t> da </a:t>
            </a:r>
            <a:r>
              <a:rPr lang="en-US" dirty="0" err="1"/>
              <a:t>CartPole</a:t>
            </a:r>
            <a:r>
              <a:rPr lang="en-US" dirty="0"/>
              <a:t>, </a:t>
            </a:r>
            <a:r>
              <a:rPr lang="en-US" dirty="0" err="1"/>
              <a:t>LunarLander</a:t>
            </a:r>
            <a:r>
              <a:rPr lang="en-US" dirty="0"/>
              <a:t>, Atari, </a:t>
            </a:r>
            <a:r>
              <a:rPr lang="en-US" dirty="0" err="1"/>
              <a:t>MuJoCo</a:t>
            </a:r>
            <a:r>
              <a:rPr lang="en-US" dirty="0"/>
              <a:t>. </a:t>
            </a:r>
            <a:r>
              <a:rPr lang="en-US" dirty="0" err="1"/>
              <a:t>Chiunque</a:t>
            </a:r>
            <a:r>
              <a:rPr lang="en-US" dirty="0"/>
              <a:t> </a:t>
            </a:r>
            <a:r>
              <a:rPr lang="en-US" dirty="0" err="1"/>
              <a:t>abbia</a:t>
            </a:r>
            <a:r>
              <a:rPr lang="en-US" dirty="0"/>
              <a:t> </a:t>
            </a:r>
            <a:r>
              <a:rPr lang="en-US" dirty="0" err="1"/>
              <a:t>già</a:t>
            </a:r>
            <a:r>
              <a:rPr lang="en-US" dirty="0"/>
              <a:t> </a:t>
            </a:r>
            <a:r>
              <a:rPr lang="en-US" dirty="0" err="1"/>
              <a:t>scritto</a:t>
            </a:r>
            <a:r>
              <a:rPr lang="en-US" dirty="0"/>
              <a:t> un </a:t>
            </a:r>
            <a:r>
              <a:rPr lang="en-US" dirty="0" err="1"/>
              <a:t>agente</a:t>
            </a:r>
            <a:r>
              <a:rPr lang="en-US" dirty="0"/>
              <a:t> RL per </a:t>
            </a:r>
            <a:r>
              <a:rPr lang="en-US" dirty="0" err="1"/>
              <a:t>qualsiasi</a:t>
            </a:r>
            <a:r>
              <a:rPr lang="en-US" dirty="0"/>
              <a:t> </a:t>
            </a:r>
            <a:r>
              <a:rPr lang="en-US" dirty="0" err="1"/>
              <a:t>ambiente</a:t>
            </a:r>
            <a:r>
              <a:rPr lang="en-US" dirty="0"/>
              <a:t> Gym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già</a:t>
            </a:r>
            <a:r>
              <a:rPr lang="en-US" dirty="0"/>
              <a:t> come </a:t>
            </a:r>
            <a:r>
              <a:rPr lang="en-US" dirty="0" err="1"/>
              <a:t>interfacciarsi</a:t>
            </a:r>
            <a:r>
              <a:rPr lang="en-US" dirty="0"/>
              <a:t> con TORCS. L'API ha </a:t>
            </a:r>
            <a:r>
              <a:rPr lang="en-US" dirty="0" err="1"/>
              <a:t>essenzialmente</a:t>
            </a:r>
            <a:r>
              <a:rPr lang="en-US" dirty="0"/>
              <a:t> </a:t>
            </a:r>
            <a:r>
              <a:rPr lang="en-US" dirty="0" err="1"/>
              <a:t>tre</a:t>
            </a:r>
            <a:r>
              <a:rPr lang="en-US" dirty="0"/>
              <a:t> </a:t>
            </a:r>
            <a:r>
              <a:rPr lang="en-US" dirty="0" err="1"/>
              <a:t>metodi</a:t>
            </a:r>
            <a:r>
              <a:rPr lang="en-US" dirty="0"/>
              <a:t>: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env.reset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— </a:t>
            </a:r>
            <a:r>
              <a:rPr lang="en-US" dirty="0" err="1"/>
              <a:t>riporta</a:t>
            </a:r>
            <a:r>
              <a:rPr lang="en-US" dirty="0"/>
              <a:t> </a:t>
            </a:r>
            <a:r>
              <a:rPr lang="en-US" dirty="0" err="1"/>
              <a:t>l'ambiente</a:t>
            </a:r>
            <a:r>
              <a:rPr lang="en-US" dirty="0"/>
              <a:t> </a:t>
            </a:r>
            <a:r>
              <a:rPr lang="en-US" dirty="0" err="1"/>
              <a:t>allo</a:t>
            </a:r>
            <a:r>
              <a:rPr lang="en-US" dirty="0"/>
              <a:t> </a:t>
            </a:r>
            <a:r>
              <a:rPr lang="en-US" dirty="0" err="1"/>
              <a:t>stato</a:t>
            </a:r>
            <a:r>
              <a:rPr lang="en-US" dirty="0"/>
              <a:t> </a:t>
            </a:r>
            <a:r>
              <a:rPr lang="en-US" dirty="0" err="1"/>
              <a:t>iniziale</a:t>
            </a:r>
            <a:r>
              <a:rPr lang="en-US" dirty="0"/>
              <a:t> e </a:t>
            </a:r>
            <a:r>
              <a:rPr lang="en-US" dirty="0" err="1"/>
              <a:t>restituisce</a:t>
            </a:r>
            <a:r>
              <a:rPr lang="en-US" dirty="0"/>
              <a:t> </a:t>
            </a:r>
            <a:r>
              <a:rPr lang="en-US" dirty="0" err="1"/>
              <a:t>l'osservazione</a:t>
            </a:r>
            <a:r>
              <a:rPr lang="en-US" dirty="0"/>
              <a:t> </a:t>
            </a:r>
            <a:r>
              <a:rPr lang="en-US" dirty="0" err="1"/>
              <a:t>iniziale</a:t>
            </a:r>
            <a:r>
              <a:rPr lang="en-US" dirty="0"/>
              <a:t> s₀. Va </a:t>
            </a:r>
            <a:r>
              <a:rPr lang="en-US" dirty="0" err="1"/>
              <a:t>chiamato</a:t>
            </a:r>
            <a:r>
              <a:rPr lang="en-US" dirty="0"/>
              <a:t> </a:t>
            </a:r>
            <a:r>
              <a:rPr lang="en-US" dirty="0" err="1"/>
              <a:t>all'inizio</a:t>
            </a:r>
            <a:r>
              <a:rPr lang="en-US" dirty="0"/>
              <a:t> di ogni </a:t>
            </a:r>
            <a:r>
              <a:rPr lang="en-US" dirty="0" err="1"/>
              <a:t>episodio</a:t>
            </a:r>
            <a:r>
              <a:rPr lang="en-US" dirty="0"/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env.step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(action)</a:t>
            </a:r>
            <a:r>
              <a:rPr lang="en-US" dirty="0"/>
              <a:t> — </a:t>
            </a:r>
            <a:r>
              <a:rPr lang="en-US" dirty="0" err="1"/>
              <a:t>applica</a:t>
            </a:r>
            <a:r>
              <a:rPr lang="en-US" dirty="0"/>
              <a:t> </a:t>
            </a:r>
            <a:r>
              <a:rPr lang="en-US" dirty="0" err="1"/>
              <a:t>l'azione</a:t>
            </a:r>
            <a:r>
              <a:rPr lang="en-US" dirty="0"/>
              <a:t>, </a:t>
            </a:r>
            <a:r>
              <a:rPr lang="en-US" dirty="0" err="1"/>
              <a:t>avanza</a:t>
            </a:r>
            <a:r>
              <a:rPr lang="en-US" dirty="0"/>
              <a:t> di un </a:t>
            </a:r>
            <a:r>
              <a:rPr lang="en-US" dirty="0" err="1"/>
              <a:t>passo</a:t>
            </a:r>
            <a:r>
              <a:rPr lang="en-US" dirty="0"/>
              <a:t> la </a:t>
            </a:r>
            <a:r>
              <a:rPr lang="en-US" dirty="0" err="1"/>
              <a:t>simulazione</a:t>
            </a:r>
            <a:r>
              <a:rPr lang="en-US" dirty="0"/>
              <a:t>, e </a:t>
            </a:r>
            <a:r>
              <a:rPr lang="en-US" dirty="0" err="1"/>
              <a:t>restituisce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tupla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(s', reward, done)</a:t>
            </a:r>
            <a:r>
              <a:rPr lang="en-US" dirty="0"/>
              <a:t>: il nuovo </a:t>
            </a:r>
            <a:r>
              <a:rPr lang="en-US" dirty="0" err="1"/>
              <a:t>stato</a:t>
            </a:r>
            <a:r>
              <a:rPr lang="en-US" dirty="0"/>
              <a:t>, il reward </a:t>
            </a:r>
            <a:r>
              <a:rPr lang="en-US" dirty="0" err="1"/>
              <a:t>ottenuto</a:t>
            </a:r>
            <a:r>
              <a:rPr lang="en-US" dirty="0"/>
              <a:t>, e un </a:t>
            </a:r>
            <a:r>
              <a:rPr lang="en-US" dirty="0" err="1"/>
              <a:t>booleano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dice se </a:t>
            </a:r>
            <a:r>
              <a:rPr lang="en-US" dirty="0" err="1"/>
              <a:t>l'episodio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finito.</a:t>
            </a:r>
          </a:p>
          <a:p>
            <a:r>
              <a:rPr lang="en-US" dirty="0"/>
              <a:t>(</a:t>
            </a:r>
            <a:r>
              <a:rPr lang="en-US" dirty="0" err="1"/>
              <a:t>opzionalmente</a:t>
            </a:r>
            <a:r>
              <a:rPr lang="en-US" dirty="0"/>
              <a:t>)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env.render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— </a:t>
            </a:r>
            <a:r>
              <a:rPr lang="en-US" dirty="0" err="1"/>
              <a:t>mostra</a:t>
            </a:r>
            <a:r>
              <a:rPr lang="en-US" dirty="0"/>
              <a:t> la </a:t>
            </a:r>
            <a:r>
              <a:rPr lang="en-US" dirty="0" err="1"/>
              <a:t>finestra</a:t>
            </a:r>
            <a:r>
              <a:rPr lang="en-US" dirty="0"/>
              <a:t> </a:t>
            </a:r>
            <a:r>
              <a:rPr lang="en-US" dirty="0" err="1"/>
              <a:t>grafica</a:t>
            </a:r>
            <a:r>
              <a:rPr lang="en-US" dirty="0"/>
              <a:t> di TORCS.</a:t>
            </a:r>
          </a:p>
          <a:p>
            <a:r>
              <a:rPr lang="en-US" dirty="0"/>
              <a:t>Il </a:t>
            </a:r>
            <a:r>
              <a:rPr lang="en-US" dirty="0" err="1"/>
              <a:t>fatto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sia</a:t>
            </a:r>
            <a:r>
              <a:rPr lang="en-US" dirty="0"/>
              <a:t> </a:t>
            </a:r>
            <a:r>
              <a:rPr lang="en-US" dirty="0" err="1"/>
              <a:t>compatibile</a:t>
            </a:r>
            <a:r>
              <a:rPr lang="en-US" dirty="0"/>
              <a:t> con </a:t>
            </a:r>
            <a:r>
              <a:rPr lang="en-US" dirty="0" err="1"/>
              <a:t>questa</a:t>
            </a:r>
            <a:r>
              <a:rPr lang="en-US" dirty="0"/>
              <a:t> API </a:t>
            </a:r>
            <a:r>
              <a:rPr lang="en-US" dirty="0" err="1"/>
              <a:t>significa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potete</a:t>
            </a:r>
            <a:r>
              <a:rPr lang="en-US" dirty="0"/>
              <a:t> </a:t>
            </a:r>
            <a:r>
              <a:rPr lang="en-US" dirty="0" err="1"/>
              <a:t>usare</a:t>
            </a:r>
            <a:r>
              <a:rPr lang="en-US" dirty="0"/>
              <a:t> </a:t>
            </a:r>
            <a:r>
              <a:rPr lang="en-US" dirty="0" err="1"/>
              <a:t>librerie</a:t>
            </a:r>
            <a:r>
              <a:rPr lang="en-US" dirty="0"/>
              <a:t> come </a:t>
            </a:r>
            <a:r>
              <a:rPr lang="en-US" b="1" dirty="0"/>
              <a:t>Stable-Baselines3</a:t>
            </a:r>
            <a:r>
              <a:rPr lang="en-US" dirty="0"/>
              <a:t> senza </a:t>
            </a:r>
            <a:r>
              <a:rPr lang="en-US" dirty="0" err="1"/>
              <a:t>modificare</a:t>
            </a:r>
            <a:r>
              <a:rPr lang="en-US" dirty="0"/>
              <a:t> quasi </a:t>
            </a:r>
            <a:r>
              <a:rPr lang="en-US" dirty="0" err="1"/>
              <a:t>nulla</a:t>
            </a:r>
            <a:r>
              <a:rPr lang="en-US" dirty="0"/>
              <a:t>: basta </a:t>
            </a:r>
            <a:r>
              <a:rPr lang="en-US" dirty="0" err="1"/>
              <a:t>passare</a:t>
            </a:r>
            <a:r>
              <a:rPr lang="en-US" dirty="0"/>
              <a:t> </a:t>
            </a:r>
            <a:r>
              <a:rPr lang="en-US" dirty="0" err="1"/>
              <a:t>l'environment</a:t>
            </a:r>
            <a:r>
              <a:rPr lang="en-US" dirty="0"/>
              <a:t> TORCS al </a:t>
            </a:r>
            <a:r>
              <a:rPr lang="en-US" dirty="0" err="1"/>
              <a:t>posto</a:t>
            </a:r>
            <a:r>
              <a:rPr lang="en-US" dirty="0"/>
              <a:t> di </a:t>
            </a:r>
            <a:r>
              <a:rPr lang="en-US" dirty="0" err="1"/>
              <a:t>CartPole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Ogni volta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chiamate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env.step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, </a:t>
            </a:r>
            <a:r>
              <a:rPr lang="en-US" dirty="0" err="1"/>
              <a:t>ricevete</a:t>
            </a:r>
            <a:r>
              <a:rPr lang="en-US" dirty="0"/>
              <a:t> un </a:t>
            </a:r>
            <a:r>
              <a:rPr lang="en-US" dirty="0" err="1"/>
              <a:t>dizionario</a:t>
            </a:r>
            <a:r>
              <a:rPr lang="en-US" dirty="0"/>
              <a:t> (o un array </a:t>
            </a:r>
            <a:r>
              <a:rPr lang="en-US" dirty="0" err="1"/>
              <a:t>numpy</a:t>
            </a:r>
            <a:r>
              <a:rPr lang="en-US" dirty="0"/>
              <a:t>) con lo </a:t>
            </a:r>
            <a:r>
              <a:rPr lang="en-US" dirty="0" err="1"/>
              <a:t>stato</a:t>
            </a:r>
            <a:r>
              <a:rPr lang="en-US" dirty="0"/>
              <a:t> </a:t>
            </a:r>
            <a:r>
              <a:rPr lang="en-US" dirty="0" err="1"/>
              <a:t>completo</a:t>
            </a:r>
            <a:r>
              <a:rPr lang="en-US" dirty="0"/>
              <a:t> </a:t>
            </a:r>
            <a:r>
              <a:rPr lang="en-US" dirty="0" err="1"/>
              <a:t>dell'auto</a:t>
            </a:r>
            <a:r>
              <a:rPr lang="en-US" dirty="0"/>
              <a:t>. </a:t>
            </a:r>
            <a:r>
              <a:rPr lang="en-US" dirty="0" err="1"/>
              <a:t>Questi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"</a:t>
            </a:r>
            <a:r>
              <a:rPr lang="en-US" dirty="0" err="1"/>
              <a:t>sensori</a:t>
            </a:r>
            <a:r>
              <a:rPr lang="en-US" dirty="0"/>
              <a:t> </a:t>
            </a:r>
            <a:r>
              <a:rPr lang="en-US" dirty="0" err="1"/>
              <a:t>virtuali</a:t>
            </a:r>
            <a:r>
              <a:rPr lang="en-US" dirty="0"/>
              <a:t>" </a:t>
            </a:r>
            <a:r>
              <a:rPr lang="en-US" dirty="0" err="1"/>
              <a:t>che</a:t>
            </a:r>
            <a:r>
              <a:rPr lang="en-US" dirty="0"/>
              <a:t> TORCS </a:t>
            </a:r>
            <a:r>
              <a:rPr lang="en-US" dirty="0" err="1"/>
              <a:t>espone</a:t>
            </a:r>
            <a:r>
              <a:rPr lang="en-US" dirty="0"/>
              <a:t> </a:t>
            </a:r>
            <a:r>
              <a:rPr lang="en-US" dirty="0" err="1"/>
              <a:t>tramite</a:t>
            </a:r>
            <a:r>
              <a:rPr lang="en-US" dirty="0"/>
              <a:t> </a:t>
            </a:r>
            <a:r>
              <a:rPr lang="en-US" dirty="0" err="1"/>
              <a:t>scr_server</a:t>
            </a:r>
            <a:r>
              <a:rPr lang="en-US" dirty="0"/>
              <a:t>.</a:t>
            </a:r>
          </a:p>
          <a:p>
            <a:r>
              <a:rPr lang="en-US" dirty="0"/>
              <a:t>Vale la </a:t>
            </a:r>
            <a:r>
              <a:rPr lang="en-US" dirty="0" err="1"/>
              <a:t>pena</a:t>
            </a:r>
            <a:r>
              <a:rPr lang="en-US" dirty="0"/>
              <a:t> </a:t>
            </a:r>
            <a:r>
              <a:rPr lang="en-US" dirty="0" err="1"/>
              <a:t>capire</a:t>
            </a:r>
            <a:r>
              <a:rPr lang="en-US" dirty="0"/>
              <a:t> ogni </a:t>
            </a:r>
            <a:r>
              <a:rPr lang="en-US" dirty="0" err="1"/>
              <a:t>sensore</a:t>
            </a:r>
            <a:r>
              <a:rPr lang="en-US" dirty="0"/>
              <a:t>, </a:t>
            </a:r>
            <a:r>
              <a:rPr lang="en-US" dirty="0" err="1"/>
              <a:t>perché</a:t>
            </a:r>
            <a:r>
              <a:rPr lang="en-US" dirty="0"/>
              <a:t> la </a:t>
            </a:r>
            <a:r>
              <a:rPr lang="en-US" dirty="0" err="1"/>
              <a:t>scelta</a:t>
            </a:r>
            <a:r>
              <a:rPr lang="en-US" dirty="0"/>
              <a:t> di </a:t>
            </a:r>
            <a:r>
              <a:rPr lang="en-US" i="1" dirty="0" err="1"/>
              <a:t>quali</a:t>
            </a:r>
            <a:r>
              <a:rPr lang="en-US" dirty="0"/>
              <a:t> </a:t>
            </a:r>
            <a:r>
              <a:rPr lang="en-US" dirty="0" err="1"/>
              <a:t>usare</a:t>
            </a:r>
            <a:r>
              <a:rPr lang="en-US" dirty="0"/>
              <a:t> come input del vostro </a:t>
            </a:r>
            <a:r>
              <a:rPr lang="en-US" dirty="0" err="1"/>
              <a:t>agente</a:t>
            </a:r>
            <a:r>
              <a:rPr lang="en-US" dirty="0"/>
              <a:t> ha un </a:t>
            </a:r>
            <a:r>
              <a:rPr lang="en-US" dirty="0" err="1"/>
              <a:t>impatto</a:t>
            </a:r>
            <a:r>
              <a:rPr lang="en-US" dirty="0"/>
              <a:t> </a:t>
            </a:r>
            <a:r>
              <a:rPr lang="en-US" dirty="0" err="1"/>
              <a:t>enorme</a:t>
            </a:r>
            <a:r>
              <a:rPr lang="en-US" dirty="0"/>
              <a:t> </a:t>
            </a:r>
            <a:r>
              <a:rPr lang="en-US" dirty="0" err="1"/>
              <a:t>sulle</a:t>
            </a:r>
            <a:r>
              <a:rPr lang="en-US" dirty="0"/>
              <a:t> performance.</a:t>
            </a:r>
          </a:p>
          <a:p>
            <a:r>
              <a:rPr lang="en-US" b="1" dirty="0" err="1"/>
              <a:t>trackPos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forse</a:t>
            </a:r>
            <a:r>
              <a:rPr lang="en-US" dirty="0"/>
              <a:t> il </a:t>
            </a:r>
            <a:r>
              <a:rPr lang="en-US" dirty="0" err="1"/>
              <a:t>sensore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importante</a:t>
            </a:r>
            <a:r>
              <a:rPr lang="en-US" dirty="0"/>
              <a:t> per il lane keeping. Vale −1 se </a:t>
            </a:r>
            <a:r>
              <a:rPr lang="en-US" dirty="0" err="1"/>
              <a:t>l'auto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al </a:t>
            </a:r>
            <a:r>
              <a:rPr lang="en-US" dirty="0" err="1"/>
              <a:t>bordo</a:t>
            </a:r>
            <a:r>
              <a:rPr lang="en-US" dirty="0"/>
              <a:t> </a:t>
            </a:r>
            <a:r>
              <a:rPr lang="en-US" dirty="0" err="1"/>
              <a:t>sinistro</a:t>
            </a:r>
            <a:r>
              <a:rPr lang="en-US" dirty="0"/>
              <a:t> della </a:t>
            </a:r>
            <a:r>
              <a:rPr lang="en-US" dirty="0" err="1"/>
              <a:t>pista</a:t>
            </a:r>
            <a:r>
              <a:rPr lang="en-US" dirty="0"/>
              <a:t>, +1 se </a:t>
            </a:r>
            <a:r>
              <a:rPr lang="en-US" dirty="0" err="1"/>
              <a:t>è</a:t>
            </a:r>
            <a:r>
              <a:rPr lang="en-US" dirty="0"/>
              <a:t> al </a:t>
            </a:r>
            <a:r>
              <a:rPr lang="en-US" dirty="0" err="1"/>
              <a:t>bordo</a:t>
            </a:r>
            <a:r>
              <a:rPr lang="en-US" dirty="0"/>
              <a:t> </a:t>
            </a:r>
            <a:r>
              <a:rPr lang="en-US" dirty="0" err="1"/>
              <a:t>destro</a:t>
            </a:r>
            <a:r>
              <a:rPr lang="en-US" dirty="0"/>
              <a:t>, 0 se </a:t>
            </a:r>
            <a:r>
              <a:rPr lang="en-US" dirty="0" err="1"/>
              <a:t>è</a:t>
            </a:r>
            <a:r>
              <a:rPr lang="en-US" dirty="0"/>
              <a:t> al </a:t>
            </a:r>
            <a:r>
              <a:rPr lang="en-US" dirty="0" err="1"/>
              <a:t>centro</a:t>
            </a:r>
            <a:r>
              <a:rPr lang="en-US" dirty="0"/>
              <a:t>. </a:t>
            </a:r>
            <a:r>
              <a:rPr lang="en-US" dirty="0" err="1"/>
              <a:t>Attenzione</a:t>
            </a:r>
            <a:r>
              <a:rPr lang="en-US" dirty="0"/>
              <a:t>: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oltre</a:t>
            </a:r>
            <a:r>
              <a:rPr lang="en-US" dirty="0"/>
              <a:t> ±1 se </a:t>
            </a:r>
            <a:r>
              <a:rPr lang="en-US" dirty="0" err="1"/>
              <a:t>l'auto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fuori</a:t>
            </a:r>
            <a:r>
              <a:rPr lang="en-US" dirty="0"/>
              <a:t> </a:t>
            </a:r>
            <a:r>
              <a:rPr lang="en-US" dirty="0" err="1"/>
              <a:t>pista</a:t>
            </a:r>
            <a:r>
              <a:rPr lang="en-US" dirty="0"/>
              <a:t> (es. +1.5 = </a:t>
            </a:r>
            <a:r>
              <a:rPr lang="en-US" dirty="0" err="1"/>
              <a:t>completamente</a:t>
            </a:r>
            <a:r>
              <a:rPr lang="en-US" dirty="0"/>
              <a:t> </a:t>
            </a:r>
            <a:r>
              <a:rPr lang="en-US" dirty="0" err="1"/>
              <a:t>fuori</a:t>
            </a:r>
            <a:r>
              <a:rPr lang="en-US" dirty="0"/>
              <a:t> a </a:t>
            </a:r>
            <a:r>
              <a:rPr lang="en-US" dirty="0" err="1"/>
              <a:t>destra</a:t>
            </a:r>
            <a:r>
              <a:rPr lang="en-US" dirty="0"/>
              <a:t>).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fondamentale</a:t>
            </a:r>
            <a:r>
              <a:rPr lang="en-US" dirty="0"/>
              <a:t> per </a:t>
            </a:r>
            <a:r>
              <a:rPr lang="en-US" dirty="0" err="1"/>
              <a:t>capire</a:t>
            </a:r>
            <a:r>
              <a:rPr lang="en-US" dirty="0"/>
              <a:t> "dove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sulla</a:t>
            </a:r>
            <a:r>
              <a:rPr lang="en-US" dirty="0"/>
              <a:t> </a:t>
            </a:r>
            <a:r>
              <a:rPr lang="en-US" dirty="0" err="1"/>
              <a:t>pista</a:t>
            </a:r>
            <a:r>
              <a:rPr lang="en-US" dirty="0"/>
              <a:t>".</a:t>
            </a:r>
          </a:p>
          <a:p>
            <a:r>
              <a:rPr lang="en-US" b="1" dirty="0"/>
              <a:t>angle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l'angolo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l'asse</a:t>
            </a:r>
            <a:r>
              <a:rPr lang="en-US" dirty="0"/>
              <a:t> </a:t>
            </a:r>
            <a:r>
              <a:rPr lang="en-US" dirty="0" err="1"/>
              <a:t>longitudinale</a:t>
            </a:r>
            <a:r>
              <a:rPr lang="en-US" dirty="0"/>
              <a:t> </a:t>
            </a:r>
            <a:r>
              <a:rPr lang="en-US" dirty="0" err="1"/>
              <a:t>dell'auto</a:t>
            </a:r>
            <a:r>
              <a:rPr lang="en-US" dirty="0"/>
              <a:t> e la </a:t>
            </a:r>
            <a:r>
              <a:rPr lang="en-US" dirty="0" err="1"/>
              <a:t>tangente</a:t>
            </a:r>
            <a:r>
              <a:rPr lang="en-US" dirty="0"/>
              <a:t> alla </a:t>
            </a:r>
            <a:r>
              <a:rPr lang="en-US" dirty="0" err="1"/>
              <a:t>pista</a:t>
            </a:r>
            <a:r>
              <a:rPr lang="en-US" dirty="0"/>
              <a:t> </a:t>
            </a:r>
            <a:r>
              <a:rPr lang="en-US" dirty="0" err="1"/>
              <a:t>nel</a:t>
            </a:r>
            <a:r>
              <a:rPr lang="en-US" dirty="0"/>
              <a:t> punto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vicino</a:t>
            </a:r>
            <a:r>
              <a:rPr lang="en-US" dirty="0"/>
              <a:t>. Se </a:t>
            </a:r>
            <a:r>
              <a:rPr lang="en-US" dirty="0" err="1"/>
              <a:t>l'auto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perfettamente</a:t>
            </a:r>
            <a:r>
              <a:rPr lang="en-US" dirty="0"/>
              <a:t> </a:t>
            </a:r>
            <a:r>
              <a:rPr lang="en-US" dirty="0" err="1"/>
              <a:t>allineata</a:t>
            </a:r>
            <a:r>
              <a:rPr lang="en-US" dirty="0"/>
              <a:t> alla curva, angle </a:t>
            </a:r>
            <a:r>
              <a:rPr lang="en-US" dirty="0" err="1"/>
              <a:t>è</a:t>
            </a:r>
            <a:r>
              <a:rPr lang="en-US" dirty="0"/>
              <a:t> 0. Se </a:t>
            </a:r>
            <a:r>
              <a:rPr lang="en-US" dirty="0" err="1"/>
              <a:t>è</a:t>
            </a:r>
            <a:r>
              <a:rPr lang="en-US" dirty="0"/>
              <a:t> di traverso, angle </a:t>
            </a:r>
            <a:r>
              <a:rPr lang="en-US" dirty="0" err="1"/>
              <a:t>è</a:t>
            </a:r>
            <a:r>
              <a:rPr lang="en-US" dirty="0"/>
              <a:t> grande. </a:t>
            </a:r>
            <a:r>
              <a:rPr lang="en-US" dirty="0" err="1"/>
              <a:t>Questo</a:t>
            </a:r>
            <a:r>
              <a:rPr lang="en-US" dirty="0"/>
              <a:t> </a:t>
            </a:r>
            <a:r>
              <a:rPr lang="en-US" dirty="0" err="1"/>
              <a:t>sensore</a:t>
            </a:r>
            <a:r>
              <a:rPr lang="en-US" dirty="0"/>
              <a:t> </a:t>
            </a:r>
            <a:r>
              <a:rPr lang="en-US" dirty="0" err="1"/>
              <a:t>misura</a:t>
            </a:r>
            <a:r>
              <a:rPr lang="en-US" dirty="0"/>
              <a:t> </a:t>
            </a:r>
            <a:r>
              <a:rPr lang="en-US" dirty="0" err="1"/>
              <a:t>essenzialmente</a:t>
            </a:r>
            <a:r>
              <a:rPr lang="en-US" dirty="0"/>
              <a:t> "</a:t>
            </a:r>
            <a:r>
              <a:rPr lang="en-US" dirty="0" err="1"/>
              <a:t>sto</a:t>
            </a:r>
            <a:r>
              <a:rPr lang="en-US" dirty="0"/>
              <a:t> </a:t>
            </a:r>
            <a:r>
              <a:rPr lang="en-US" dirty="0" err="1"/>
              <a:t>puntando</a:t>
            </a:r>
            <a:r>
              <a:rPr lang="en-US" dirty="0"/>
              <a:t> </a:t>
            </a:r>
            <a:r>
              <a:rPr lang="en-US" dirty="0" err="1"/>
              <a:t>nella</a:t>
            </a:r>
            <a:r>
              <a:rPr lang="en-US" dirty="0"/>
              <a:t> </a:t>
            </a:r>
            <a:r>
              <a:rPr lang="en-US" dirty="0" err="1"/>
              <a:t>direzione</a:t>
            </a:r>
            <a:r>
              <a:rPr lang="en-US" dirty="0"/>
              <a:t> </a:t>
            </a:r>
            <a:r>
              <a:rPr lang="en-US" dirty="0" err="1"/>
              <a:t>giusta</a:t>
            </a:r>
            <a:r>
              <a:rPr lang="en-US" dirty="0"/>
              <a:t>?". Un </a:t>
            </a:r>
            <a:r>
              <a:rPr lang="en-US" dirty="0" err="1"/>
              <a:t>guidatore</a:t>
            </a:r>
            <a:r>
              <a:rPr lang="en-US" dirty="0"/>
              <a:t> </a:t>
            </a:r>
            <a:r>
              <a:rPr lang="en-US" dirty="0" err="1"/>
              <a:t>esperto</a:t>
            </a:r>
            <a:r>
              <a:rPr lang="en-US" dirty="0"/>
              <a:t> </a:t>
            </a:r>
            <a:r>
              <a:rPr lang="en-US" dirty="0" err="1"/>
              <a:t>vuole</a:t>
            </a:r>
            <a:r>
              <a:rPr lang="en-US" dirty="0"/>
              <a:t> angle </a:t>
            </a:r>
            <a:r>
              <a:rPr lang="en-US" dirty="0" err="1"/>
              <a:t>vicino</a:t>
            </a:r>
            <a:r>
              <a:rPr lang="en-US" dirty="0"/>
              <a:t> a 0.</a:t>
            </a:r>
          </a:p>
          <a:p>
            <a:r>
              <a:rPr lang="en-US" b="1" dirty="0"/>
              <a:t>track[19]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un array di 19 </a:t>
            </a:r>
            <a:r>
              <a:rPr lang="en-US" dirty="0" err="1"/>
              <a:t>valori</a:t>
            </a:r>
            <a:r>
              <a:rPr lang="en-US" dirty="0"/>
              <a:t>, </a:t>
            </a:r>
            <a:r>
              <a:rPr lang="en-US" dirty="0" err="1"/>
              <a:t>ciascuno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quali</a:t>
            </a:r>
            <a:r>
              <a:rPr lang="en-US" dirty="0"/>
              <a:t> </a:t>
            </a:r>
            <a:r>
              <a:rPr lang="en-US" dirty="0" err="1"/>
              <a:t>rappresenta</a:t>
            </a:r>
            <a:r>
              <a:rPr lang="en-US" dirty="0"/>
              <a:t> la </a:t>
            </a:r>
            <a:r>
              <a:rPr lang="en-US" dirty="0" err="1"/>
              <a:t>distanza</a:t>
            </a:r>
            <a:r>
              <a:rPr lang="en-US" dirty="0"/>
              <a:t> dal </a:t>
            </a:r>
            <a:r>
              <a:rPr lang="en-US" dirty="0" err="1"/>
              <a:t>bordo</a:t>
            </a:r>
            <a:r>
              <a:rPr lang="en-US" dirty="0"/>
              <a:t> della </a:t>
            </a:r>
            <a:r>
              <a:rPr lang="en-US" dirty="0" err="1"/>
              <a:t>pista</a:t>
            </a:r>
            <a:r>
              <a:rPr lang="en-US" dirty="0"/>
              <a:t> </a:t>
            </a:r>
            <a:r>
              <a:rPr lang="en-US" dirty="0" err="1"/>
              <a:t>misurata</a:t>
            </a:r>
            <a:r>
              <a:rPr lang="en-US" dirty="0"/>
              <a:t> in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direzione</a:t>
            </a:r>
            <a:r>
              <a:rPr lang="en-US" dirty="0"/>
              <a:t> </a:t>
            </a:r>
            <a:r>
              <a:rPr lang="en-US" dirty="0" err="1"/>
              <a:t>diversa</a:t>
            </a:r>
            <a:r>
              <a:rPr lang="en-US" dirty="0"/>
              <a:t> (da 0° a 180° </a:t>
            </a:r>
            <a:r>
              <a:rPr lang="en-US" dirty="0" err="1"/>
              <a:t>davanti</a:t>
            </a:r>
            <a:r>
              <a:rPr lang="en-US" dirty="0"/>
              <a:t> </a:t>
            </a:r>
            <a:r>
              <a:rPr lang="en-US" dirty="0" err="1"/>
              <a:t>all'auto</a:t>
            </a:r>
            <a:r>
              <a:rPr lang="en-US" dirty="0"/>
              <a:t>, a </a:t>
            </a:r>
            <a:r>
              <a:rPr lang="en-US" dirty="0" err="1"/>
              <a:t>passi</a:t>
            </a:r>
            <a:r>
              <a:rPr lang="en-US" dirty="0"/>
              <a:t> di 10°). </a:t>
            </a:r>
            <a:r>
              <a:rPr lang="en-US" dirty="0" err="1"/>
              <a:t>È</a:t>
            </a:r>
            <a:r>
              <a:rPr lang="en-US" dirty="0"/>
              <a:t> come </a:t>
            </a:r>
            <a:r>
              <a:rPr lang="en-US" dirty="0" err="1"/>
              <a:t>avere</a:t>
            </a:r>
            <a:r>
              <a:rPr lang="en-US" dirty="0"/>
              <a:t> 19 "</a:t>
            </a:r>
            <a:r>
              <a:rPr lang="en-US" dirty="0" err="1"/>
              <a:t>occhi</a:t>
            </a:r>
            <a:r>
              <a:rPr lang="en-US" dirty="0"/>
              <a:t>"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guardano</a:t>
            </a:r>
            <a:r>
              <a:rPr lang="en-US" dirty="0"/>
              <a:t> in diverse </a:t>
            </a:r>
            <a:r>
              <a:rPr lang="en-US" dirty="0" err="1"/>
              <a:t>direzioni</a:t>
            </a:r>
            <a:r>
              <a:rPr lang="en-US" dirty="0"/>
              <a:t> e </a:t>
            </a:r>
            <a:r>
              <a:rPr lang="en-US" dirty="0" err="1"/>
              <a:t>misurano</a:t>
            </a:r>
            <a:r>
              <a:rPr lang="en-US" dirty="0"/>
              <a:t> la </a:t>
            </a:r>
            <a:r>
              <a:rPr lang="en-US" dirty="0" err="1"/>
              <a:t>distanza</a:t>
            </a:r>
            <a:r>
              <a:rPr lang="en-US" dirty="0"/>
              <a:t> dal </a:t>
            </a:r>
            <a:r>
              <a:rPr lang="en-US" dirty="0" err="1"/>
              <a:t>muro</a:t>
            </a:r>
            <a:r>
              <a:rPr lang="en-US" dirty="0"/>
              <a:t>. </a:t>
            </a:r>
            <a:r>
              <a:rPr lang="en-US" dirty="0" err="1"/>
              <a:t>Questi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fondamentali</a:t>
            </a:r>
            <a:r>
              <a:rPr lang="en-US" dirty="0"/>
              <a:t> per </a:t>
            </a:r>
            <a:r>
              <a:rPr lang="en-US" dirty="0" err="1"/>
              <a:t>anticipare</a:t>
            </a:r>
            <a:r>
              <a:rPr lang="en-US" dirty="0"/>
              <a:t> le curve: se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raggi</a:t>
            </a:r>
            <a:r>
              <a:rPr lang="en-US" dirty="0"/>
              <a:t> a </a:t>
            </a:r>
            <a:r>
              <a:rPr lang="en-US" dirty="0" err="1"/>
              <a:t>destra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accorciano</a:t>
            </a:r>
            <a:r>
              <a:rPr lang="en-US" dirty="0"/>
              <a:t> e </a:t>
            </a:r>
            <a:r>
              <a:rPr lang="en-US" dirty="0" err="1"/>
              <a:t>quelli</a:t>
            </a:r>
            <a:r>
              <a:rPr lang="en-US" dirty="0"/>
              <a:t> a sinistra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allungano</a:t>
            </a:r>
            <a:r>
              <a:rPr lang="en-US" dirty="0"/>
              <a:t>, </a:t>
            </a:r>
            <a:r>
              <a:rPr lang="en-US" dirty="0" err="1"/>
              <a:t>c'è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curva a </a:t>
            </a:r>
            <a:r>
              <a:rPr lang="en-US" dirty="0" err="1"/>
              <a:t>destra</a:t>
            </a:r>
            <a:r>
              <a:rPr lang="en-US" dirty="0"/>
              <a:t> </a:t>
            </a:r>
            <a:r>
              <a:rPr lang="en-US" dirty="0" err="1"/>
              <a:t>davanti</a:t>
            </a:r>
            <a:r>
              <a:rPr lang="en-US" dirty="0"/>
              <a:t>.</a:t>
            </a:r>
          </a:p>
          <a:p>
            <a:r>
              <a:rPr lang="en-US" b="1" dirty="0" err="1"/>
              <a:t>speedX</a:t>
            </a:r>
            <a:r>
              <a:rPr lang="en-US" b="1" dirty="0"/>
              <a:t>, </a:t>
            </a:r>
            <a:r>
              <a:rPr lang="en-US" b="1" dirty="0" err="1"/>
              <a:t>speedY</a:t>
            </a:r>
            <a:r>
              <a:rPr lang="en-US" b="1" dirty="0"/>
              <a:t>, </a:t>
            </a:r>
            <a:r>
              <a:rPr lang="en-US" b="1" dirty="0" err="1"/>
              <a:t>speedZ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le </a:t>
            </a:r>
            <a:r>
              <a:rPr lang="en-US" dirty="0" err="1"/>
              <a:t>componenti</a:t>
            </a:r>
            <a:r>
              <a:rPr lang="en-US" dirty="0"/>
              <a:t> di </a:t>
            </a:r>
            <a:r>
              <a:rPr lang="en-US" dirty="0" err="1"/>
              <a:t>velocità</a:t>
            </a:r>
            <a:r>
              <a:rPr lang="en-US" dirty="0"/>
              <a:t> </a:t>
            </a:r>
            <a:r>
              <a:rPr lang="en-US" dirty="0" err="1"/>
              <a:t>nei</a:t>
            </a:r>
            <a:r>
              <a:rPr lang="en-US" dirty="0"/>
              <a:t> </a:t>
            </a:r>
            <a:r>
              <a:rPr lang="en-US" dirty="0" err="1"/>
              <a:t>tre</a:t>
            </a:r>
            <a:r>
              <a:rPr lang="en-US" dirty="0"/>
              <a:t> </a:t>
            </a:r>
            <a:r>
              <a:rPr lang="en-US" dirty="0" err="1"/>
              <a:t>assi</a:t>
            </a:r>
            <a:r>
              <a:rPr lang="en-US" dirty="0"/>
              <a:t>. </a:t>
            </a:r>
            <a:r>
              <a:rPr lang="en-US" dirty="0" err="1"/>
              <a:t>speedX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la </a:t>
            </a:r>
            <a:r>
              <a:rPr lang="en-US" dirty="0" err="1"/>
              <a:t>velocità</a:t>
            </a:r>
            <a:r>
              <a:rPr lang="en-US" dirty="0"/>
              <a:t> </a:t>
            </a:r>
            <a:r>
              <a:rPr lang="en-US" dirty="0" err="1"/>
              <a:t>longitudinale</a:t>
            </a:r>
            <a:r>
              <a:rPr lang="en-US" dirty="0"/>
              <a:t> (avanti/</a:t>
            </a:r>
            <a:r>
              <a:rPr lang="en-US" dirty="0" err="1"/>
              <a:t>indietro</a:t>
            </a:r>
            <a:r>
              <a:rPr lang="en-US" dirty="0"/>
              <a:t>),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quella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volete</a:t>
            </a:r>
            <a:r>
              <a:rPr lang="en-US" dirty="0"/>
              <a:t> </a:t>
            </a:r>
            <a:r>
              <a:rPr lang="en-US" dirty="0" err="1"/>
              <a:t>massimizzare</a:t>
            </a:r>
            <a:r>
              <a:rPr lang="en-US" dirty="0"/>
              <a:t>. </a:t>
            </a:r>
            <a:r>
              <a:rPr lang="en-US" dirty="0" err="1"/>
              <a:t>speedY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la </a:t>
            </a:r>
            <a:r>
              <a:rPr lang="en-US" dirty="0" err="1"/>
              <a:t>velocità</a:t>
            </a:r>
            <a:r>
              <a:rPr lang="en-US" dirty="0"/>
              <a:t> </a:t>
            </a:r>
            <a:r>
              <a:rPr lang="en-US" dirty="0" err="1"/>
              <a:t>laterale</a:t>
            </a:r>
            <a:r>
              <a:rPr lang="en-US" dirty="0"/>
              <a:t> (</a:t>
            </a:r>
            <a:r>
              <a:rPr lang="en-US" dirty="0" err="1"/>
              <a:t>deriva</a:t>
            </a:r>
            <a:r>
              <a:rPr lang="en-US" dirty="0"/>
              <a:t>). </a:t>
            </a:r>
            <a:r>
              <a:rPr lang="en-US" dirty="0" err="1"/>
              <a:t>speedZ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verticale</a:t>
            </a:r>
            <a:r>
              <a:rPr lang="en-US" dirty="0"/>
              <a:t> (utile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salti</a:t>
            </a:r>
            <a:r>
              <a:rPr lang="en-US" dirty="0"/>
              <a:t> ma </a:t>
            </a:r>
            <a:r>
              <a:rPr lang="en-US" dirty="0" err="1"/>
              <a:t>raramente</a:t>
            </a:r>
            <a:r>
              <a:rPr lang="en-US" dirty="0"/>
              <a:t> </a:t>
            </a:r>
            <a:r>
              <a:rPr lang="en-US" dirty="0" err="1"/>
              <a:t>usata</a:t>
            </a:r>
            <a:r>
              <a:rPr lang="en-US" dirty="0"/>
              <a:t>).</a:t>
            </a:r>
          </a:p>
          <a:p>
            <a:r>
              <a:rPr lang="en-US" b="1" dirty="0"/>
              <a:t>rpm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il regime del </a:t>
            </a:r>
            <a:r>
              <a:rPr lang="en-US" dirty="0" err="1"/>
              <a:t>motore</a:t>
            </a:r>
            <a:r>
              <a:rPr lang="en-US" dirty="0"/>
              <a:t> in </a:t>
            </a:r>
            <a:r>
              <a:rPr lang="en-US" dirty="0" err="1"/>
              <a:t>giri</a:t>
            </a:r>
            <a:r>
              <a:rPr lang="en-US" dirty="0"/>
              <a:t> al </a:t>
            </a:r>
            <a:r>
              <a:rPr lang="en-US" dirty="0" err="1"/>
              <a:t>minuto</a:t>
            </a:r>
            <a:r>
              <a:rPr lang="en-US" dirty="0"/>
              <a:t>. Utile per </a:t>
            </a:r>
            <a:r>
              <a:rPr lang="en-US" dirty="0" err="1"/>
              <a:t>decidere</a:t>
            </a:r>
            <a:r>
              <a:rPr lang="en-US" dirty="0"/>
              <a:t> </a:t>
            </a:r>
            <a:r>
              <a:rPr lang="en-US" dirty="0" err="1"/>
              <a:t>quando</a:t>
            </a:r>
            <a:r>
              <a:rPr lang="en-US" dirty="0"/>
              <a:t> </a:t>
            </a:r>
            <a:r>
              <a:rPr lang="en-US" dirty="0" err="1"/>
              <a:t>cambiare</a:t>
            </a:r>
            <a:r>
              <a:rPr lang="en-US" dirty="0"/>
              <a:t> marcia. </a:t>
            </a:r>
            <a:r>
              <a:rPr lang="en-US" b="1" dirty="0"/>
              <a:t>gear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la marcia </a:t>
            </a:r>
            <a:r>
              <a:rPr lang="en-US" dirty="0" err="1"/>
              <a:t>attuale</a:t>
            </a:r>
            <a:r>
              <a:rPr lang="en-US" dirty="0"/>
              <a:t>. </a:t>
            </a:r>
            <a:r>
              <a:rPr lang="en-US" b="1" dirty="0" err="1"/>
              <a:t>wheelSpinVel</a:t>
            </a:r>
            <a:r>
              <a:rPr lang="en-US" b="1" dirty="0"/>
              <a:t>[4]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la </a:t>
            </a:r>
            <a:r>
              <a:rPr lang="en-US" dirty="0" err="1"/>
              <a:t>velocità</a:t>
            </a:r>
            <a:r>
              <a:rPr lang="en-US" dirty="0"/>
              <a:t> </a:t>
            </a:r>
            <a:r>
              <a:rPr lang="en-US" dirty="0" err="1"/>
              <a:t>angolare</a:t>
            </a:r>
            <a:r>
              <a:rPr lang="en-US" dirty="0"/>
              <a:t> delle quattro </a:t>
            </a:r>
            <a:r>
              <a:rPr lang="en-US" dirty="0" err="1"/>
              <a:t>ruote</a:t>
            </a:r>
            <a:r>
              <a:rPr lang="en-US" dirty="0"/>
              <a:t> — utile per </a:t>
            </a:r>
            <a:r>
              <a:rPr lang="en-US" dirty="0" err="1"/>
              <a:t>rilevare</a:t>
            </a:r>
            <a:r>
              <a:rPr lang="en-US" dirty="0"/>
              <a:t> </a:t>
            </a:r>
            <a:r>
              <a:rPr lang="en-US" dirty="0" err="1"/>
              <a:t>slittamento</a:t>
            </a:r>
            <a:r>
              <a:rPr lang="en-US" dirty="0"/>
              <a:t>.</a:t>
            </a:r>
          </a:p>
          <a:p>
            <a:r>
              <a:rPr lang="en-US" b="1" dirty="0"/>
              <a:t>focus[5]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un rangefinder </a:t>
            </a:r>
            <a:r>
              <a:rPr lang="en-US" dirty="0" err="1"/>
              <a:t>frontale</a:t>
            </a:r>
            <a:r>
              <a:rPr lang="en-US" dirty="0"/>
              <a:t> ad </a:t>
            </a:r>
            <a:r>
              <a:rPr lang="en-US" dirty="0" err="1"/>
              <a:t>alta</a:t>
            </a:r>
            <a:r>
              <a:rPr lang="en-US" dirty="0"/>
              <a:t> </a:t>
            </a:r>
            <a:r>
              <a:rPr lang="en-US" dirty="0" err="1"/>
              <a:t>risoluzione</a:t>
            </a:r>
            <a:r>
              <a:rPr lang="en-US" dirty="0"/>
              <a:t>, </a:t>
            </a:r>
            <a:r>
              <a:rPr lang="en-US" dirty="0" err="1"/>
              <a:t>concentrato</a:t>
            </a:r>
            <a:r>
              <a:rPr lang="en-US" dirty="0"/>
              <a:t> in un </a:t>
            </a:r>
            <a:r>
              <a:rPr lang="en-US" dirty="0" err="1"/>
              <a:t>angolo</a:t>
            </a:r>
            <a:r>
              <a:rPr lang="en-US" dirty="0"/>
              <a:t> stretto </a:t>
            </a:r>
            <a:r>
              <a:rPr lang="en-US" dirty="0" err="1"/>
              <a:t>davanti</a:t>
            </a:r>
            <a:r>
              <a:rPr lang="en-US" dirty="0"/>
              <a:t> </a:t>
            </a:r>
            <a:r>
              <a:rPr lang="en-US" dirty="0" err="1"/>
              <a:t>all'auto</a:t>
            </a:r>
            <a:r>
              <a:rPr lang="en-US" dirty="0"/>
              <a:t>. Utile per </a:t>
            </a:r>
            <a:r>
              <a:rPr lang="en-US" dirty="0" err="1"/>
              <a:t>vedere</a:t>
            </a:r>
            <a:r>
              <a:rPr lang="en-US" dirty="0"/>
              <a:t> </a:t>
            </a:r>
            <a:r>
              <a:rPr lang="en-US" dirty="0" err="1"/>
              <a:t>lontano</a:t>
            </a:r>
            <a:r>
              <a:rPr lang="en-US" dirty="0"/>
              <a:t> in avanti.</a:t>
            </a:r>
          </a:p>
          <a:p>
            <a:r>
              <a:rPr lang="en-US" b="1" dirty="0"/>
              <a:t>opponents[36]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la </a:t>
            </a:r>
            <a:r>
              <a:rPr lang="en-US" dirty="0" err="1"/>
              <a:t>distanza</a:t>
            </a:r>
            <a:r>
              <a:rPr lang="en-US" dirty="0"/>
              <a:t> </a:t>
            </a:r>
            <a:r>
              <a:rPr lang="en-US" dirty="0" err="1"/>
              <a:t>dai</a:t>
            </a:r>
            <a:r>
              <a:rPr lang="en-US" dirty="0"/>
              <a:t> 36 </a:t>
            </a:r>
            <a:r>
              <a:rPr lang="en-US" dirty="0" err="1"/>
              <a:t>avversari</a:t>
            </a:r>
            <a:r>
              <a:rPr lang="en-US" dirty="0"/>
              <a:t>, </a:t>
            </a:r>
            <a:r>
              <a:rPr lang="en-US" dirty="0" err="1"/>
              <a:t>misurata</a:t>
            </a:r>
            <a:r>
              <a:rPr lang="en-US" dirty="0"/>
              <a:t> in 36 </a:t>
            </a:r>
            <a:r>
              <a:rPr lang="en-US" dirty="0" err="1"/>
              <a:t>direzioni</a:t>
            </a:r>
            <a:r>
              <a:rPr lang="en-US" dirty="0"/>
              <a:t>. </a:t>
            </a:r>
            <a:r>
              <a:rPr lang="en-US" dirty="0" err="1"/>
              <a:t>Fondamentale</a:t>
            </a:r>
            <a:r>
              <a:rPr lang="en-US" dirty="0"/>
              <a:t> per le </a:t>
            </a:r>
            <a:r>
              <a:rPr lang="en-US" dirty="0" err="1"/>
              <a:t>gare</a:t>
            </a:r>
            <a:r>
              <a:rPr lang="en-US" dirty="0"/>
              <a:t> multi-</a:t>
            </a:r>
            <a:r>
              <a:rPr lang="en-US" dirty="0" err="1"/>
              <a:t>agente</a:t>
            </a:r>
            <a:r>
              <a:rPr lang="en-US" dirty="0"/>
              <a:t> ma non </a:t>
            </a:r>
            <a:r>
              <a:rPr lang="en-US" dirty="0" err="1"/>
              <a:t>necessario</a:t>
            </a:r>
            <a:r>
              <a:rPr lang="en-US" dirty="0"/>
              <a:t> per il solo lap time.</a:t>
            </a:r>
          </a:p>
          <a:p>
            <a:r>
              <a:rPr lang="en-US" dirty="0"/>
              <a:t>Per un primo </a:t>
            </a:r>
            <a:r>
              <a:rPr lang="en-US" dirty="0" err="1"/>
              <a:t>agente</a:t>
            </a:r>
            <a:r>
              <a:rPr lang="en-US" dirty="0"/>
              <a:t>,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sensori</a:t>
            </a:r>
            <a:r>
              <a:rPr lang="en-US" dirty="0"/>
              <a:t> </a:t>
            </a:r>
            <a:r>
              <a:rPr lang="en-US" dirty="0" err="1"/>
              <a:t>minimi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funzionano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trackPos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angle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speedX</a:t>
            </a:r>
            <a:r>
              <a:rPr lang="en-US" dirty="0"/>
              <a:t> 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track[19]</a:t>
            </a:r>
            <a:r>
              <a:rPr lang="en-US" dirty="0"/>
              <a:t>. Con soli </a:t>
            </a:r>
            <a:r>
              <a:rPr lang="en-US" dirty="0" err="1"/>
              <a:t>questi</a:t>
            </a:r>
            <a:r>
              <a:rPr lang="en-US" dirty="0"/>
              <a:t> input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può</a:t>
            </a:r>
            <a:r>
              <a:rPr lang="en-US" dirty="0"/>
              <a:t> </a:t>
            </a:r>
            <a:r>
              <a:rPr lang="en-US" dirty="0" err="1"/>
              <a:t>costruire</a:t>
            </a:r>
            <a:r>
              <a:rPr lang="en-US" dirty="0"/>
              <a:t> un </a:t>
            </a:r>
            <a:r>
              <a:rPr lang="en-US" dirty="0" err="1"/>
              <a:t>agente</a:t>
            </a:r>
            <a:r>
              <a:rPr lang="en-US" dirty="0"/>
              <a:t> </a:t>
            </a:r>
            <a:r>
              <a:rPr lang="en-US" dirty="0" err="1"/>
              <a:t>capace</a:t>
            </a:r>
            <a:r>
              <a:rPr lang="en-US" dirty="0"/>
              <a:t> di </a:t>
            </a:r>
            <a:r>
              <a:rPr lang="en-US" dirty="0" err="1"/>
              <a:t>restare</a:t>
            </a:r>
            <a:r>
              <a:rPr lang="en-US" dirty="0"/>
              <a:t> in </a:t>
            </a:r>
            <a:r>
              <a:rPr lang="en-US" dirty="0" err="1"/>
              <a:t>pista</a:t>
            </a:r>
            <a:r>
              <a:rPr lang="en-US" dirty="0"/>
              <a:t> e fare </a:t>
            </a:r>
            <a:r>
              <a:rPr lang="en-US" dirty="0" err="1"/>
              <a:t>giri</a:t>
            </a:r>
            <a:r>
              <a:rPr lang="en-US" dirty="0"/>
              <a:t> </a:t>
            </a:r>
            <a:r>
              <a:rPr lang="en-US" dirty="0" err="1"/>
              <a:t>completi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Mentre lo </a:t>
            </a:r>
            <a:r>
              <a:rPr lang="en-US" dirty="0" err="1"/>
              <a:t>spazio</a:t>
            </a:r>
            <a:r>
              <a:rPr lang="en-US" dirty="0"/>
              <a:t> degli </a:t>
            </a:r>
            <a:r>
              <a:rPr lang="en-US" dirty="0" err="1"/>
              <a:t>stati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ciò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l'agente</a:t>
            </a:r>
            <a:r>
              <a:rPr lang="en-US" dirty="0"/>
              <a:t> </a:t>
            </a:r>
            <a:r>
              <a:rPr lang="en-US" i="1" dirty="0" err="1"/>
              <a:t>vede</a:t>
            </a:r>
            <a:r>
              <a:rPr lang="en-US" dirty="0"/>
              <a:t>, lo </a:t>
            </a:r>
            <a:r>
              <a:rPr lang="en-US" dirty="0" err="1"/>
              <a:t>spazio</a:t>
            </a:r>
            <a:r>
              <a:rPr lang="en-US" dirty="0"/>
              <a:t> delle </a:t>
            </a:r>
            <a:r>
              <a:rPr lang="en-US" dirty="0" err="1"/>
              <a:t>azioni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ciò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l'agente</a:t>
            </a:r>
            <a:r>
              <a:rPr lang="en-US" dirty="0"/>
              <a:t> </a:t>
            </a:r>
            <a:r>
              <a:rPr lang="en-US" i="1" dirty="0"/>
              <a:t>fa</a:t>
            </a:r>
            <a:r>
              <a:rPr lang="en-US" dirty="0"/>
              <a:t>. In TORCS le </a:t>
            </a:r>
            <a:r>
              <a:rPr lang="en-US" dirty="0" err="1"/>
              <a:t>azioni</a:t>
            </a:r>
            <a:r>
              <a:rPr lang="en-US" dirty="0"/>
              <a:t> </a:t>
            </a:r>
            <a:r>
              <a:rPr lang="en-US" dirty="0" err="1"/>
              <a:t>principali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:</a:t>
            </a:r>
          </a:p>
          <a:p>
            <a:r>
              <a:rPr lang="en-US" b="1" dirty="0"/>
              <a:t>steer</a:t>
            </a:r>
            <a:r>
              <a:rPr lang="en-US" dirty="0"/>
              <a:t> ∈ [−1, 1] — lo </a:t>
            </a:r>
            <a:r>
              <a:rPr lang="en-US" dirty="0" err="1"/>
              <a:t>sterzo</a:t>
            </a:r>
            <a:r>
              <a:rPr lang="en-US" dirty="0"/>
              <a:t>. −1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tutto</a:t>
            </a:r>
            <a:r>
              <a:rPr lang="en-US" dirty="0"/>
              <a:t> a sinistra, +1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tutto</a:t>
            </a:r>
            <a:r>
              <a:rPr lang="en-US" dirty="0"/>
              <a:t> a </a:t>
            </a:r>
            <a:r>
              <a:rPr lang="en-US" dirty="0" err="1"/>
              <a:t>destra</a:t>
            </a:r>
            <a:r>
              <a:rPr lang="en-US" dirty="0"/>
              <a:t>. Questa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l'azione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critica</a:t>
            </a:r>
            <a:r>
              <a:rPr lang="en-US" dirty="0"/>
              <a:t>.</a:t>
            </a:r>
          </a:p>
          <a:p>
            <a:r>
              <a:rPr lang="en-US" b="1" dirty="0"/>
              <a:t>accel</a:t>
            </a:r>
            <a:r>
              <a:rPr lang="en-US" dirty="0"/>
              <a:t> ∈ [0, 1] — il gas. 0 = </a:t>
            </a:r>
            <a:r>
              <a:rPr lang="en-US" dirty="0" err="1"/>
              <a:t>piede</a:t>
            </a:r>
            <a:r>
              <a:rPr lang="en-US" dirty="0"/>
              <a:t> fermo, 1 = </a:t>
            </a:r>
            <a:r>
              <a:rPr lang="en-US" dirty="0" err="1"/>
              <a:t>piede</a:t>
            </a:r>
            <a:r>
              <a:rPr lang="en-US" dirty="0"/>
              <a:t> a </a:t>
            </a:r>
            <a:r>
              <a:rPr lang="en-US" dirty="0" err="1"/>
              <a:t>tavoletta</a:t>
            </a:r>
            <a:r>
              <a:rPr lang="en-US" dirty="0"/>
              <a:t>.</a:t>
            </a:r>
          </a:p>
          <a:p>
            <a:r>
              <a:rPr lang="en-US" b="1" dirty="0"/>
              <a:t>brake</a:t>
            </a:r>
            <a:r>
              <a:rPr lang="en-US" dirty="0"/>
              <a:t> ∈ [0, 1] — il </a:t>
            </a:r>
            <a:r>
              <a:rPr lang="en-US" dirty="0" err="1"/>
              <a:t>freno</a:t>
            </a:r>
            <a:r>
              <a:rPr lang="en-US" dirty="0"/>
              <a:t>. 0 = </a:t>
            </a:r>
            <a:r>
              <a:rPr lang="en-US" dirty="0" err="1"/>
              <a:t>nessuna</a:t>
            </a:r>
            <a:r>
              <a:rPr lang="en-US" dirty="0"/>
              <a:t> </a:t>
            </a:r>
            <a:r>
              <a:rPr lang="en-US" dirty="0" err="1"/>
              <a:t>frenata</a:t>
            </a:r>
            <a:r>
              <a:rPr lang="en-US" dirty="0"/>
              <a:t>, 1 = </a:t>
            </a:r>
            <a:r>
              <a:rPr lang="en-US" dirty="0" err="1"/>
              <a:t>frenata</a:t>
            </a:r>
            <a:r>
              <a:rPr lang="en-US" dirty="0"/>
              <a:t> </a:t>
            </a:r>
            <a:r>
              <a:rPr lang="en-US" dirty="0" err="1"/>
              <a:t>massima</a:t>
            </a:r>
            <a:r>
              <a:rPr lang="en-US" dirty="0"/>
              <a:t>.</a:t>
            </a:r>
          </a:p>
          <a:p>
            <a:r>
              <a:rPr lang="en-US" b="1" dirty="0"/>
              <a:t>gear</a:t>
            </a:r>
            <a:r>
              <a:rPr lang="en-US" dirty="0"/>
              <a:t> ∈ {−1, 1, 2, 3, 4, 5, 6} — la marcia. −1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retromarcia</a:t>
            </a:r>
            <a:r>
              <a:rPr lang="en-US" dirty="0"/>
              <a:t>. In </a:t>
            </a:r>
            <a:r>
              <a:rPr lang="en-US" dirty="0" err="1"/>
              <a:t>molti</a:t>
            </a:r>
            <a:r>
              <a:rPr lang="en-US" dirty="0"/>
              <a:t> </a:t>
            </a:r>
            <a:r>
              <a:rPr lang="en-US" dirty="0" err="1"/>
              <a:t>esperimenti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usa</a:t>
            </a:r>
            <a:r>
              <a:rPr lang="en-US" dirty="0"/>
              <a:t> un </a:t>
            </a:r>
            <a:r>
              <a:rPr lang="en-US" dirty="0" err="1"/>
              <a:t>cambio</a:t>
            </a:r>
            <a:r>
              <a:rPr lang="en-US" dirty="0"/>
              <a:t> </a:t>
            </a:r>
            <a:r>
              <a:rPr lang="en-US" dirty="0" err="1"/>
              <a:t>automatico</a:t>
            </a:r>
            <a:r>
              <a:rPr lang="en-US" dirty="0"/>
              <a:t> </a:t>
            </a:r>
            <a:r>
              <a:rPr lang="en-US" dirty="0" err="1"/>
              <a:t>basato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rpm per </a:t>
            </a:r>
            <a:r>
              <a:rPr lang="en-US" dirty="0" err="1"/>
              <a:t>eliminare</a:t>
            </a:r>
            <a:r>
              <a:rPr lang="en-US" dirty="0"/>
              <a:t> </a:t>
            </a:r>
            <a:r>
              <a:rPr lang="en-US" dirty="0" err="1"/>
              <a:t>questa</a:t>
            </a:r>
            <a:r>
              <a:rPr lang="en-US" dirty="0"/>
              <a:t> </a:t>
            </a:r>
            <a:r>
              <a:rPr lang="en-US" dirty="0" err="1"/>
              <a:t>complessità</a:t>
            </a:r>
            <a:r>
              <a:rPr lang="en-US" dirty="0"/>
              <a:t>.</a:t>
            </a:r>
          </a:p>
          <a:p>
            <a:r>
              <a:rPr lang="en-US" dirty="0" err="1"/>
              <a:t>Esistono</a:t>
            </a:r>
            <a:r>
              <a:rPr lang="en-US" dirty="0"/>
              <a:t> </a:t>
            </a:r>
            <a:r>
              <a:rPr lang="en-US" dirty="0" err="1"/>
              <a:t>anche</a:t>
            </a:r>
            <a:r>
              <a:rPr lang="en-US" dirty="0"/>
              <a:t> clutch (</a:t>
            </a:r>
            <a:r>
              <a:rPr lang="en-US" dirty="0" err="1"/>
              <a:t>frizione</a:t>
            </a:r>
            <a:r>
              <a:rPr lang="en-US" dirty="0"/>
              <a:t>) e focus direction (</a:t>
            </a:r>
            <a:r>
              <a:rPr lang="en-US" dirty="0" err="1"/>
              <a:t>direzione</a:t>
            </a:r>
            <a:r>
              <a:rPr lang="en-US" dirty="0"/>
              <a:t> del rangefinder </a:t>
            </a:r>
            <a:r>
              <a:rPr lang="en-US" dirty="0" err="1"/>
              <a:t>frontale</a:t>
            </a:r>
            <a:r>
              <a:rPr lang="en-US" dirty="0"/>
              <a:t>), ma </a:t>
            </a:r>
            <a:r>
              <a:rPr lang="en-US" dirty="0" err="1"/>
              <a:t>raramente</a:t>
            </a:r>
            <a:r>
              <a:rPr lang="en-US" dirty="0"/>
              <a:t> </a:t>
            </a:r>
            <a:r>
              <a:rPr lang="en-US" dirty="0" err="1"/>
              <a:t>vengono</a:t>
            </a:r>
            <a:r>
              <a:rPr lang="en-US" dirty="0"/>
              <a:t> </a:t>
            </a:r>
            <a:r>
              <a:rPr lang="en-US" dirty="0" err="1"/>
              <a:t>controllati</a:t>
            </a:r>
            <a:r>
              <a:rPr lang="en-US" dirty="0"/>
              <a:t> </a:t>
            </a:r>
            <a:r>
              <a:rPr lang="en-US" dirty="0" err="1"/>
              <a:t>dall'agente</a:t>
            </a:r>
            <a:r>
              <a:rPr lang="en-US" dirty="0"/>
              <a:t>.</a:t>
            </a:r>
          </a:p>
          <a:p>
            <a:r>
              <a:rPr lang="en-US" b="1" dirty="0"/>
              <a:t>Il </a:t>
            </a:r>
            <a:r>
              <a:rPr lang="en-US" b="1" dirty="0" err="1"/>
              <a:t>problema</a:t>
            </a:r>
            <a:r>
              <a:rPr lang="en-US" b="1" dirty="0"/>
              <a:t> </a:t>
            </a:r>
            <a:r>
              <a:rPr lang="en-US" b="1" dirty="0" err="1"/>
              <a:t>dello</a:t>
            </a:r>
            <a:r>
              <a:rPr lang="en-US" b="1" dirty="0"/>
              <a:t> </a:t>
            </a:r>
            <a:r>
              <a:rPr lang="en-US" b="1" dirty="0" err="1"/>
              <a:t>spazio</a:t>
            </a:r>
            <a:r>
              <a:rPr lang="en-US" b="1" dirty="0"/>
              <a:t> delle </a:t>
            </a:r>
            <a:r>
              <a:rPr lang="en-US" b="1" dirty="0" err="1"/>
              <a:t>azioni</a:t>
            </a:r>
            <a:r>
              <a:rPr lang="en-US" b="1" dirty="0"/>
              <a:t> continuo.</a:t>
            </a:r>
            <a:r>
              <a:rPr lang="en-US" dirty="0"/>
              <a:t> Il Q-Learning classico </a:t>
            </a:r>
            <a:r>
              <a:rPr lang="en-US" dirty="0" err="1"/>
              <a:t>richiede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lo </a:t>
            </a:r>
            <a:r>
              <a:rPr lang="en-US" dirty="0" err="1"/>
              <a:t>spazio</a:t>
            </a:r>
            <a:r>
              <a:rPr lang="en-US" dirty="0"/>
              <a:t> delle </a:t>
            </a:r>
            <a:r>
              <a:rPr lang="en-US" dirty="0" err="1"/>
              <a:t>azioni</a:t>
            </a:r>
            <a:r>
              <a:rPr lang="en-US" dirty="0"/>
              <a:t> </a:t>
            </a:r>
            <a:r>
              <a:rPr lang="en-US" dirty="0" err="1"/>
              <a:t>sia</a:t>
            </a:r>
            <a:r>
              <a:rPr lang="en-US" dirty="0"/>
              <a:t> </a:t>
            </a:r>
            <a:r>
              <a:rPr lang="en-US" dirty="0" err="1"/>
              <a:t>discreto</a:t>
            </a:r>
            <a:r>
              <a:rPr lang="en-US" dirty="0"/>
              <a:t> (un </a:t>
            </a:r>
            <a:r>
              <a:rPr lang="en-US" dirty="0" err="1"/>
              <a:t>numero</a:t>
            </a:r>
            <a:r>
              <a:rPr lang="en-US" dirty="0"/>
              <a:t> finito di </a:t>
            </a:r>
            <a:r>
              <a:rPr lang="en-US" dirty="0" err="1"/>
              <a:t>azioni</a:t>
            </a:r>
            <a:r>
              <a:rPr lang="en-US" dirty="0"/>
              <a:t> </a:t>
            </a:r>
            <a:r>
              <a:rPr lang="en-US" dirty="0" err="1"/>
              <a:t>possibili</a:t>
            </a:r>
            <a:r>
              <a:rPr lang="en-US" dirty="0"/>
              <a:t>). Con steer continuo in [−1, 1] non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può</a:t>
            </a:r>
            <a:r>
              <a:rPr lang="en-US" dirty="0"/>
              <a:t> </a:t>
            </a:r>
            <a:r>
              <a:rPr lang="en-US" dirty="0" err="1"/>
              <a:t>costruire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Q-table, </a:t>
            </a:r>
            <a:r>
              <a:rPr lang="en-US" dirty="0" err="1"/>
              <a:t>perché</a:t>
            </a:r>
            <a:r>
              <a:rPr lang="en-US" dirty="0"/>
              <a:t> ci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infiniti</a:t>
            </a:r>
            <a:r>
              <a:rPr lang="en-US" dirty="0"/>
              <a:t> </a:t>
            </a:r>
            <a:r>
              <a:rPr lang="en-US" dirty="0" err="1"/>
              <a:t>valori</a:t>
            </a:r>
            <a:r>
              <a:rPr lang="en-US" dirty="0"/>
              <a:t> </a:t>
            </a:r>
            <a:r>
              <a:rPr lang="en-US" dirty="0" err="1"/>
              <a:t>possibili</a:t>
            </a:r>
            <a:r>
              <a:rPr lang="en-US" dirty="0"/>
              <a:t>. Per </a:t>
            </a:r>
            <a:r>
              <a:rPr lang="en-US" dirty="0" err="1"/>
              <a:t>questo</a:t>
            </a:r>
            <a:r>
              <a:rPr lang="en-US" dirty="0"/>
              <a:t> con Q-Learning </a:t>
            </a:r>
            <a:r>
              <a:rPr lang="en-US" dirty="0" err="1"/>
              <a:t>bisogna</a:t>
            </a:r>
            <a:r>
              <a:rPr lang="en-US" dirty="0"/>
              <a:t> </a:t>
            </a:r>
            <a:r>
              <a:rPr lang="en-US" b="1" dirty="0" err="1"/>
              <a:t>discretizzare</a:t>
            </a:r>
            <a:r>
              <a:rPr lang="en-US" dirty="0"/>
              <a:t>: </a:t>
            </a:r>
            <a:r>
              <a:rPr lang="en-US" dirty="0" err="1"/>
              <a:t>invece</a:t>
            </a:r>
            <a:r>
              <a:rPr lang="en-US" dirty="0"/>
              <a:t> di un continuo, </a:t>
            </a:r>
            <a:r>
              <a:rPr lang="en-US" dirty="0" err="1"/>
              <a:t>scegliete</a:t>
            </a:r>
            <a:r>
              <a:rPr lang="en-US" dirty="0"/>
              <a:t> es. 7 </a:t>
            </a:r>
            <a:r>
              <a:rPr lang="en-US" dirty="0" err="1"/>
              <a:t>valori</a:t>
            </a:r>
            <a:r>
              <a:rPr lang="en-US" dirty="0"/>
              <a:t> di </a:t>
            </a:r>
            <a:r>
              <a:rPr lang="en-US" dirty="0" err="1"/>
              <a:t>sterzo</a:t>
            </a:r>
            <a:r>
              <a:rPr lang="en-US" dirty="0"/>
              <a:t>: {−1, −0.67, −0.33, 0, 0.33, 0.67, 1}.</a:t>
            </a:r>
          </a:p>
          <a:p>
            <a:r>
              <a:rPr lang="en-US" dirty="0"/>
              <a:t>Con </a:t>
            </a:r>
            <a:r>
              <a:rPr lang="en-US" dirty="0" err="1"/>
              <a:t>algoritmi</a:t>
            </a:r>
            <a:r>
              <a:rPr lang="en-US" dirty="0"/>
              <a:t> come DDPG, PPO e SAC </a:t>
            </a:r>
            <a:r>
              <a:rPr lang="en-US" dirty="0" err="1"/>
              <a:t>invece</a:t>
            </a:r>
            <a:r>
              <a:rPr lang="en-US" dirty="0"/>
              <a:t> lo </a:t>
            </a:r>
            <a:r>
              <a:rPr lang="en-US" dirty="0" err="1"/>
              <a:t>spazio</a:t>
            </a:r>
            <a:r>
              <a:rPr lang="en-US" dirty="0"/>
              <a:t> continuo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gestito</a:t>
            </a:r>
            <a:r>
              <a:rPr lang="en-US" dirty="0"/>
              <a:t> </a:t>
            </a:r>
            <a:r>
              <a:rPr lang="en-US" dirty="0" err="1"/>
              <a:t>nativamente</a:t>
            </a:r>
            <a:r>
              <a:rPr lang="en-US" dirty="0"/>
              <a:t> — la rete </a:t>
            </a:r>
            <a:r>
              <a:rPr lang="en-US" dirty="0" err="1"/>
              <a:t>neurale</a:t>
            </a:r>
            <a:r>
              <a:rPr lang="en-US" dirty="0"/>
              <a:t> produce </a:t>
            </a:r>
            <a:r>
              <a:rPr lang="en-US" dirty="0" err="1"/>
              <a:t>direttamente</a:t>
            </a:r>
            <a:r>
              <a:rPr lang="en-US" dirty="0"/>
              <a:t> un </a:t>
            </a:r>
            <a:r>
              <a:rPr lang="en-US" dirty="0" err="1"/>
              <a:t>numero</a:t>
            </a:r>
            <a:r>
              <a:rPr lang="en-US" dirty="0"/>
              <a:t> </a:t>
            </a:r>
            <a:r>
              <a:rPr lang="en-US" dirty="0" err="1"/>
              <a:t>reale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−1 e 1. </a:t>
            </a:r>
            <a:r>
              <a:rPr lang="en-US" dirty="0" err="1"/>
              <a:t>Questo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uno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principali</a:t>
            </a:r>
            <a:r>
              <a:rPr lang="en-US" dirty="0"/>
              <a:t> </a:t>
            </a:r>
            <a:r>
              <a:rPr lang="en-US" dirty="0" err="1"/>
              <a:t>vantaggi</a:t>
            </a:r>
            <a:r>
              <a:rPr lang="en-US" dirty="0"/>
              <a:t> del Deep RL rispetto al Q-Learning </a:t>
            </a:r>
            <a:r>
              <a:rPr lang="en-US" dirty="0" err="1"/>
              <a:t>tabellare</a:t>
            </a:r>
            <a:r>
              <a:rPr lang="en-US" dirty="0"/>
              <a:t>.</a:t>
            </a:r>
          </a:p>
          <a:p>
            <a:r>
              <a:rPr lang="en-US" b="1" dirty="0"/>
              <a:t>Consiglio </a:t>
            </a:r>
            <a:r>
              <a:rPr lang="en-US" b="1" dirty="0" err="1"/>
              <a:t>pratico</a:t>
            </a:r>
            <a:r>
              <a:rPr lang="en-US" b="1" dirty="0"/>
              <a:t> per </a:t>
            </a:r>
            <a:r>
              <a:rPr lang="en-US" b="1" dirty="0" err="1"/>
              <a:t>iniziare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fissate</a:t>
            </a:r>
            <a:r>
              <a:rPr lang="en-US" dirty="0"/>
              <a:t> accel a un </a:t>
            </a:r>
            <a:r>
              <a:rPr lang="en-US" dirty="0" err="1"/>
              <a:t>valore</a:t>
            </a:r>
            <a:r>
              <a:rPr lang="en-US" dirty="0"/>
              <a:t> </a:t>
            </a:r>
            <a:r>
              <a:rPr lang="en-US" dirty="0" err="1"/>
              <a:t>costante</a:t>
            </a:r>
            <a:r>
              <a:rPr lang="en-US" dirty="0"/>
              <a:t> (es. 0.3–0.4) e </a:t>
            </a:r>
            <a:r>
              <a:rPr lang="en-US" dirty="0" err="1"/>
              <a:t>concentratevi</a:t>
            </a:r>
            <a:r>
              <a:rPr lang="en-US" dirty="0"/>
              <a:t> solo </a:t>
            </a:r>
            <a:r>
              <a:rPr lang="en-US" dirty="0" err="1"/>
              <a:t>sullo</a:t>
            </a:r>
            <a:r>
              <a:rPr lang="en-US" dirty="0"/>
              <a:t> </a:t>
            </a:r>
            <a:r>
              <a:rPr lang="en-US" dirty="0" err="1"/>
              <a:t>sterzo</a:t>
            </a:r>
            <a:r>
              <a:rPr lang="en-US" dirty="0"/>
              <a:t>. </a:t>
            </a:r>
            <a:r>
              <a:rPr lang="en-US" dirty="0" err="1"/>
              <a:t>Aggiungete</a:t>
            </a:r>
            <a:r>
              <a:rPr lang="en-US" dirty="0"/>
              <a:t> la </a:t>
            </a:r>
            <a:r>
              <a:rPr lang="en-US" dirty="0" err="1"/>
              <a:t>gestione</a:t>
            </a:r>
            <a:r>
              <a:rPr lang="en-US" dirty="0"/>
              <a:t> del gas solo dopo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l'auto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già</a:t>
            </a:r>
            <a:r>
              <a:rPr lang="en-US" dirty="0"/>
              <a:t> </a:t>
            </a:r>
            <a:r>
              <a:rPr lang="en-US" dirty="0" err="1"/>
              <a:t>restare</a:t>
            </a:r>
            <a:r>
              <a:rPr lang="en-US" dirty="0"/>
              <a:t> in </a:t>
            </a:r>
            <a:r>
              <a:rPr lang="en-US" dirty="0" err="1"/>
              <a:t>pista</a:t>
            </a:r>
            <a:r>
              <a:rPr lang="en-US" dirty="0"/>
              <a:t>. </a:t>
            </a:r>
            <a:r>
              <a:rPr lang="en-US" dirty="0" err="1"/>
              <a:t>Questo</a:t>
            </a:r>
            <a:r>
              <a:rPr lang="en-US" dirty="0"/>
              <a:t> </a:t>
            </a:r>
            <a:r>
              <a:rPr lang="en-US" dirty="0" err="1"/>
              <a:t>semplifica</a:t>
            </a:r>
            <a:r>
              <a:rPr lang="en-US" dirty="0"/>
              <a:t> </a:t>
            </a:r>
            <a:r>
              <a:rPr lang="en-US" dirty="0" err="1"/>
              <a:t>enormemente</a:t>
            </a:r>
            <a:r>
              <a:rPr lang="en-US" dirty="0"/>
              <a:t> il </a:t>
            </a:r>
            <a:r>
              <a:rPr lang="en-US" dirty="0" err="1"/>
              <a:t>problema</a:t>
            </a:r>
            <a:r>
              <a:rPr lang="en-US" dirty="0"/>
              <a:t> </a:t>
            </a:r>
            <a:r>
              <a:rPr lang="en-US" dirty="0" err="1"/>
              <a:t>iniziale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</a:t>
            </a:r>
            <a:r>
              <a:rPr lang="en-US" dirty="0" err="1"/>
              <a:t>funzione</a:t>
            </a:r>
            <a:r>
              <a:rPr lang="en-US" dirty="0"/>
              <a:t> di reward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probabilmente</a:t>
            </a:r>
            <a:r>
              <a:rPr lang="en-US" dirty="0"/>
              <a:t> il </a:t>
            </a:r>
            <a:r>
              <a:rPr lang="en-US" dirty="0" err="1"/>
              <a:t>parametro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importante</a:t>
            </a:r>
            <a:r>
              <a:rPr lang="en-US" dirty="0"/>
              <a:t> di </a:t>
            </a:r>
            <a:r>
              <a:rPr lang="en-US" dirty="0" err="1"/>
              <a:t>tutto</a:t>
            </a:r>
            <a:r>
              <a:rPr lang="en-US" dirty="0"/>
              <a:t> il </a:t>
            </a:r>
            <a:r>
              <a:rPr lang="en-US" dirty="0" err="1"/>
              <a:t>sistema</a:t>
            </a:r>
            <a:r>
              <a:rPr lang="en-US" dirty="0"/>
              <a:t> di RL.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letteralmente</a:t>
            </a:r>
            <a:r>
              <a:rPr lang="en-US" dirty="0"/>
              <a:t> </a:t>
            </a:r>
            <a:r>
              <a:rPr lang="en-US" dirty="0" err="1"/>
              <a:t>ciò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dite</a:t>
            </a:r>
            <a:r>
              <a:rPr lang="en-US" dirty="0"/>
              <a:t> </a:t>
            </a:r>
            <a:r>
              <a:rPr lang="en-US" dirty="0" err="1"/>
              <a:t>all'agente</a:t>
            </a:r>
            <a:r>
              <a:rPr lang="en-US" dirty="0"/>
              <a:t> di </a:t>
            </a:r>
            <a:r>
              <a:rPr lang="en-US" dirty="0" err="1"/>
              <a:t>ottimizzare</a:t>
            </a:r>
            <a:r>
              <a:rPr lang="en-US" dirty="0"/>
              <a:t> — e se la definite male, </a:t>
            </a:r>
            <a:r>
              <a:rPr lang="en-US" dirty="0" err="1"/>
              <a:t>l'agente</a:t>
            </a:r>
            <a:r>
              <a:rPr lang="en-US" dirty="0"/>
              <a:t> </a:t>
            </a:r>
            <a:r>
              <a:rPr lang="en-US" dirty="0" err="1"/>
              <a:t>troverà</a:t>
            </a:r>
            <a:r>
              <a:rPr lang="en-US" dirty="0"/>
              <a:t> </a:t>
            </a:r>
            <a:r>
              <a:rPr lang="en-US" dirty="0" err="1"/>
              <a:t>modi</a:t>
            </a:r>
            <a:r>
              <a:rPr lang="en-US" dirty="0"/>
              <a:t> </a:t>
            </a:r>
            <a:r>
              <a:rPr lang="en-US" dirty="0" err="1"/>
              <a:t>creativi</a:t>
            </a:r>
            <a:r>
              <a:rPr lang="en-US" dirty="0"/>
              <a:t> e </a:t>
            </a:r>
            <a:r>
              <a:rPr lang="en-US" dirty="0" err="1"/>
              <a:t>spesso</a:t>
            </a:r>
            <a:r>
              <a:rPr lang="en-US" dirty="0"/>
              <a:t> </a:t>
            </a:r>
            <a:r>
              <a:rPr lang="en-US" dirty="0" err="1"/>
              <a:t>imbarazzanti</a:t>
            </a:r>
            <a:r>
              <a:rPr lang="en-US" dirty="0"/>
              <a:t> per </a:t>
            </a:r>
            <a:r>
              <a:rPr lang="en-US" dirty="0" err="1"/>
              <a:t>massimizzarla</a:t>
            </a:r>
            <a:r>
              <a:rPr lang="en-US" dirty="0"/>
              <a:t> senza fare </a:t>
            </a:r>
            <a:r>
              <a:rPr lang="en-US" dirty="0" err="1"/>
              <a:t>quello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volevate</a:t>
            </a:r>
            <a:r>
              <a:rPr lang="en-US" dirty="0"/>
              <a:t>.</a:t>
            </a:r>
          </a:p>
          <a:p>
            <a:r>
              <a:rPr lang="en-US" b="1" dirty="0"/>
              <a:t>Il reward standard </a:t>
            </a:r>
            <a:r>
              <a:rPr lang="en-US" b="1" dirty="0" err="1"/>
              <a:t>usato</a:t>
            </a:r>
            <a:r>
              <a:rPr lang="en-US" b="1" dirty="0"/>
              <a:t> in </a:t>
            </a:r>
            <a:r>
              <a:rPr lang="en-US" b="1" dirty="0" err="1"/>
              <a:t>letteratura</a:t>
            </a:r>
            <a:r>
              <a:rPr lang="en-US" dirty="0"/>
              <a:t> per TORCS </a:t>
            </a:r>
            <a:r>
              <a:rPr lang="en-US" dirty="0" err="1"/>
              <a:t>è</a:t>
            </a:r>
            <a:r>
              <a:rPr lang="en-US" dirty="0"/>
              <a:t>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 =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v_x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· cos(angle) −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v_x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· |sin(angle)| −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v_x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· |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trackPos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</a:p>
          <a:p>
            <a:r>
              <a:rPr lang="en-US" dirty="0" err="1"/>
              <a:t>Scomponiamola</a:t>
            </a:r>
            <a:r>
              <a:rPr lang="en-US" dirty="0"/>
              <a:t> </a:t>
            </a:r>
            <a:r>
              <a:rPr lang="en-US" dirty="0" err="1"/>
              <a:t>pezzo</a:t>
            </a:r>
            <a:r>
              <a:rPr lang="en-US" dirty="0"/>
              <a:t> per </a:t>
            </a:r>
            <a:r>
              <a:rPr lang="en-US" dirty="0" err="1"/>
              <a:t>pezzo</a:t>
            </a:r>
            <a:r>
              <a:rPr lang="en-US" dirty="0"/>
              <a:t>:</a:t>
            </a:r>
          </a:p>
          <a:p>
            <a:r>
              <a:rPr lang="en-US" b="1" dirty="0" err="1"/>
              <a:t>v_x</a:t>
            </a:r>
            <a:r>
              <a:rPr lang="en-US" b="1" dirty="0"/>
              <a:t> · cos(angle)</a:t>
            </a:r>
            <a:r>
              <a:rPr lang="en-US" dirty="0"/>
              <a:t>: premia la </a:t>
            </a:r>
            <a:r>
              <a:rPr lang="en-US" dirty="0" err="1"/>
              <a:t>velocità</a:t>
            </a:r>
            <a:r>
              <a:rPr lang="en-US" dirty="0"/>
              <a:t> </a:t>
            </a:r>
            <a:r>
              <a:rPr lang="en-US" dirty="0" err="1"/>
              <a:t>nella</a:t>
            </a:r>
            <a:r>
              <a:rPr lang="en-US" dirty="0"/>
              <a:t> </a:t>
            </a:r>
            <a:r>
              <a:rPr lang="en-US" dirty="0" err="1"/>
              <a:t>direzione</a:t>
            </a:r>
            <a:r>
              <a:rPr lang="en-US" dirty="0"/>
              <a:t> </a:t>
            </a:r>
            <a:r>
              <a:rPr lang="en-US" dirty="0" err="1"/>
              <a:t>longitudinale</a:t>
            </a:r>
            <a:r>
              <a:rPr lang="en-US" dirty="0"/>
              <a:t> della </a:t>
            </a:r>
            <a:r>
              <a:rPr lang="en-US" dirty="0" err="1"/>
              <a:t>pista</a:t>
            </a:r>
            <a:r>
              <a:rPr lang="en-US" dirty="0"/>
              <a:t>. Se </a:t>
            </a:r>
            <a:r>
              <a:rPr lang="en-US" dirty="0" err="1"/>
              <a:t>l'auto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veloce e </a:t>
            </a:r>
            <a:r>
              <a:rPr lang="en-US" dirty="0" err="1"/>
              <a:t>punta</a:t>
            </a:r>
            <a:r>
              <a:rPr lang="en-US" dirty="0"/>
              <a:t> </a:t>
            </a:r>
            <a:r>
              <a:rPr lang="en-US" dirty="0" err="1"/>
              <a:t>nella</a:t>
            </a:r>
            <a:r>
              <a:rPr lang="en-US" dirty="0"/>
              <a:t> </a:t>
            </a:r>
            <a:r>
              <a:rPr lang="en-US" dirty="0" err="1"/>
              <a:t>direzione</a:t>
            </a:r>
            <a:r>
              <a:rPr lang="en-US" dirty="0"/>
              <a:t> </a:t>
            </a:r>
            <a:r>
              <a:rPr lang="en-US" dirty="0" err="1"/>
              <a:t>giusta</a:t>
            </a:r>
            <a:r>
              <a:rPr lang="en-US" dirty="0"/>
              <a:t> (angle ≈ 0), cos(0) = 1 </a:t>
            </a:r>
            <a:r>
              <a:rPr lang="en-US" dirty="0" err="1"/>
              <a:t>quindi</a:t>
            </a:r>
            <a:r>
              <a:rPr lang="en-US" dirty="0"/>
              <a:t> il reward </a:t>
            </a:r>
            <a:r>
              <a:rPr lang="en-US" dirty="0" err="1"/>
              <a:t>è</a:t>
            </a:r>
            <a:r>
              <a:rPr lang="en-US" dirty="0"/>
              <a:t> alto. Se </a:t>
            </a:r>
            <a:r>
              <a:rPr lang="en-US" dirty="0" err="1"/>
              <a:t>l'auto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di traverso (angle = 90°), cos(90°) = 0 </a:t>
            </a:r>
            <a:r>
              <a:rPr lang="en-US" dirty="0" err="1"/>
              <a:t>quindi</a:t>
            </a:r>
            <a:r>
              <a:rPr lang="en-US" dirty="0"/>
              <a:t> non </a:t>
            </a:r>
            <a:r>
              <a:rPr lang="en-US" dirty="0" err="1"/>
              <a:t>ottiene</a:t>
            </a:r>
            <a:r>
              <a:rPr lang="en-US" dirty="0"/>
              <a:t> reward </a:t>
            </a:r>
            <a:r>
              <a:rPr lang="en-US" dirty="0" err="1"/>
              <a:t>dalla</a:t>
            </a:r>
            <a:r>
              <a:rPr lang="en-US" dirty="0"/>
              <a:t> </a:t>
            </a:r>
            <a:r>
              <a:rPr lang="en-US" dirty="0" err="1"/>
              <a:t>velocità</a:t>
            </a:r>
            <a:r>
              <a:rPr lang="en-US" dirty="0"/>
              <a:t>. Questa </a:t>
            </a:r>
            <a:r>
              <a:rPr lang="en-US" dirty="0" err="1"/>
              <a:t>componente</a:t>
            </a:r>
            <a:r>
              <a:rPr lang="en-US" dirty="0"/>
              <a:t> </a:t>
            </a:r>
            <a:r>
              <a:rPr lang="en-US" dirty="0" err="1"/>
              <a:t>incoraggia</a:t>
            </a:r>
            <a:r>
              <a:rPr lang="en-US" dirty="0"/>
              <a:t> </a:t>
            </a:r>
            <a:r>
              <a:rPr lang="en-US" dirty="0" err="1"/>
              <a:t>andare</a:t>
            </a:r>
            <a:r>
              <a:rPr lang="en-US" dirty="0"/>
              <a:t> </a:t>
            </a:r>
            <a:r>
              <a:rPr lang="en-US" dirty="0" err="1"/>
              <a:t>veloci</a:t>
            </a:r>
            <a:r>
              <a:rPr lang="en-US" dirty="0"/>
              <a:t> E </a:t>
            </a:r>
            <a:r>
              <a:rPr lang="en-US" dirty="0" err="1"/>
              <a:t>nella</a:t>
            </a:r>
            <a:r>
              <a:rPr lang="en-US" dirty="0"/>
              <a:t> </a:t>
            </a:r>
            <a:r>
              <a:rPr lang="en-US" dirty="0" err="1"/>
              <a:t>direzione</a:t>
            </a:r>
            <a:r>
              <a:rPr lang="en-US" dirty="0"/>
              <a:t> </a:t>
            </a:r>
            <a:r>
              <a:rPr lang="en-US" dirty="0" err="1"/>
              <a:t>giusta</a:t>
            </a:r>
            <a:r>
              <a:rPr lang="en-US" dirty="0"/>
              <a:t>.</a:t>
            </a:r>
          </a:p>
          <a:p>
            <a:r>
              <a:rPr lang="en-US" b="1" dirty="0"/>
              <a:t>− </a:t>
            </a:r>
            <a:r>
              <a:rPr lang="en-US" b="1" dirty="0" err="1"/>
              <a:t>v_x</a:t>
            </a:r>
            <a:r>
              <a:rPr lang="en-US" b="1" dirty="0"/>
              <a:t> · |sin(angle)|</a:t>
            </a:r>
            <a:r>
              <a:rPr lang="en-US" dirty="0"/>
              <a:t>: </a:t>
            </a:r>
            <a:r>
              <a:rPr lang="en-US" dirty="0" err="1"/>
              <a:t>penalizza</a:t>
            </a:r>
            <a:r>
              <a:rPr lang="en-US" dirty="0"/>
              <a:t> la </a:t>
            </a:r>
            <a:r>
              <a:rPr lang="en-US" dirty="0" err="1"/>
              <a:t>componente</a:t>
            </a:r>
            <a:r>
              <a:rPr lang="en-US" dirty="0"/>
              <a:t> </a:t>
            </a:r>
            <a:r>
              <a:rPr lang="en-US" dirty="0" err="1"/>
              <a:t>laterale</a:t>
            </a:r>
            <a:r>
              <a:rPr lang="en-US" dirty="0"/>
              <a:t> della </a:t>
            </a:r>
            <a:r>
              <a:rPr lang="en-US" dirty="0" err="1"/>
              <a:t>velocità</a:t>
            </a:r>
            <a:r>
              <a:rPr lang="en-US" dirty="0"/>
              <a:t>. Se </a:t>
            </a:r>
            <a:r>
              <a:rPr lang="en-US" dirty="0" err="1"/>
              <a:t>l'auto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di traverso e </a:t>
            </a:r>
            <a:r>
              <a:rPr lang="en-US" dirty="0" err="1"/>
              <a:t>va</a:t>
            </a:r>
            <a:r>
              <a:rPr lang="en-US" dirty="0"/>
              <a:t> veloce, </a:t>
            </a:r>
            <a:r>
              <a:rPr lang="en-US" dirty="0" err="1"/>
              <a:t>questa</a:t>
            </a:r>
            <a:r>
              <a:rPr lang="en-US" dirty="0"/>
              <a:t> </a:t>
            </a:r>
            <a:r>
              <a:rPr lang="en-US" dirty="0" err="1"/>
              <a:t>penalità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grande. </a:t>
            </a:r>
            <a:r>
              <a:rPr lang="en-US" dirty="0" err="1"/>
              <a:t>Incoraggia</a:t>
            </a:r>
            <a:r>
              <a:rPr lang="en-US" dirty="0"/>
              <a:t> </a:t>
            </a:r>
            <a:r>
              <a:rPr lang="en-US" dirty="0" err="1"/>
              <a:t>l'auto</a:t>
            </a:r>
            <a:r>
              <a:rPr lang="en-US" dirty="0"/>
              <a:t> a </a:t>
            </a:r>
            <a:r>
              <a:rPr lang="en-US" dirty="0" err="1"/>
              <a:t>rimanere</a:t>
            </a:r>
            <a:r>
              <a:rPr lang="en-US" dirty="0"/>
              <a:t> </a:t>
            </a:r>
            <a:r>
              <a:rPr lang="en-US" dirty="0" err="1"/>
              <a:t>allineata</a:t>
            </a:r>
            <a:r>
              <a:rPr lang="en-US" dirty="0"/>
              <a:t> alla </a:t>
            </a:r>
            <a:r>
              <a:rPr lang="en-US" dirty="0" err="1"/>
              <a:t>pista</a:t>
            </a:r>
            <a:r>
              <a:rPr lang="en-US" dirty="0"/>
              <a:t>.</a:t>
            </a:r>
          </a:p>
          <a:p>
            <a:r>
              <a:rPr lang="en-US" b="1" dirty="0"/>
              <a:t>− </a:t>
            </a:r>
            <a:r>
              <a:rPr lang="en-US" b="1" dirty="0" err="1"/>
              <a:t>v_x</a:t>
            </a:r>
            <a:r>
              <a:rPr lang="en-US" b="1" dirty="0"/>
              <a:t> · |</a:t>
            </a:r>
            <a:r>
              <a:rPr lang="en-US" b="1" dirty="0" err="1"/>
              <a:t>trackPos</a:t>
            </a:r>
            <a:r>
              <a:rPr lang="en-US" b="1" dirty="0"/>
              <a:t>|</a:t>
            </a:r>
            <a:r>
              <a:rPr lang="en-US" dirty="0"/>
              <a:t>: </a:t>
            </a:r>
            <a:r>
              <a:rPr lang="en-US" dirty="0" err="1"/>
              <a:t>penalizza</a:t>
            </a:r>
            <a:r>
              <a:rPr lang="en-US" dirty="0"/>
              <a:t> la </a:t>
            </a:r>
            <a:r>
              <a:rPr lang="en-US" dirty="0" err="1"/>
              <a:t>distanza</a:t>
            </a:r>
            <a:r>
              <a:rPr lang="en-US" dirty="0"/>
              <a:t> dal </a:t>
            </a:r>
            <a:r>
              <a:rPr lang="en-US" dirty="0" err="1"/>
              <a:t>centro</a:t>
            </a:r>
            <a:r>
              <a:rPr lang="en-US" dirty="0"/>
              <a:t> </a:t>
            </a:r>
            <a:r>
              <a:rPr lang="en-US" dirty="0" err="1"/>
              <a:t>pista</a:t>
            </a:r>
            <a:r>
              <a:rPr lang="en-US" dirty="0"/>
              <a:t>, </a:t>
            </a:r>
            <a:r>
              <a:rPr lang="en-US" dirty="0" err="1"/>
              <a:t>scalata</a:t>
            </a:r>
            <a:r>
              <a:rPr lang="en-US" dirty="0"/>
              <a:t> per la </a:t>
            </a:r>
            <a:r>
              <a:rPr lang="en-US" dirty="0" err="1"/>
              <a:t>velocità</a:t>
            </a:r>
            <a:r>
              <a:rPr lang="en-US" dirty="0"/>
              <a:t>. Se </a:t>
            </a:r>
            <a:r>
              <a:rPr lang="en-US" dirty="0" err="1"/>
              <a:t>l'auto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al </a:t>
            </a:r>
            <a:r>
              <a:rPr lang="en-US" dirty="0" err="1"/>
              <a:t>bordo</a:t>
            </a:r>
            <a:r>
              <a:rPr lang="en-US" dirty="0"/>
              <a:t> (</a:t>
            </a:r>
            <a:r>
              <a:rPr lang="en-US" dirty="0" err="1"/>
              <a:t>trackPos</a:t>
            </a:r>
            <a:r>
              <a:rPr lang="en-US" dirty="0"/>
              <a:t> = ±1) e </a:t>
            </a:r>
            <a:r>
              <a:rPr lang="en-US" dirty="0" err="1"/>
              <a:t>va</a:t>
            </a:r>
            <a:r>
              <a:rPr lang="en-US" dirty="0"/>
              <a:t> veloce, la </a:t>
            </a:r>
            <a:r>
              <a:rPr lang="en-US" dirty="0" err="1"/>
              <a:t>penalità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grande. Se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ferma</a:t>
            </a:r>
            <a:r>
              <a:rPr lang="en-US" dirty="0"/>
              <a:t> al </a:t>
            </a:r>
            <a:r>
              <a:rPr lang="en-US" dirty="0" err="1"/>
              <a:t>bordo</a:t>
            </a:r>
            <a:r>
              <a:rPr lang="en-US" dirty="0"/>
              <a:t>, la </a:t>
            </a:r>
            <a:r>
              <a:rPr lang="en-US" dirty="0" err="1"/>
              <a:t>penalità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piccola</a:t>
            </a:r>
            <a:r>
              <a:rPr lang="en-US" dirty="0"/>
              <a:t>. </a:t>
            </a:r>
            <a:r>
              <a:rPr lang="en-US" dirty="0" err="1"/>
              <a:t>Questo</a:t>
            </a:r>
            <a:r>
              <a:rPr lang="en-US" dirty="0"/>
              <a:t> </a:t>
            </a:r>
            <a:r>
              <a:rPr lang="en-US" dirty="0" err="1"/>
              <a:t>incoraggia</a:t>
            </a:r>
            <a:r>
              <a:rPr lang="en-US" dirty="0"/>
              <a:t> </a:t>
            </a:r>
            <a:r>
              <a:rPr lang="en-US" dirty="0" err="1"/>
              <a:t>l'auto</a:t>
            </a:r>
            <a:r>
              <a:rPr lang="en-US" dirty="0"/>
              <a:t> a stare al </a:t>
            </a:r>
            <a:r>
              <a:rPr lang="en-US" dirty="0" err="1"/>
              <a:t>centro</a:t>
            </a:r>
            <a:r>
              <a:rPr lang="en-US" dirty="0"/>
              <a:t> della </a:t>
            </a:r>
            <a:r>
              <a:rPr lang="en-US" dirty="0" err="1"/>
              <a:t>pista</a:t>
            </a:r>
            <a:r>
              <a:rPr lang="en-US" dirty="0"/>
              <a:t>, </a:t>
            </a:r>
            <a:r>
              <a:rPr lang="en-US" dirty="0" err="1"/>
              <a:t>soprattutto</a:t>
            </a:r>
            <a:r>
              <a:rPr lang="en-US" dirty="0"/>
              <a:t> </a:t>
            </a:r>
            <a:r>
              <a:rPr lang="en-US" dirty="0" err="1"/>
              <a:t>quando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veloce.</a:t>
            </a:r>
          </a:p>
          <a:p>
            <a:r>
              <a:rPr lang="en-US" b="1" dirty="0"/>
              <a:t>Reward di </a:t>
            </a:r>
            <a:r>
              <a:rPr lang="en-US" b="1" dirty="0" err="1"/>
              <a:t>terminazione</a:t>
            </a:r>
            <a:r>
              <a:rPr lang="en-US" dirty="0"/>
              <a:t>: </a:t>
            </a:r>
            <a:r>
              <a:rPr lang="en-US" dirty="0" err="1"/>
              <a:t>quando</a:t>
            </a:r>
            <a:r>
              <a:rPr lang="en-US" dirty="0"/>
              <a:t> </a:t>
            </a:r>
            <a:r>
              <a:rPr lang="en-US" dirty="0" err="1"/>
              <a:t>l'auto</a:t>
            </a:r>
            <a:r>
              <a:rPr lang="en-US" dirty="0"/>
              <a:t> </a:t>
            </a:r>
            <a:r>
              <a:rPr lang="en-US" dirty="0" err="1"/>
              <a:t>esce</a:t>
            </a:r>
            <a:r>
              <a:rPr lang="en-US" dirty="0"/>
              <a:t> di </a:t>
            </a:r>
            <a:r>
              <a:rPr lang="en-US" dirty="0" err="1"/>
              <a:t>pista</a:t>
            </a:r>
            <a:r>
              <a:rPr lang="en-US" dirty="0"/>
              <a:t> (</a:t>
            </a:r>
            <a:r>
              <a:rPr lang="en-US" dirty="0" err="1"/>
              <a:t>trackPos</a:t>
            </a:r>
            <a:r>
              <a:rPr lang="en-US" dirty="0"/>
              <a:t> &gt; 1 o &lt; −1),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assegna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penalità</a:t>
            </a:r>
            <a:r>
              <a:rPr lang="en-US" dirty="0"/>
              <a:t> </a:t>
            </a:r>
            <a:r>
              <a:rPr lang="en-US" dirty="0" err="1"/>
              <a:t>fissa</a:t>
            </a:r>
            <a:r>
              <a:rPr lang="en-US" dirty="0"/>
              <a:t> grande (es. −100 o −200) e </a:t>
            </a:r>
            <a:r>
              <a:rPr lang="en-US" dirty="0" err="1"/>
              <a:t>si</a:t>
            </a:r>
            <a:r>
              <a:rPr lang="en-US" dirty="0"/>
              <a:t> termina </a:t>
            </a:r>
            <a:r>
              <a:rPr lang="en-US" dirty="0" err="1"/>
              <a:t>l'episodio</a:t>
            </a:r>
            <a:r>
              <a:rPr lang="en-US" dirty="0"/>
              <a:t>. </a:t>
            </a:r>
            <a:r>
              <a:rPr lang="en-US" dirty="0" err="1"/>
              <a:t>Questo</a:t>
            </a:r>
            <a:r>
              <a:rPr lang="en-US" dirty="0"/>
              <a:t> </a:t>
            </a:r>
            <a:r>
              <a:rPr lang="en-US" dirty="0" err="1"/>
              <a:t>insegna</a:t>
            </a:r>
            <a:r>
              <a:rPr lang="en-US" dirty="0"/>
              <a:t> </a:t>
            </a:r>
            <a:r>
              <a:rPr lang="en-US" dirty="0" err="1"/>
              <a:t>all'agente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uscire</a:t>
            </a:r>
            <a:r>
              <a:rPr lang="en-US" dirty="0"/>
              <a:t> di </a:t>
            </a:r>
            <a:r>
              <a:rPr lang="en-US" dirty="0" err="1"/>
              <a:t>pista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molto </a:t>
            </a:r>
            <a:r>
              <a:rPr lang="en-US" dirty="0" err="1"/>
              <a:t>peggio</a:t>
            </a:r>
            <a:r>
              <a:rPr lang="en-US" dirty="0"/>
              <a:t> di </a:t>
            </a:r>
            <a:r>
              <a:rPr lang="en-US" dirty="0" err="1"/>
              <a:t>qualsiasi</a:t>
            </a:r>
            <a:r>
              <a:rPr lang="en-US" dirty="0"/>
              <a:t> </a:t>
            </a:r>
            <a:r>
              <a:rPr lang="en-US" dirty="0" err="1"/>
              <a:t>altra</a:t>
            </a:r>
            <a:r>
              <a:rPr lang="en-US" dirty="0"/>
              <a:t> </a:t>
            </a:r>
            <a:r>
              <a:rPr lang="en-US" dirty="0" err="1"/>
              <a:t>cosa</a:t>
            </a:r>
            <a:r>
              <a:rPr lang="en-US" dirty="0"/>
              <a:t>.</a:t>
            </a:r>
          </a:p>
          <a:p>
            <a:r>
              <a:rPr lang="en-US" b="1" dirty="0"/>
              <a:t>Il </a:t>
            </a:r>
            <a:r>
              <a:rPr lang="en-US" b="1" dirty="0" err="1"/>
              <a:t>problema</a:t>
            </a:r>
            <a:r>
              <a:rPr lang="en-US" b="1" dirty="0"/>
              <a:t> del reward hacking.</a:t>
            </a:r>
            <a:r>
              <a:rPr lang="en-US" dirty="0"/>
              <a:t> Il reward hacking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quando</a:t>
            </a:r>
            <a:r>
              <a:rPr lang="en-US" dirty="0"/>
              <a:t> </a:t>
            </a:r>
            <a:r>
              <a:rPr lang="en-US" dirty="0" err="1"/>
              <a:t>l'agente</a:t>
            </a:r>
            <a:r>
              <a:rPr lang="en-US" dirty="0"/>
              <a:t> trova un modo per </a:t>
            </a:r>
            <a:r>
              <a:rPr lang="en-US" dirty="0" err="1"/>
              <a:t>massimizzare</a:t>
            </a:r>
            <a:r>
              <a:rPr lang="en-US" dirty="0"/>
              <a:t> la reward senza fare </a:t>
            </a:r>
            <a:r>
              <a:rPr lang="en-US" dirty="0" err="1"/>
              <a:t>quello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volevate</a:t>
            </a:r>
            <a:r>
              <a:rPr lang="en-US" dirty="0"/>
              <a:t>. </a:t>
            </a:r>
            <a:r>
              <a:rPr lang="en-US" dirty="0" err="1"/>
              <a:t>Esempi</a:t>
            </a:r>
            <a:r>
              <a:rPr lang="en-US" dirty="0"/>
              <a:t> </a:t>
            </a:r>
            <a:r>
              <a:rPr lang="en-US" dirty="0" err="1"/>
              <a:t>classici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TORCS:</a:t>
            </a:r>
          </a:p>
          <a:p>
            <a:r>
              <a:rPr lang="en-US" dirty="0"/>
              <a:t>Se </a:t>
            </a:r>
            <a:r>
              <a:rPr lang="en-US" dirty="0" err="1"/>
              <a:t>mettete</a:t>
            </a:r>
            <a:r>
              <a:rPr lang="en-US" dirty="0"/>
              <a:t> solo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v_x</a:t>
            </a:r>
            <a:r>
              <a:rPr lang="en-US" dirty="0"/>
              <a:t> come reward, </a:t>
            </a:r>
            <a:r>
              <a:rPr lang="en-US" dirty="0" err="1"/>
              <a:t>l'agente</a:t>
            </a:r>
            <a:r>
              <a:rPr lang="en-US" dirty="0"/>
              <a:t> </a:t>
            </a:r>
            <a:r>
              <a:rPr lang="en-US" dirty="0" err="1"/>
              <a:t>impara</a:t>
            </a:r>
            <a:r>
              <a:rPr lang="en-US" dirty="0"/>
              <a:t> ad </a:t>
            </a:r>
            <a:r>
              <a:rPr lang="en-US" dirty="0" err="1"/>
              <a:t>andare</a:t>
            </a:r>
            <a:r>
              <a:rPr lang="en-US" dirty="0"/>
              <a:t> fortissimo </a:t>
            </a:r>
            <a:r>
              <a:rPr lang="en-US" dirty="0" err="1"/>
              <a:t>dritto</a:t>
            </a:r>
            <a:r>
              <a:rPr lang="en-US" dirty="0"/>
              <a:t> </a:t>
            </a:r>
            <a:r>
              <a:rPr lang="en-US" dirty="0" err="1"/>
              <a:t>fino</a:t>
            </a:r>
            <a:r>
              <a:rPr lang="en-US" dirty="0"/>
              <a:t> al primo </a:t>
            </a:r>
            <a:r>
              <a:rPr lang="en-US" dirty="0" err="1"/>
              <a:t>muro</a:t>
            </a:r>
            <a:r>
              <a:rPr lang="en-US" dirty="0"/>
              <a:t>.</a:t>
            </a:r>
          </a:p>
          <a:p>
            <a:r>
              <a:rPr lang="en-US" dirty="0"/>
              <a:t>Se </a:t>
            </a:r>
            <a:r>
              <a:rPr lang="en-US" dirty="0" err="1"/>
              <a:t>mettete</a:t>
            </a:r>
            <a:r>
              <a:rPr lang="en-US" dirty="0"/>
              <a:t> solo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−|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trackPos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|</a:t>
            </a:r>
            <a:r>
              <a:rPr lang="en-US" dirty="0"/>
              <a:t>, </a:t>
            </a:r>
            <a:r>
              <a:rPr lang="en-US" dirty="0" err="1"/>
              <a:t>l'agente</a:t>
            </a:r>
            <a:r>
              <a:rPr lang="en-US" dirty="0"/>
              <a:t> </a:t>
            </a:r>
            <a:r>
              <a:rPr lang="en-US" dirty="0" err="1"/>
              <a:t>impara</a:t>
            </a:r>
            <a:r>
              <a:rPr lang="en-US" dirty="0"/>
              <a:t> a </a:t>
            </a:r>
            <a:r>
              <a:rPr lang="en-US" dirty="0" err="1"/>
              <a:t>restare</a:t>
            </a:r>
            <a:r>
              <a:rPr lang="en-US" dirty="0"/>
              <a:t> fermo al </a:t>
            </a:r>
            <a:r>
              <a:rPr lang="en-US" dirty="0" err="1"/>
              <a:t>centro</a:t>
            </a:r>
            <a:r>
              <a:rPr lang="en-US" dirty="0"/>
              <a:t> senza </a:t>
            </a:r>
            <a:r>
              <a:rPr lang="en-US" dirty="0" err="1"/>
              <a:t>muoversi</a:t>
            </a:r>
            <a:r>
              <a:rPr lang="en-US" dirty="0"/>
              <a:t>.</a:t>
            </a:r>
          </a:p>
          <a:p>
            <a:r>
              <a:rPr lang="en-US" dirty="0"/>
              <a:t>Con la formula sopra, </a:t>
            </a:r>
            <a:r>
              <a:rPr lang="en-US" dirty="0" err="1"/>
              <a:t>alcuni</a:t>
            </a:r>
            <a:r>
              <a:rPr lang="en-US" dirty="0"/>
              <a:t> </a:t>
            </a:r>
            <a:r>
              <a:rPr lang="en-US" dirty="0" err="1"/>
              <a:t>agenti</a:t>
            </a:r>
            <a:r>
              <a:rPr lang="en-US" dirty="0"/>
              <a:t> </a:t>
            </a:r>
            <a:r>
              <a:rPr lang="en-US" dirty="0" err="1"/>
              <a:t>imparano</a:t>
            </a:r>
            <a:r>
              <a:rPr lang="en-US" dirty="0"/>
              <a:t> a fare </a:t>
            </a:r>
            <a:r>
              <a:rPr lang="en-US" dirty="0" err="1"/>
              <a:t>piccoli</a:t>
            </a:r>
            <a:r>
              <a:rPr lang="en-US" dirty="0"/>
              <a:t> </a:t>
            </a:r>
            <a:r>
              <a:rPr lang="en-US" dirty="0" err="1"/>
              <a:t>cerchi</a:t>
            </a:r>
            <a:r>
              <a:rPr lang="en-US" dirty="0"/>
              <a:t> </a:t>
            </a:r>
            <a:r>
              <a:rPr lang="en-US" dirty="0" err="1"/>
              <a:t>sul</a:t>
            </a:r>
            <a:r>
              <a:rPr lang="en-US" dirty="0"/>
              <a:t> </a:t>
            </a:r>
            <a:r>
              <a:rPr lang="en-US" dirty="0" err="1"/>
              <a:t>posto</a:t>
            </a:r>
            <a:r>
              <a:rPr lang="en-US" dirty="0"/>
              <a:t> (</a:t>
            </a:r>
            <a:r>
              <a:rPr lang="en-US" dirty="0" err="1"/>
              <a:t>accumula</a:t>
            </a:r>
            <a:r>
              <a:rPr lang="en-US" dirty="0"/>
              <a:t> reward senza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uscire</a:t>
            </a:r>
            <a:r>
              <a:rPr lang="en-US" dirty="0"/>
              <a:t> di </a:t>
            </a:r>
            <a:r>
              <a:rPr lang="en-US" dirty="0" err="1"/>
              <a:t>pista</a:t>
            </a:r>
            <a:r>
              <a:rPr lang="en-US" dirty="0"/>
              <a:t>).</a:t>
            </a:r>
          </a:p>
          <a:p>
            <a:r>
              <a:rPr lang="en-US" dirty="0"/>
              <a:t>Per </a:t>
            </a:r>
            <a:r>
              <a:rPr lang="en-US" dirty="0" err="1"/>
              <a:t>questo</a:t>
            </a:r>
            <a:r>
              <a:rPr lang="en-US" dirty="0"/>
              <a:t> </a:t>
            </a:r>
            <a:r>
              <a:rPr lang="en-US" dirty="0" err="1"/>
              <a:t>spesso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aggiungono</a:t>
            </a:r>
            <a:r>
              <a:rPr lang="en-US" dirty="0"/>
              <a:t> </a:t>
            </a:r>
            <a:r>
              <a:rPr lang="en-US" dirty="0" err="1"/>
              <a:t>penalità</a:t>
            </a:r>
            <a:r>
              <a:rPr lang="en-US" dirty="0"/>
              <a:t> extra: per </a:t>
            </a:r>
            <a:r>
              <a:rPr lang="en-US" dirty="0" err="1"/>
              <a:t>esempio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penalità</a:t>
            </a:r>
            <a:r>
              <a:rPr lang="en-US" dirty="0"/>
              <a:t> per lo </a:t>
            </a:r>
            <a:r>
              <a:rPr lang="en-US" dirty="0" err="1"/>
              <a:t>sterzo</a:t>
            </a:r>
            <a:r>
              <a:rPr lang="en-US" dirty="0"/>
              <a:t> </a:t>
            </a:r>
            <a:r>
              <a:rPr lang="en-US" dirty="0" err="1"/>
              <a:t>brusco</a:t>
            </a:r>
            <a:r>
              <a:rPr lang="en-US" dirty="0"/>
              <a:t> (per </a:t>
            </a:r>
            <a:r>
              <a:rPr lang="en-US" dirty="0" err="1"/>
              <a:t>ridurre</a:t>
            </a:r>
            <a:r>
              <a:rPr lang="en-US" dirty="0"/>
              <a:t> le </a:t>
            </a:r>
            <a:r>
              <a:rPr lang="en-US" dirty="0" err="1"/>
              <a:t>oscillazioni</a:t>
            </a:r>
            <a:r>
              <a:rPr lang="en-US" dirty="0"/>
              <a:t>), o un bonus per ogni metro </a:t>
            </a:r>
            <a:r>
              <a:rPr lang="en-US" dirty="0" err="1"/>
              <a:t>percorso</a:t>
            </a:r>
            <a:r>
              <a:rPr lang="en-US" dirty="0"/>
              <a:t> </a:t>
            </a:r>
            <a:r>
              <a:rPr lang="en-US" dirty="0" err="1"/>
              <a:t>sulla</a:t>
            </a:r>
            <a:r>
              <a:rPr lang="en-US" dirty="0"/>
              <a:t> </a:t>
            </a:r>
            <a:r>
              <a:rPr lang="en-US" dirty="0" err="1"/>
              <a:t>pista</a:t>
            </a:r>
            <a:r>
              <a:rPr lang="en-US" dirty="0"/>
              <a:t>, o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penalità</a:t>
            </a:r>
            <a:r>
              <a:rPr lang="en-US" dirty="0"/>
              <a:t> se la </a:t>
            </a:r>
            <a:r>
              <a:rPr lang="en-US" dirty="0" err="1"/>
              <a:t>velocità</a:t>
            </a:r>
            <a:r>
              <a:rPr lang="en-US" dirty="0"/>
              <a:t> </a:t>
            </a:r>
            <a:r>
              <a:rPr lang="en-US" dirty="0" err="1"/>
              <a:t>scende</a:t>
            </a:r>
            <a:r>
              <a:rPr lang="en-US" dirty="0"/>
              <a:t> sotto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soglia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Q-Learning è il punto di partenza più semplice: niente reti neurali, solo una tabella.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Reinforcement Learning </a:t>
            </a:r>
            <a:r>
              <a:rPr lang="en-US" dirty="0" err="1"/>
              <a:t>è</a:t>
            </a:r>
            <a:r>
              <a:rPr lang="en-US" dirty="0"/>
              <a:t> un </a:t>
            </a:r>
            <a:r>
              <a:rPr lang="en-US" dirty="0" err="1"/>
              <a:t>paradigma</a:t>
            </a:r>
            <a:r>
              <a:rPr lang="en-US" dirty="0"/>
              <a:t> di </a:t>
            </a:r>
            <a:r>
              <a:rPr lang="en-US" dirty="0" err="1"/>
              <a:t>apprendimento</a:t>
            </a:r>
            <a:r>
              <a:rPr lang="en-US" dirty="0"/>
              <a:t> </a:t>
            </a:r>
            <a:r>
              <a:rPr lang="en-US" dirty="0" err="1"/>
              <a:t>automatico</a:t>
            </a:r>
            <a:r>
              <a:rPr lang="en-US" dirty="0"/>
              <a:t> </a:t>
            </a:r>
            <a:r>
              <a:rPr lang="en-US" dirty="0" err="1"/>
              <a:t>fondamentalmente</a:t>
            </a:r>
            <a:r>
              <a:rPr lang="en-US" dirty="0"/>
              <a:t> </a:t>
            </a:r>
            <a:r>
              <a:rPr lang="en-US" dirty="0" err="1"/>
              <a:t>diverso</a:t>
            </a:r>
            <a:r>
              <a:rPr lang="en-US" dirty="0"/>
              <a:t> </a:t>
            </a:r>
            <a:r>
              <a:rPr lang="en-US" dirty="0" err="1"/>
              <a:t>dalla</a:t>
            </a:r>
            <a:r>
              <a:rPr lang="en-US" dirty="0"/>
              <a:t> </a:t>
            </a:r>
            <a:r>
              <a:rPr lang="en-US" dirty="0" err="1"/>
              <a:t>regressione</a:t>
            </a:r>
            <a:r>
              <a:rPr lang="en-US" dirty="0"/>
              <a:t> o </a:t>
            </a:r>
            <a:r>
              <a:rPr lang="en-US" dirty="0" err="1"/>
              <a:t>classificazione</a:t>
            </a:r>
            <a:r>
              <a:rPr lang="en-US" dirty="0"/>
              <a:t>. In </a:t>
            </a:r>
            <a:r>
              <a:rPr lang="en-US" dirty="0" err="1"/>
              <a:t>quei</a:t>
            </a:r>
            <a:r>
              <a:rPr lang="en-US" dirty="0"/>
              <a:t> </a:t>
            </a:r>
            <a:r>
              <a:rPr lang="en-US" dirty="0" err="1"/>
              <a:t>casi</a:t>
            </a:r>
            <a:r>
              <a:rPr lang="en-US" dirty="0"/>
              <a:t> </a:t>
            </a:r>
            <a:r>
              <a:rPr lang="en-US" dirty="0" err="1"/>
              <a:t>avete</a:t>
            </a:r>
            <a:r>
              <a:rPr lang="en-US" dirty="0"/>
              <a:t> un dataset di </a:t>
            </a:r>
            <a:r>
              <a:rPr lang="en-US" dirty="0" err="1"/>
              <a:t>esempi</a:t>
            </a:r>
            <a:r>
              <a:rPr lang="en-US" dirty="0"/>
              <a:t> </a:t>
            </a:r>
            <a:r>
              <a:rPr lang="en-US" dirty="0" err="1"/>
              <a:t>etichettati</a:t>
            </a:r>
            <a:r>
              <a:rPr lang="en-US" dirty="0"/>
              <a:t> e </a:t>
            </a:r>
            <a:r>
              <a:rPr lang="en-US" dirty="0" err="1"/>
              <a:t>imparate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funzione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li </a:t>
            </a:r>
            <a:r>
              <a:rPr lang="en-US" dirty="0" err="1"/>
              <a:t>mappa</a:t>
            </a:r>
            <a:r>
              <a:rPr lang="en-US" dirty="0"/>
              <a:t>. In RL non </a:t>
            </a:r>
            <a:r>
              <a:rPr lang="en-US" dirty="0" err="1"/>
              <a:t>avete</a:t>
            </a:r>
            <a:r>
              <a:rPr lang="en-US" dirty="0"/>
              <a:t> un dataset: </a:t>
            </a:r>
            <a:r>
              <a:rPr lang="en-US" dirty="0" err="1"/>
              <a:t>l'agente</a:t>
            </a:r>
            <a:r>
              <a:rPr lang="en-US" dirty="0"/>
              <a:t> </a:t>
            </a:r>
            <a:r>
              <a:rPr lang="en-US" i="1" dirty="0"/>
              <a:t>genera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suoi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interagendo</a:t>
            </a:r>
            <a:r>
              <a:rPr lang="en-US" dirty="0"/>
              <a:t> con </a:t>
            </a:r>
            <a:r>
              <a:rPr lang="en-US" dirty="0" err="1"/>
              <a:t>l'ambiente</a:t>
            </a:r>
            <a:r>
              <a:rPr lang="en-US" dirty="0"/>
              <a:t>.</a:t>
            </a:r>
          </a:p>
          <a:p>
            <a:r>
              <a:rPr lang="en-US" b="1" dirty="0"/>
              <a:t>Il loop </a:t>
            </a:r>
            <a:r>
              <a:rPr lang="en-US" b="1" dirty="0" err="1"/>
              <a:t>fondamentale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questo</a:t>
            </a:r>
            <a:r>
              <a:rPr lang="en-US" dirty="0"/>
              <a:t>: </a:t>
            </a:r>
            <a:r>
              <a:rPr lang="en-US" dirty="0" err="1"/>
              <a:t>l'agente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trova in uno </a:t>
            </a:r>
            <a:r>
              <a:rPr lang="en-US" dirty="0" err="1"/>
              <a:t>stato</a:t>
            </a:r>
            <a:r>
              <a:rPr lang="en-US" dirty="0"/>
              <a:t> </a:t>
            </a:r>
            <a:r>
              <a:rPr lang="en-US" dirty="0" err="1"/>
              <a:t>s_t</a:t>
            </a:r>
            <a:r>
              <a:rPr lang="en-US" dirty="0"/>
              <a:t>. </a:t>
            </a:r>
            <a:r>
              <a:rPr lang="en-US" dirty="0" err="1"/>
              <a:t>Sceglie</a:t>
            </a:r>
            <a:r>
              <a:rPr lang="en-US" dirty="0"/>
              <a:t> </a:t>
            </a:r>
            <a:r>
              <a:rPr lang="en-US" dirty="0" err="1"/>
              <a:t>un'azione</a:t>
            </a:r>
            <a:r>
              <a:rPr lang="en-US" dirty="0"/>
              <a:t> </a:t>
            </a:r>
            <a:r>
              <a:rPr lang="en-US" dirty="0" err="1"/>
              <a:t>a_t</a:t>
            </a:r>
            <a:r>
              <a:rPr lang="en-US" dirty="0"/>
              <a:t>. </a:t>
            </a:r>
            <a:r>
              <a:rPr lang="en-US" dirty="0" err="1"/>
              <a:t>L'ambiente</a:t>
            </a:r>
            <a:r>
              <a:rPr lang="en-US" dirty="0"/>
              <a:t> </a:t>
            </a:r>
            <a:r>
              <a:rPr lang="en-US" dirty="0" err="1"/>
              <a:t>risponde</a:t>
            </a:r>
            <a:r>
              <a:rPr lang="en-US" dirty="0"/>
              <a:t> con </a:t>
            </a:r>
            <a:r>
              <a:rPr lang="en-US" dirty="0" err="1"/>
              <a:t>una</a:t>
            </a:r>
            <a:r>
              <a:rPr lang="en-US" dirty="0"/>
              <a:t> reward r_{t+1} e un nuovo </a:t>
            </a:r>
            <a:r>
              <a:rPr lang="en-US" dirty="0" err="1"/>
              <a:t>stato</a:t>
            </a:r>
            <a:r>
              <a:rPr lang="en-US" dirty="0"/>
              <a:t> s_{t+1}. </a:t>
            </a:r>
            <a:r>
              <a:rPr lang="en-US" dirty="0" err="1"/>
              <a:t>L'agente</a:t>
            </a:r>
            <a:r>
              <a:rPr lang="en-US" dirty="0"/>
              <a:t> </a:t>
            </a:r>
            <a:r>
              <a:rPr lang="en-US" dirty="0" err="1"/>
              <a:t>usa</a:t>
            </a:r>
            <a:r>
              <a:rPr lang="en-US" dirty="0"/>
              <a:t> </a:t>
            </a:r>
            <a:r>
              <a:rPr lang="en-US" dirty="0" err="1"/>
              <a:t>questa</a:t>
            </a:r>
            <a:r>
              <a:rPr lang="en-US" dirty="0"/>
              <a:t> </a:t>
            </a:r>
            <a:r>
              <a:rPr lang="en-US" dirty="0" err="1"/>
              <a:t>esperienza</a:t>
            </a:r>
            <a:r>
              <a:rPr lang="en-US" dirty="0"/>
              <a:t> per </a:t>
            </a:r>
            <a:r>
              <a:rPr lang="en-US" dirty="0" err="1"/>
              <a:t>aggiornare</a:t>
            </a:r>
            <a:r>
              <a:rPr lang="en-US" dirty="0"/>
              <a:t> la </a:t>
            </a:r>
            <a:r>
              <a:rPr lang="en-US" dirty="0" err="1"/>
              <a:t>sua</a:t>
            </a:r>
            <a:r>
              <a:rPr lang="en-US" dirty="0"/>
              <a:t> policy (la </a:t>
            </a:r>
            <a:r>
              <a:rPr lang="en-US" dirty="0" err="1"/>
              <a:t>sua</a:t>
            </a:r>
            <a:r>
              <a:rPr lang="en-US" dirty="0"/>
              <a:t> </a:t>
            </a:r>
            <a:r>
              <a:rPr lang="en-US" dirty="0" err="1"/>
              <a:t>strategia</a:t>
            </a:r>
            <a:r>
              <a:rPr lang="en-US" dirty="0"/>
              <a:t> di </a:t>
            </a:r>
            <a:r>
              <a:rPr lang="en-US" dirty="0" err="1"/>
              <a:t>scelta</a:t>
            </a:r>
            <a:r>
              <a:rPr lang="en-US" dirty="0"/>
              <a:t>). Poi </a:t>
            </a:r>
            <a:r>
              <a:rPr lang="en-US" dirty="0" err="1"/>
              <a:t>ricomincia</a:t>
            </a:r>
            <a:r>
              <a:rPr lang="en-US" dirty="0"/>
              <a:t>.</a:t>
            </a:r>
          </a:p>
          <a:p>
            <a:r>
              <a:rPr lang="en-US" b="1" dirty="0"/>
              <a:t>La policy </a:t>
            </a:r>
            <a:r>
              <a:rPr lang="el-GR" b="1" dirty="0"/>
              <a:t>π(</a:t>
            </a:r>
            <a:r>
              <a:rPr lang="en-US" b="1" dirty="0"/>
              <a:t>s)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la </a:t>
            </a:r>
            <a:r>
              <a:rPr lang="en-US" dirty="0" err="1"/>
              <a:t>funzione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mappa</a:t>
            </a:r>
            <a:r>
              <a:rPr lang="en-US" dirty="0"/>
              <a:t> uno </a:t>
            </a:r>
            <a:r>
              <a:rPr lang="en-US" dirty="0" err="1"/>
              <a:t>stato</a:t>
            </a:r>
            <a:r>
              <a:rPr lang="en-US" dirty="0"/>
              <a:t> in </a:t>
            </a:r>
            <a:r>
              <a:rPr lang="en-US" dirty="0" err="1"/>
              <a:t>un'azione</a:t>
            </a:r>
            <a:r>
              <a:rPr lang="en-US" dirty="0"/>
              <a:t> (o in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distribuzione</a:t>
            </a:r>
            <a:r>
              <a:rPr lang="en-US" dirty="0"/>
              <a:t> di </a:t>
            </a:r>
            <a:r>
              <a:rPr lang="en-US" dirty="0" err="1"/>
              <a:t>probabilità</a:t>
            </a:r>
            <a:r>
              <a:rPr lang="en-US" dirty="0"/>
              <a:t> </a:t>
            </a:r>
            <a:r>
              <a:rPr lang="en-US" dirty="0" err="1"/>
              <a:t>sulle</a:t>
            </a:r>
            <a:r>
              <a:rPr lang="en-US" dirty="0"/>
              <a:t> </a:t>
            </a:r>
            <a:r>
              <a:rPr lang="en-US" dirty="0" err="1"/>
              <a:t>azioni</a:t>
            </a:r>
            <a:r>
              <a:rPr lang="en-US" dirty="0"/>
              <a:t>). </a:t>
            </a:r>
            <a:r>
              <a:rPr lang="en-US" dirty="0" err="1"/>
              <a:t>L'obiettivo</a:t>
            </a:r>
            <a:r>
              <a:rPr lang="en-US" dirty="0"/>
              <a:t> del RL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trovare</a:t>
            </a:r>
            <a:r>
              <a:rPr lang="en-US" dirty="0"/>
              <a:t> la policy </a:t>
            </a:r>
            <a:r>
              <a:rPr lang="en-US" dirty="0" err="1"/>
              <a:t>ottimale</a:t>
            </a:r>
            <a:r>
              <a:rPr lang="en-US" dirty="0"/>
              <a:t> </a:t>
            </a:r>
            <a:r>
              <a:rPr lang="el-GR" dirty="0"/>
              <a:t>π*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massimizza</a:t>
            </a:r>
            <a:r>
              <a:rPr lang="en-US" dirty="0"/>
              <a:t> il </a:t>
            </a:r>
            <a:r>
              <a:rPr lang="en-US" dirty="0" err="1"/>
              <a:t>ritorno</a:t>
            </a:r>
            <a:r>
              <a:rPr lang="en-US" dirty="0"/>
              <a:t> </a:t>
            </a:r>
            <a:r>
              <a:rPr lang="en-US" dirty="0" err="1"/>
              <a:t>cumulato</a:t>
            </a:r>
            <a:r>
              <a:rPr lang="en-US" dirty="0"/>
              <a:t>.</a:t>
            </a:r>
          </a:p>
          <a:p>
            <a:r>
              <a:rPr lang="en-US" b="1" dirty="0"/>
              <a:t>Il </a:t>
            </a:r>
            <a:r>
              <a:rPr lang="en-US" b="1" dirty="0" err="1"/>
              <a:t>ritorno</a:t>
            </a:r>
            <a:r>
              <a:rPr lang="en-US" b="1" dirty="0"/>
              <a:t> </a:t>
            </a:r>
            <a:r>
              <a:rPr lang="en-US" b="1" dirty="0" err="1"/>
              <a:t>cumulato</a:t>
            </a:r>
            <a:r>
              <a:rPr lang="en-US" b="1" dirty="0"/>
              <a:t> G</a:t>
            </a:r>
            <a:r>
              <a:rPr lang="en-US" dirty="0"/>
              <a:t> non </a:t>
            </a:r>
            <a:r>
              <a:rPr lang="en-US" dirty="0" err="1"/>
              <a:t>è</a:t>
            </a:r>
            <a:r>
              <a:rPr lang="en-US" dirty="0"/>
              <a:t> solo la somma delle reward immediate: </a:t>
            </a:r>
            <a:r>
              <a:rPr lang="en-US" dirty="0" err="1"/>
              <a:t>è</a:t>
            </a:r>
            <a:r>
              <a:rPr lang="en-US" dirty="0"/>
              <a:t> la somma </a:t>
            </a:r>
            <a:r>
              <a:rPr lang="en-US" i="1" dirty="0" err="1"/>
              <a:t>scontata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G_t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r_{t+1} + 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γ·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r_{t+2} + 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γ²·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r_{t+3} + ...</a:t>
            </a:r>
          </a:p>
          <a:p>
            <a:r>
              <a:rPr lang="el-GR" b="1" dirty="0"/>
              <a:t>γ (</a:t>
            </a:r>
            <a:r>
              <a:rPr lang="en-US" b="1" dirty="0"/>
              <a:t>gamma)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il </a:t>
            </a:r>
            <a:r>
              <a:rPr lang="en-US" dirty="0" err="1"/>
              <a:t>fattore</a:t>
            </a:r>
            <a:r>
              <a:rPr lang="en-US" dirty="0"/>
              <a:t> di </a:t>
            </a:r>
            <a:r>
              <a:rPr lang="en-US" dirty="0" err="1"/>
              <a:t>sconto</a:t>
            </a:r>
            <a:r>
              <a:rPr lang="en-US" dirty="0"/>
              <a:t>, </a:t>
            </a:r>
            <a:r>
              <a:rPr lang="en-US" dirty="0" err="1"/>
              <a:t>tipicamente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0.9 e 0.99. Se </a:t>
            </a:r>
            <a:r>
              <a:rPr lang="el-GR" dirty="0"/>
              <a:t>γ = 1, </a:t>
            </a:r>
            <a:r>
              <a:rPr lang="en-US" dirty="0"/>
              <a:t>tutte le reward future </a:t>
            </a:r>
            <a:r>
              <a:rPr lang="en-US" dirty="0" err="1"/>
              <a:t>valgono</a:t>
            </a:r>
            <a:r>
              <a:rPr lang="en-US" dirty="0"/>
              <a:t> </a:t>
            </a:r>
            <a:r>
              <a:rPr lang="en-US" dirty="0" err="1"/>
              <a:t>quanto</a:t>
            </a:r>
            <a:r>
              <a:rPr lang="en-US" dirty="0"/>
              <a:t> quelle immediate. Se </a:t>
            </a:r>
            <a:r>
              <a:rPr lang="el-GR" dirty="0"/>
              <a:t>γ = 0, </a:t>
            </a:r>
            <a:r>
              <a:rPr lang="en-US" dirty="0" err="1"/>
              <a:t>l'agente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completamente</a:t>
            </a:r>
            <a:r>
              <a:rPr lang="en-US" dirty="0"/>
              <a:t> </a:t>
            </a:r>
            <a:r>
              <a:rPr lang="en-US" dirty="0" err="1"/>
              <a:t>miope</a:t>
            </a:r>
            <a:r>
              <a:rPr lang="en-US" dirty="0"/>
              <a:t> e </a:t>
            </a:r>
            <a:r>
              <a:rPr lang="en-US" dirty="0" err="1"/>
              <a:t>pensa</a:t>
            </a:r>
            <a:r>
              <a:rPr lang="en-US" dirty="0"/>
              <a:t> solo al reward del </a:t>
            </a:r>
            <a:r>
              <a:rPr lang="en-US" dirty="0" err="1"/>
              <a:t>prossimo</a:t>
            </a:r>
            <a:r>
              <a:rPr lang="en-US" dirty="0"/>
              <a:t> step. Per TORCS, dove </a:t>
            </a:r>
            <a:r>
              <a:rPr lang="en-US" dirty="0" err="1"/>
              <a:t>volete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l'agente</a:t>
            </a:r>
            <a:r>
              <a:rPr lang="en-US" dirty="0"/>
              <a:t> </a:t>
            </a:r>
            <a:r>
              <a:rPr lang="en-US" dirty="0" err="1"/>
              <a:t>pensi</a:t>
            </a:r>
            <a:r>
              <a:rPr lang="en-US" dirty="0"/>
              <a:t> a </a:t>
            </a:r>
            <a:r>
              <a:rPr lang="en-US" dirty="0" err="1"/>
              <a:t>completare</a:t>
            </a:r>
            <a:r>
              <a:rPr lang="en-US" dirty="0"/>
              <a:t> </a:t>
            </a:r>
            <a:r>
              <a:rPr lang="en-US" dirty="0" err="1"/>
              <a:t>giri</a:t>
            </a:r>
            <a:r>
              <a:rPr lang="en-US" dirty="0"/>
              <a:t> </a:t>
            </a:r>
            <a:r>
              <a:rPr lang="en-US" dirty="0" err="1"/>
              <a:t>interi</a:t>
            </a:r>
            <a:r>
              <a:rPr lang="en-US" dirty="0"/>
              <a:t> (non solo il </a:t>
            </a:r>
            <a:r>
              <a:rPr lang="en-US" dirty="0" err="1"/>
              <a:t>passo</a:t>
            </a:r>
            <a:r>
              <a:rPr lang="en-US" dirty="0"/>
              <a:t> </a:t>
            </a:r>
            <a:r>
              <a:rPr lang="en-US" dirty="0" err="1"/>
              <a:t>successivo</a:t>
            </a:r>
            <a:r>
              <a:rPr lang="en-US" dirty="0"/>
              <a:t>), </a:t>
            </a:r>
            <a:r>
              <a:rPr lang="el-GR" dirty="0"/>
              <a:t>γ </a:t>
            </a:r>
            <a:r>
              <a:rPr lang="en-US" dirty="0" err="1"/>
              <a:t>vicino</a:t>
            </a:r>
            <a:r>
              <a:rPr lang="en-US" dirty="0"/>
              <a:t> a 1 (es. 0.95–0.99)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appropriato</a:t>
            </a:r>
            <a:r>
              <a:rPr lang="en-US" dirty="0"/>
              <a:t>.</a:t>
            </a:r>
          </a:p>
          <a:p>
            <a:r>
              <a:rPr lang="en-US" b="1" dirty="0"/>
              <a:t>Il dilemma </a:t>
            </a:r>
            <a:r>
              <a:rPr lang="en-US" b="1" dirty="0" err="1"/>
              <a:t>esplorazione</a:t>
            </a:r>
            <a:r>
              <a:rPr lang="en-US" b="1" dirty="0"/>
              <a:t> vs </a:t>
            </a:r>
            <a:r>
              <a:rPr lang="en-US" b="1" dirty="0" err="1"/>
              <a:t>sfruttamento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uno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problemi</a:t>
            </a:r>
            <a:r>
              <a:rPr lang="en-US" dirty="0"/>
              <a:t> </a:t>
            </a:r>
            <a:r>
              <a:rPr lang="en-US" dirty="0" err="1"/>
              <a:t>fondamentali</a:t>
            </a:r>
            <a:r>
              <a:rPr lang="en-US" dirty="0"/>
              <a:t> del RL. Se </a:t>
            </a:r>
            <a:r>
              <a:rPr lang="en-US" dirty="0" err="1"/>
              <a:t>l'agente</a:t>
            </a:r>
            <a:r>
              <a:rPr lang="en-US" dirty="0"/>
              <a:t> </a:t>
            </a:r>
            <a:r>
              <a:rPr lang="en-US" dirty="0" err="1"/>
              <a:t>sfrutta</a:t>
            </a:r>
            <a:r>
              <a:rPr lang="en-US" dirty="0"/>
              <a:t> sempre la </a:t>
            </a:r>
            <a:r>
              <a:rPr lang="en-US" dirty="0" err="1"/>
              <a:t>sua</a:t>
            </a:r>
            <a:r>
              <a:rPr lang="en-US" dirty="0"/>
              <a:t> </a:t>
            </a:r>
            <a:r>
              <a:rPr lang="en-US" dirty="0" err="1"/>
              <a:t>conoscenza</a:t>
            </a:r>
            <a:r>
              <a:rPr lang="en-US" dirty="0"/>
              <a:t> </a:t>
            </a:r>
            <a:r>
              <a:rPr lang="en-US" dirty="0" err="1"/>
              <a:t>attuale</a:t>
            </a:r>
            <a:r>
              <a:rPr lang="en-US" dirty="0"/>
              <a:t> (fa sempre </a:t>
            </a:r>
            <a:r>
              <a:rPr lang="en-US" dirty="0" err="1"/>
              <a:t>l'azione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pensa</a:t>
            </a:r>
            <a:r>
              <a:rPr lang="en-US" dirty="0"/>
              <a:t> </a:t>
            </a:r>
            <a:r>
              <a:rPr lang="en-US" dirty="0" err="1"/>
              <a:t>sia</a:t>
            </a:r>
            <a:r>
              <a:rPr lang="en-US" dirty="0"/>
              <a:t> </a:t>
            </a:r>
            <a:r>
              <a:rPr lang="en-US" dirty="0" err="1"/>
              <a:t>migliore</a:t>
            </a:r>
            <a:r>
              <a:rPr lang="en-US" dirty="0"/>
              <a:t>), non </a:t>
            </a:r>
            <a:r>
              <a:rPr lang="en-US" dirty="0" err="1"/>
              <a:t>scopre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strategie</a:t>
            </a:r>
            <a:r>
              <a:rPr lang="en-US" dirty="0"/>
              <a:t> </a:t>
            </a:r>
            <a:r>
              <a:rPr lang="en-US" dirty="0" err="1"/>
              <a:t>nuove</a:t>
            </a:r>
            <a:r>
              <a:rPr lang="en-US" dirty="0"/>
              <a:t> e </a:t>
            </a:r>
            <a:r>
              <a:rPr lang="en-US" dirty="0" err="1"/>
              <a:t>migliori</a:t>
            </a:r>
            <a:r>
              <a:rPr lang="en-US" dirty="0"/>
              <a:t>. Se </a:t>
            </a:r>
            <a:r>
              <a:rPr lang="en-US" dirty="0" err="1"/>
              <a:t>esplora</a:t>
            </a:r>
            <a:r>
              <a:rPr lang="en-US" dirty="0"/>
              <a:t> </a:t>
            </a:r>
            <a:r>
              <a:rPr lang="en-US" dirty="0" err="1"/>
              <a:t>troppo</a:t>
            </a:r>
            <a:r>
              <a:rPr lang="en-US" dirty="0"/>
              <a:t> a </a:t>
            </a:r>
            <a:r>
              <a:rPr lang="en-US" dirty="0" err="1"/>
              <a:t>caso</a:t>
            </a:r>
            <a:r>
              <a:rPr lang="en-US" dirty="0"/>
              <a:t>, non </a:t>
            </a:r>
            <a:r>
              <a:rPr lang="en-US" dirty="0" err="1"/>
              <a:t>riesce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a </a:t>
            </a:r>
            <a:r>
              <a:rPr lang="en-US" dirty="0" err="1"/>
              <a:t>capitalizzare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quello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ha </a:t>
            </a:r>
            <a:r>
              <a:rPr lang="en-US" dirty="0" err="1"/>
              <a:t>già</a:t>
            </a:r>
            <a:r>
              <a:rPr lang="en-US" dirty="0"/>
              <a:t> </a:t>
            </a:r>
            <a:r>
              <a:rPr lang="en-US" dirty="0" err="1"/>
              <a:t>imparato</a:t>
            </a:r>
            <a:r>
              <a:rPr lang="en-US" dirty="0"/>
              <a:t>.</a:t>
            </a:r>
          </a:p>
          <a:p>
            <a:r>
              <a:rPr lang="en-US" dirty="0"/>
              <a:t>La </a:t>
            </a:r>
            <a:r>
              <a:rPr lang="en-US" dirty="0" err="1"/>
              <a:t>soluzione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semplice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l-GR" b="1" dirty="0"/>
              <a:t>ε-</a:t>
            </a:r>
            <a:r>
              <a:rPr lang="en-US" b="1" dirty="0"/>
              <a:t>greedy</a:t>
            </a:r>
            <a:r>
              <a:rPr lang="en-US" dirty="0"/>
              <a:t>: con </a:t>
            </a:r>
            <a:r>
              <a:rPr lang="en-US" dirty="0" err="1"/>
              <a:t>probabilità</a:t>
            </a:r>
            <a:r>
              <a:rPr lang="en-US" dirty="0"/>
              <a:t> </a:t>
            </a:r>
            <a:r>
              <a:rPr lang="el-GR" dirty="0"/>
              <a:t>ε </a:t>
            </a:r>
            <a:r>
              <a:rPr lang="en-US" dirty="0" err="1"/>
              <a:t>l'agente</a:t>
            </a:r>
            <a:r>
              <a:rPr lang="en-US" dirty="0"/>
              <a:t> </a:t>
            </a:r>
            <a:r>
              <a:rPr lang="en-US" dirty="0" err="1"/>
              <a:t>sceglie</a:t>
            </a:r>
            <a:r>
              <a:rPr lang="en-US" dirty="0"/>
              <a:t> </a:t>
            </a:r>
            <a:r>
              <a:rPr lang="en-US" dirty="0" err="1"/>
              <a:t>un'azione</a:t>
            </a:r>
            <a:r>
              <a:rPr lang="en-US" dirty="0"/>
              <a:t> </a:t>
            </a:r>
            <a:r>
              <a:rPr lang="en-US" dirty="0" err="1"/>
              <a:t>casuale</a:t>
            </a:r>
            <a:r>
              <a:rPr lang="en-US" dirty="0"/>
              <a:t> (</a:t>
            </a:r>
            <a:r>
              <a:rPr lang="en-US" dirty="0" err="1"/>
              <a:t>esplora</a:t>
            </a:r>
            <a:r>
              <a:rPr lang="en-US" dirty="0"/>
              <a:t>), con </a:t>
            </a:r>
            <a:r>
              <a:rPr lang="en-US" dirty="0" err="1"/>
              <a:t>probabilità</a:t>
            </a:r>
            <a:r>
              <a:rPr lang="en-US" dirty="0"/>
              <a:t> 1−</a:t>
            </a:r>
            <a:r>
              <a:rPr lang="el-GR" dirty="0"/>
              <a:t>ε </a:t>
            </a:r>
            <a:r>
              <a:rPr lang="en-US" dirty="0" err="1"/>
              <a:t>sceglie</a:t>
            </a:r>
            <a:r>
              <a:rPr lang="en-US" dirty="0"/>
              <a:t> </a:t>
            </a:r>
            <a:r>
              <a:rPr lang="en-US" dirty="0" err="1"/>
              <a:t>l'azione</a:t>
            </a:r>
            <a:r>
              <a:rPr lang="en-US" dirty="0"/>
              <a:t> </a:t>
            </a:r>
            <a:r>
              <a:rPr lang="en-US" dirty="0" err="1"/>
              <a:t>migliore</a:t>
            </a:r>
            <a:r>
              <a:rPr lang="en-US" dirty="0"/>
              <a:t> nota (</a:t>
            </a:r>
            <a:r>
              <a:rPr lang="en-US" dirty="0" err="1"/>
              <a:t>sfrutta</a:t>
            </a:r>
            <a:r>
              <a:rPr lang="en-US" dirty="0"/>
              <a:t>). </a:t>
            </a:r>
            <a:r>
              <a:rPr lang="en-US" dirty="0" err="1"/>
              <a:t>All'inizio</a:t>
            </a:r>
            <a:r>
              <a:rPr lang="en-US" dirty="0"/>
              <a:t> del training </a:t>
            </a:r>
            <a:r>
              <a:rPr lang="el-GR" dirty="0"/>
              <a:t>ε </a:t>
            </a:r>
            <a:r>
              <a:rPr lang="en-US" dirty="0" err="1"/>
              <a:t>è</a:t>
            </a:r>
            <a:r>
              <a:rPr lang="en-US" dirty="0"/>
              <a:t> alto (es. 1.0 = </a:t>
            </a:r>
            <a:r>
              <a:rPr lang="en-US" dirty="0" err="1"/>
              <a:t>tutto</a:t>
            </a:r>
            <a:r>
              <a:rPr lang="en-US" dirty="0"/>
              <a:t> random), poi </a:t>
            </a:r>
            <a:r>
              <a:rPr lang="en-US" dirty="0" err="1"/>
              <a:t>decresce</a:t>
            </a:r>
            <a:r>
              <a:rPr lang="en-US" dirty="0"/>
              <a:t> </a:t>
            </a:r>
            <a:r>
              <a:rPr lang="en-US" dirty="0" err="1"/>
              <a:t>gradualmente</a:t>
            </a:r>
            <a:r>
              <a:rPr lang="en-US" dirty="0"/>
              <a:t> (es.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arriva</a:t>
            </a:r>
            <a:r>
              <a:rPr lang="en-US" dirty="0"/>
              <a:t> a 0.05 dopo </a:t>
            </a:r>
            <a:r>
              <a:rPr lang="en-US" dirty="0" err="1"/>
              <a:t>molti</a:t>
            </a:r>
            <a:r>
              <a:rPr lang="en-US" dirty="0"/>
              <a:t> </a:t>
            </a:r>
            <a:r>
              <a:rPr lang="en-US" dirty="0" err="1"/>
              <a:t>episodi</a:t>
            </a:r>
            <a:r>
              <a:rPr lang="en-US" dirty="0"/>
              <a:t>). </a:t>
            </a:r>
            <a:r>
              <a:rPr lang="en-US" dirty="0" err="1"/>
              <a:t>Questo</a:t>
            </a:r>
            <a:r>
              <a:rPr lang="en-US" dirty="0"/>
              <a:t> </a:t>
            </a:r>
            <a:r>
              <a:rPr lang="en-US" dirty="0" err="1"/>
              <a:t>simula</a:t>
            </a:r>
            <a:r>
              <a:rPr lang="en-US" dirty="0"/>
              <a:t> il </a:t>
            </a:r>
            <a:r>
              <a:rPr lang="en-US" dirty="0" err="1"/>
              <a:t>comportamento</a:t>
            </a:r>
            <a:r>
              <a:rPr lang="en-US" dirty="0"/>
              <a:t> di un bambino: </a:t>
            </a:r>
            <a:r>
              <a:rPr lang="en-US" dirty="0" err="1"/>
              <a:t>all'inizio</a:t>
            </a:r>
            <a:r>
              <a:rPr lang="en-US" dirty="0"/>
              <a:t> </a:t>
            </a:r>
            <a:r>
              <a:rPr lang="en-US" dirty="0" err="1"/>
              <a:t>tocca</a:t>
            </a:r>
            <a:r>
              <a:rPr lang="en-US" dirty="0"/>
              <a:t> </a:t>
            </a:r>
            <a:r>
              <a:rPr lang="en-US" dirty="0" err="1"/>
              <a:t>tutto</a:t>
            </a:r>
            <a:r>
              <a:rPr lang="en-US" dirty="0"/>
              <a:t> a </a:t>
            </a:r>
            <a:r>
              <a:rPr lang="en-US" dirty="0" err="1"/>
              <a:t>caso</a:t>
            </a:r>
            <a:r>
              <a:rPr lang="en-US" dirty="0"/>
              <a:t>, poi man mano capisce </a:t>
            </a:r>
            <a:r>
              <a:rPr lang="en-US" dirty="0" err="1"/>
              <a:t>cosa</a:t>
            </a:r>
            <a:r>
              <a:rPr lang="en-US" dirty="0"/>
              <a:t> </a:t>
            </a:r>
            <a:r>
              <a:rPr lang="en-US" dirty="0" err="1"/>
              <a:t>funziona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Q-Learning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stato</a:t>
            </a:r>
            <a:r>
              <a:rPr lang="en-US" dirty="0"/>
              <a:t> </a:t>
            </a:r>
            <a:r>
              <a:rPr lang="en-US" dirty="0" err="1"/>
              <a:t>pubblicato</a:t>
            </a:r>
            <a:r>
              <a:rPr lang="en-US" dirty="0"/>
              <a:t> da Watkins </a:t>
            </a:r>
            <a:r>
              <a:rPr lang="en-US" dirty="0" err="1"/>
              <a:t>nel</a:t>
            </a:r>
            <a:r>
              <a:rPr lang="en-US" dirty="0"/>
              <a:t> 1989 e, </a:t>
            </a:r>
            <a:r>
              <a:rPr lang="en-US" dirty="0" err="1"/>
              <a:t>nella</a:t>
            </a:r>
            <a:r>
              <a:rPr lang="en-US" dirty="0"/>
              <a:t> </a:t>
            </a:r>
            <a:r>
              <a:rPr lang="en-US" dirty="0" err="1"/>
              <a:t>sua</a:t>
            </a:r>
            <a:r>
              <a:rPr lang="en-US" dirty="0"/>
              <a:t> forma </a:t>
            </a:r>
            <a:r>
              <a:rPr lang="en-US" dirty="0" err="1"/>
              <a:t>tabellare</a:t>
            </a:r>
            <a:r>
              <a:rPr lang="en-US" dirty="0"/>
              <a:t>,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ancora</a:t>
            </a:r>
            <a:r>
              <a:rPr lang="en-US" dirty="0"/>
              <a:t> </a:t>
            </a:r>
            <a:r>
              <a:rPr lang="en-US" dirty="0" err="1"/>
              <a:t>oggi</a:t>
            </a:r>
            <a:r>
              <a:rPr lang="en-US" dirty="0"/>
              <a:t> uno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metodi</a:t>
            </a:r>
            <a:r>
              <a:rPr lang="en-US" dirty="0"/>
              <a:t> di RL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comprensibili</a:t>
            </a:r>
            <a:r>
              <a:rPr lang="en-US" dirty="0"/>
              <a:t> e </a:t>
            </a:r>
            <a:r>
              <a:rPr lang="en-US" dirty="0" err="1"/>
              <a:t>implementabili</a:t>
            </a:r>
            <a:r>
              <a:rPr lang="en-US" dirty="0"/>
              <a:t>.</a:t>
            </a:r>
          </a:p>
          <a:p>
            <a:r>
              <a:rPr lang="en-US" b="1" dirty="0"/>
              <a:t>Q(s, a)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la </a:t>
            </a:r>
            <a:r>
              <a:rPr lang="en-US" b="1" dirty="0" err="1"/>
              <a:t>funzione</a:t>
            </a:r>
            <a:r>
              <a:rPr lang="en-US" b="1" dirty="0"/>
              <a:t> di </a:t>
            </a:r>
            <a:r>
              <a:rPr lang="en-US" b="1" dirty="0" err="1"/>
              <a:t>valore</a:t>
            </a:r>
            <a:r>
              <a:rPr lang="en-US" b="1" dirty="0"/>
              <a:t> azione</a:t>
            </a:r>
            <a:r>
              <a:rPr lang="en-US" dirty="0"/>
              <a:t>: </a:t>
            </a:r>
            <a:r>
              <a:rPr lang="en-US" dirty="0" err="1"/>
              <a:t>rappresenta</a:t>
            </a:r>
            <a:r>
              <a:rPr lang="en-US" dirty="0"/>
              <a:t> il </a:t>
            </a:r>
            <a:r>
              <a:rPr lang="en-US" dirty="0" err="1"/>
              <a:t>ritorno</a:t>
            </a:r>
            <a:r>
              <a:rPr lang="en-US" dirty="0"/>
              <a:t> </a:t>
            </a:r>
            <a:r>
              <a:rPr lang="en-US" dirty="0" err="1"/>
              <a:t>cumulato</a:t>
            </a:r>
            <a:r>
              <a:rPr lang="en-US" dirty="0"/>
              <a:t> </a:t>
            </a:r>
            <a:r>
              <a:rPr lang="en-US" dirty="0" err="1"/>
              <a:t>atteso</a:t>
            </a:r>
            <a:r>
              <a:rPr lang="en-US" dirty="0"/>
              <a:t> a </a:t>
            </a:r>
            <a:r>
              <a:rPr lang="en-US" dirty="0" err="1"/>
              <a:t>partire</a:t>
            </a:r>
            <a:r>
              <a:rPr lang="en-US" dirty="0"/>
              <a:t> </a:t>
            </a:r>
            <a:r>
              <a:rPr lang="en-US" dirty="0" err="1"/>
              <a:t>dallo</a:t>
            </a:r>
            <a:r>
              <a:rPr lang="en-US" dirty="0"/>
              <a:t> </a:t>
            </a:r>
            <a:r>
              <a:rPr lang="en-US" dirty="0" err="1"/>
              <a:t>stato</a:t>
            </a:r>
            <a:r>
              <a:rPr lang="en-US" dirty="0"/>
              <a:t> s, </a:t>
            </a:r>
            <a:r>
              <a:rPr lang="en-US" dirty="0" err="1"/>
              <a:t>eseguendo</a:t>
            </a:r>
            <a:r>
              <a:rPr lang="en-US" dirty="0"/>
              <a:t> </a:t>
            </a:r>
            <a:r>
              <a:rPr lang="en-US" dirty="0" err="1"/>
              <a:t>l'azione</a:t>
            </a:r>
            <a:r>
              <a:rPr lang="en-US" dirty="0"/>
              <a:t> a, e poi </a:t>
            </a:r>
            <a:r>
              <a:rPr lang="en-US" dirty="0" err="1"/>
              <a:t>seguendo</a:t>
            </a:r>
            <a:r>
              <a:rPr lang="en-US" dirty="0"/>
              <a:t> la policy </a:t>
            </a:r>
            <a:r>
              <a:rPr lang="en-US" dirty="0" err="1"/>
              <a:t>ottimale</a:t>
            </a:r>
            <a:r>
              <a:rPr lang="en-US" dirty="0"/>
              <a:t>. In </a:t>
            </a:r>
            <a:r>
              <a:rPr lang="en-US" dirty="0" err="1"/>
              <a:t>altre</a:t>
            </a:r>
            <a:r>
              <a:rPr lang="en-US" dirty="0"/>
              <a:t> parole: "</a:t>
            </a:r>
            <a:r>
              <a:rPr lang="en-US" dirty="0" err="1"/>
              <a:t>quanto</a:t>
            </a:r>
            <a:r>
              <a:rPr lang="en-US" dirty="0"/>
              <a:t> vale fare </a:t>
            </a:r>
            <a:r>
              <a:rPr lang="en-US" dirty="0" err="1"/>
              <a:t>questa</a:t>
            </a:r>
            <a:r>
              <a:rPr lang="en-US" dirty="0"/>
              <a:t> azione in </a:t>
            </a:r>
            <a:r>
              <a:rPr lang="en-US" dirty="0" err="1"/>
              <a:t>questo</a:t>
            </a:r>
            <a:r>
              <a:rPr lang="en-US" dirty="0"/>
              <a:t> </a:t>
            </a:r>
            <a:r>
              <a:rPr lang="en-US" dirty="0" err="1"/>
              <a:t>stato</a:t>
            </a:r>
            <a:r>
              <a:rPr lang="en-US" dirty="0"/>
              <a:t>, </a:t>
            </a:r>
            <a:r>
              <a:rPr lang="en-US" dirty="0" err="1"/>
              <a:t>considerando</a:t>
            </a:r>
            <a:r>
              <a:rPr lang="en-US" dirty="0"/>
              <a:t> </a:t>
            </a:r>
            <a:r>
              <a:rPr lang="en-US" dirty="0" err="1"/>
              <a:t>tutto</a:t>
            </a:r>
            <a:r>
              <a:rPr lang="en-US" dirty="0"/>
              <a:t> </a:t>
            </a:r>
            <a:r>
              <a:rPr lang="en-US" dirty="0" err="1"/>
              <a:t>quello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succederà</a:t>
            </a:r>
            <a:r>
              <a:rPr lang="en-US" dirty="0"/>
              <a:t> dopo?".</a:t>
            </a:r>
          </a:p>
          <a:p>
            <a:r>
              <a:rPr lang="en-US" dirty="0"/>
              <a:t>Se </a:t>
            </a:r>
            <a:r>
              <a:rPr lang="en-US" dirty="0" err="1"/>
              <a:t>conoscessi</a:t>
            </a:r>
            <a:r>
              <a:rPr lang="en-US" dirty="0"/>
              <a:t> la Q </a:t>
            </a:r>
            <a:r>
              <a:rPr lang="en-US" dirty="0" err="1"/>
              <a:t>ottimale</a:t>
            </a:r>
            <a:r>
              <a:rPr lang="en-US" dirty="0"/>
              <a:t> per tutti </a:t>
            </a:r>
            <a:r>
              <a:rPr lang="en-US" dirty="0" err="1"/>
              <a:t>gli</a:t>
            </a:r>
            <a:r>
              <a:rPr lang="en-US" dirty="0"/>
              <a:t> </a:t>
            </a:r>
            <a:r>
              <a:rPr lang="en-US" dirty="0" err="1"/>
              <a:t>stati</a:t>
            </a:r>
            <a:r>
              <a:rPr lang="en-US" dirty="0"/>
              <a:t> e tutte le </a:t>
            </a:r>
            <a:r>
              <a:rPr lang="en-US" dirty="0" err="1"/>
              <a:t>azioni</a:t>
            </a:r>
            <a:r>
              <a:rPr lang="en-US" dirty="0"/>
              <a:t>, </a:t>
            </a:r>
            <a:r>
              <a:rPr lang="en-US" dirty="0" err="1"/>
              <a:t>trovare</a:t>
            </a:r>
            <a:r>
              <a:rPr lang="en-US" dirty="0"/>
              <a:t> la policy </a:t>
            </a:r>
            <a:r>
              <a:rPr lang="en-US" dirty="0" err="1"/>
              <a:t>ottimale</a:t>
            </a:r>
            <a:r>
              <a:rPr lang="en-US" dirty="0"/>
              <a:t> </a:t>
            </a:r>
            <a:r>
              <a:rPr lang="en-US" dirty="0" err="1"/>
              <a:t>sarebbe</a:t>
            </a:r>
            <a:r>
              <a:rPr lang="en-US" dirty="0"/>
              <a:t> </a:t>
            </a:r>
            <a:r>
              <a:rPr lang="en-US" dirty="0" err="1"/>
              <a:t>banale</a:t>
            </a:r>
            <a:r>
              <a:rPr lang="en-US" dirty="0"/>
              <a:t>: in ogni </a:t>
            </a:r>
            <a:r>
              <a:rPr lang="en-US" dirty="0" err="1"/>
              <a:t>stato</a:t>
            </a:r>
            <a:r>
              <a:rPr lang="en-US" dirty="0"/>
              <a:t> s, </a:t>
            </a:r>
            <a:r>
              <a:rPr lang="en-US" dirty="0" err="1"/>
              <a:t>scegliete</a:t>
            </a:r>
            <a:r>
              <a:rPr lang="en-US" dirty="0"/>
              <a:t> </a:t>
            </a:r>
            <a:r>
              <a:rPr lang="en-US" dirty="0" err="1"/>
              <a:t>l'azione</a:t>
            </a:r>
            <a:r>
              <a:rPr lang="en-US" dirty="0"/>
              <a:t> a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massimizza</a:t>
            </a:r>
            <a:r>
              <a:rPr lang="en-US" dirty="0"/>
              <a:t> Q(s, a).</a:t>
            </a:r>
          </a:p>
          <a:p>
            <a:r>
              <a:rPr lang="en-US" b="1" dirty="0"/>
              <a:t>Come </a:t>
            </a:r>
            <a:r>
              <a:rPr lang="en-US" b="1" dirty="0" err="1"/>
              <a:t>si</a:t>
            </a:r>
            <a:r>
              <a:rPr lang="en-US" b="1" dirty="0"/>
              <a:t> </a:t>
            </a:r>
            <a:r>
              <a:rPr lang="en-US" b="1" dirty="0" err="1"/>
              <a:t>impara</a:t>
            </a:r>
            <a:r>
              <a:rPr lang="en-US" b="1" dirty="0"/>
              <a:t> Q?</a:t>
            </a:r>
            <a:r>
              <a:rPr lang="en-US" dirty="0"/>
              <a:t> Con la </a:t>
            </a:r>
            <a:r>
              <a:rPr lang="en-US" dirty="0" err="1"/>
              <a:t>regola</a:t>
            </a:r>
            <a:r>
              <a:rPr lang="en-US" dirty="0"/>
              <a:t> di aggiornamento di Bellman: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s,a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← Q(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s,a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+ 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 · [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 + 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γ·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max_{a'} Q(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s',a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') − Q(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s,a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)]</a:t>
            </a:r>
          </a:p>
          <a:p>
            <a:r>
              <a:rPr lang="en-US" dirty="0" err="1"/>
              <a:t>Scomponendo</a:t>
            </a:r>
            <a:r>
              <a:rPr lang="en-US" dirty="0"/>
              <a:t>:</a:t>
            </a:r>
          </a:p>
          <a:p>
            <a:r>
              <a:rPr lang="en-US" b="1" dirty="0"/>
              <a:t>Q(</a:t>
            </a:r>
            <a:r>
              <a:rPr lang="en-US" b="1" dirty="0" err="1"/>
              <a:t>s,a</a:t>
            </a:r>
            <a:r>
              <a:rPr lang="en-US" b="1" dirty="0"/>
              <a:t>)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il </a:t>
            </a:r>
            <a:r>
              <a:rPr lang="en-US" dirty="0" err="1"/>
              <a:t>valore</a:t>
            </a:r>
            <a:r>
              <a:rPr lang="en-US" dirty="0"/>
              <a:t> </a:t>
            </a:r>
            <a:r>
              <a:rPr lang="en-US" dirty="0" err="1"/>
              <a:t>corrente</a:t>
            </a:r>
            <a:r>
              <a:rPr lang="en-US" dirty="0"/>
              <a:t> </a:t>
            </a:r>
            <a:r>
              <a:rPr lang="en-US" dirty="0" err="1"/>
              <a:t>stimato</a:t>
            </a:r>
            <a:r>
              <a:rPr lang="en-US" dirty="0"/>
              <a:t>.</a:t>
            </a:r>
          </a:p>
          <a:p>
            <a:r>
              <a:rPr lang="en-US" b="1" dirty="0"/>
              <a:t>r + </a:t>
            </a:r>
            <a:r>
              <a:rPr lang="el-GR" b="1" dirty="0"/>
              <a:t>γ·</a:t>
            </a:r>
            <a:r>
              <a:rPr lang="en-US" b="1" dirty="0"/>
              <a:t>max_{a'} Q(</a:t>
            </a:r>
            <a:r>
              <a:rPr lang="en-US" b="1" dirty="0" err="1"/>
              <a:t>s',a</a:t>
            </a:r>
            <a:r>
              <a:rPr lang="en-US" b="1" dirty="0"/>
              <a:t>')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il "target": il reward </a:t>
            </a:r>
            <a:r>
              <a:rPr lang="en-US" dirty="0" err="1"/>
              <a:t>ottenuto</a:t>
            </a:r>
            <a:r>
              <a:rPr lang="en-US" dirty="0"/>
              <a:t> </a:t>
            </a:r>
            <a:r>
              <a:rPr lang="en-US" dirty="0" err="1"/>
              <a:t>immediatamente</a:t>
            </a:r>
            <a:r>
              <a:rPr lang="en-US" dirty="0"/>
              <a:t>, </a:t>
            </a:r>
            <a:r>
              <a:rPr lang="en-US" dirty="0" err="1"/>
              <a:t>più</a:t>
            </a:r>
            <a:r>
              <a:rPr lang="en-US" dirty="0"/>
              <a:t> il </a:t>
            </a:r>
            <a:r>
              <a:rPr lang="en-US" dirty="0" err="1"/>
              <a:t>valore</a:t>
            </a:r>
            <a:r>
              <a:rPr lang="en-US" dirty="0"/>
              <a:t> </a:t>
            </a:r>
            <a:r>
              <a:rPr lang="en-US" dirty="0" err="1"/>
              <a:t>scontato</a:t>
            </a:r>
            <a:r>
              <a:rPr lang="en-US" dirty="0"/>
              <a:t> del </a:t>
            </a:r>
            <a:r>
              <a:rPr lang="en-US" dirty="0" err="1"/>
              <a:t>miglior</a:t>
            </a:r>
            <a:r>
              <a:rPr lang="en-US" dirty="0"/>
              <a:t> </a:t>
            </a:r>
            <a:r>
              <a:rPr lang="en-US" dirty="0" err="1"/>
              <a:t>stato</a:t>
            </a:r>
            <a:r>
              <a:rPr lang="en-US" dirty="0"/>
              <a:t> </a:t>
            </a:r>
            <a:r>
              <a:rPr lang="en-US" dirty="0" err="1"/>
              <a:t>successivo</a:t>
            </a:r>
            <a:r>
              <a:rPr lang="en-US" dirty="0"/>
              <a:t>. Questa </a:t>
            </a:r>
            <a:r>
              <a:rPr lang="en-US" dirty="0" err="1"/>
              <a:t>è</a:t>
            </a:r>
            <a:r>
              <a:rPr lang="en-US" dirty="0"/>
              <a:t> la nostra </a:t>
            </a:r>
            <a:r>
              <a:rPr lang="en-US" dirty="0" err="1"/>
              <a:t>stima</a:t>
            </a:r>
            <a:r>
              <a:rPr lang="en-US" dirty="0"/>
              <a:t> </a:t>
            </a:r>
            <a:r>
              <a:rPr lang="en-US" dirty="0" err="1"/>
              <a:t>migliore</a:t>
            </a:r>
            <a:r>
              <a:rPr lang="en-US" dirty="0"/>
              <a:t> di </a:t>
            </a:r>
            <a:r>
              <a:rPr lang="en-US" dirty="0" err="1"/>
              <a:t>quanto</a:t>
            </a:r>
            <a:r>
              <a:rPr lang="en-US" dirty="0"/>
              <a:t> vale </a:t>
            </a:r>
            <a:r>
              <a:rPr lang="en-US" dirty="0" err="1"/>
              <a:t>davvero</a:t>
            </a:r>
            <a:r>
              <a:rPr lang="en-US" dirty="0"/>
              <a:t> </a:t>
            </a:r>
            <a:r>
              <a:rPr lang="en-US" dirty="0" err="1"/>
              <a:t>quella</a:t>
            </a:r>
            <a:r>
              <a:rPr lang="en-US" dirty="0"/>
              <a:t> </a:t>
            </a:r>
            <a:r>
              <a:rPr lang="en-US" dirty="0" err="1"/>
              <a:t>coppia</a:t>
            </a:r>
            <a:r>
              <a:rPr lang="en-US" dirty="0"/>
              <a:t> (</a:t>
            </a:r>
            <a:r>
              <a:rPr lang="en-US" dirty="0" err="1"/>
              <a:t>s,a</a:t>
            </a:r>
            <a:r>
              <a:rPr lang="en-US" dirty="0"/>
              <a:t>).</a:t>
            </a:r>
          </a:p>
          <a:p>
            <a:r>
              <a:rPr lang="en-US" b="1" dirty="0"/>
              <a:t>Q(</a:t>
            </a:r>
            <a:r>
              <a:rPr lang="en-US" b="1" dirty="0" err="1"/>
              <a:t>s,a</a:t>
            </a:r>
            <a:r>
              <a:rPr lang="en-US" b="1" dirty="0"/>
              <a:t>) </a:t>
            </a:r>
            <a:r>
              <a:rPr lang="en-US" b="1" dirty="0" err="1"/>
              <a:t>corrente</a:t>
            </a:r>
            <a:r>
              <a:rPr lang="en-US" b="1" dirty="0"/>
              <a:t> − target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l'errore</a:t>
            </a:r>
            <a:r>
              <a:rPr lang="en-US" dirty="0"/>
              <a:t> di </a:t>
            </a:r>
            <a:r>
              <a:rPr lang="en-US" dirty="0" err="1"/>
              <a:t>stima</a:t>
            </a:r>
            <a:r>
              <a:rPr lang="en-US" dirty="0"/>
              <a:t>, </a:t>
            </a:r>
            <a:r>
              <a:rPr lang="en-US" dirty="0" err="1"/>
              <a:t>chiamato</a:t>
            </a:r>
            <a:r>
              <a:rPr lang="en-US" dirty="0"/>
              <a:t> </a:t>
            </a:r>
            <a:r>
              <a:rPr lang="en-US" b="1" dirty="0"/>
              <a:t>TD error</a:t>
            </a:r>
            <a:r>
              <a:rPr lang="en-US" dirty="0"/>
              <a:t> (Temporal Difference error).</a:t>
            </a:r>
          </a:p>
          <a:p>
            <a:r>
              <a:rPr lang="el-GR" b="1" dirty="0"/>
              <a:t>α</a:t>
            </a:r>
            <a:r>
              <a:rPr lang="el-GR" dirty="0"/>
              <a:t> </a:t>
            </a:r>
            <a:r>
              <a:rPr lang="en-US" dirty="0" err="1"/>
              <a:t>è</a:t>
            </a:r>
            <a:r>
              <a:rPr lang="en-US" dirty="0"/>
              <a:t> il learning rate: </a:t>
            </a:r>
            <a:r>
              <a:rPr lang="en-US" dirty="0" err="1"/>
              <a:t>controlla</a:t>
            </a:r>
            <a:r>
              <a:rPr lang="en-US" dirty="0"/>
              <a:t> </a:t>
            </a:r>
            <a:r>
              <a:rPr lang="en-US" dirty="0" err="1"/>
              <a:t>quanto</a:t>
            </a:r>
            <a:r>
              <a:rPr lang="en-US" dirty="0"/>
              <a:t> </a:t>
            </a:r>
            <a:r>
              <a:rPr lang="en-US" dirty="0" err="1"/>
              <a:t>velocemente</a:t>
            </a:r>
            <a:r>
              <a:rPr lang="en-US" dirty="0"/>
              <a:t> </a:t>
            </a:r>
            <a:r>
              <a:rPr lang="en-US" dirty="0" err="1"/>
              <a:t>aggiorniamo</a:t>
            </a:r>
            <a:r>
              <a:rPr lang="en-US" dirty="0"/>
              <a:t> la nostra </a:t>
            </a:r>
            <a:r>
              <a:rPr lang="en-US" dirty="0" err="1"/>
              <a:t>stima</a:t>
            </a:r>
            <a:r>
              <a:rPr lang="en-US" dirty="0"/>
              <a:t>. Se </a:t>
            </a:r>
            <a:r>
              <a:rPr lang="el-GR" dirty="0"/>
              <a:t>α </a:t>
            </a:r>
            <a:r>
              <a:rPr lang="en-US" dirty="0" err="1"/>
              <a:t>è</a:t>
            </a:r>
            <a:r>
              <a:rPr lang="en-US" dirty="0"/>
              <a:t> alto (es. 0.9), </a:t>
            </a:r>
            <a:r>
              <a:rPr lang="en-US" dirty="0" err="1"/>
              <a:t>aggiorniamo</a:t>
            </a:r>
            <a:r>
              <a:rPr lang="en-US" dirty="0"/>
              <a:t> molto </a:t>
            </a:r>
            <a:r>
              <a:rPr lang="en-US" dirty="0" err="1"/>
              <a:t>velocemente</a:t>
            </a:r>
            <a:r>
              <a:rPr lang="en-US" dirty="0"/>
              <a:t> ma </a:t>
            </a:r>
            <a:r>
              <a:rPr lang="en-US" dirty="0" err="1"/>
              <a:t>rischiamo</a:t>
            </a:r>
            <a:r>
              <a:rPr lang="en-US" dirty="0"/>
              <a:t> </a:t>
            </a:r>
            <a:r>
              <a:rPr lang="en-US" dirty="0" err="1"/>
              <a:t>oscillazioni</a:t>
            </a:r>
            <a:r>
              <a:rPr lang="en-US" dirty="0"/>
              <a:t>. Se </a:t>
            </a:r>
            <a:r>
              <a:rPr lang="en-US" dirty="0" err="1"/>
              <a:t>è</a:t>
            </a:r>
            <a:r>
              <a:rPr lang="en-US" dirty="0"/>
              <a:t> basso (es. 0.01), </a:t>
            </a:r>
            <a:r>
              <a:rPr lang="en-US" dirty="0" err="1"/>
              <a:t>aggiorniamo</a:t>
            </a:r>
            <a:r>
              <a:rPr lang="en-US" dirty="0"/>
              <a:t> lentamente ma in modo </a:t>
            </a:r>
            <a:r>
              <a:rPr lang="en-US" dirty="0" err="1"/>
              <a:t>più</a:t>
            </a:r>
            <a:r>
              <a:rPr lang="en-US" dirty="0"/>
              <a:t> stabile.</a:t>
            </a:r>
          </a:p>
          <a:p>
            <a:r>
              <a:rPr lang="en-US" dirty="0" err="1"/>
              <a:t>L'intuizione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: ogni volta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facciamo</a:t>
            </a:r>
            <a:r>
              <a:rPr lang="en-US" dirty="0"/>
              <a:t> </a:t>
            </a:r>
            <a:r>
              <a:rPr lang="en-US" dirty="0" err="1"/>
              <a:t>un'azione</a:t>
            </a:r>
            <a:r>
              <a:rPr lang="en-US" dirty="0"/>
              <a:t> e </a:t>
            </a:r>
            <a:r>
              <a:rPr lang="en-US" dirty="0" err="1"/>
              <a:t>osserviamo</a:t>
            </a:r>
            <a:r>
              <a:rPr lang="en-US" dirty="0"/>
              <a:t> la </a:t>
            </a:r>
            <a:r>
              <a:rPr lang="en-US" dirty="0" err="1"/>
              <a:t>conseguenza</a:t>
            </a:r>
            <a:r>
              <a:rPr lang="en-US" dirty="0"/>
              <a:t>, </a:t>
            </a:r>
            <a:r>
              <a:rPr lang="en-US" dirty="0" err="1"/>
              <a:t>aggiorniamo</a:t>
            </a:r>
            <a:r>
              <a:rPr lang="en-US" dirty="0"/>
              <a:t> </a:t>
            </a:r>
            <a:r>
              <a:rPr lang="en-US" dirty="0" err="1"/>
              <a:t>leggermente</a:t>
            </a:r>
            <a:r>
              <a:rPr lang="en-US" dirty="0"/>
              <a:t> la nostra </a:t>
            </a:r>
            <a:r>
              <a:rPr lang="en-US" dirty="0" err="1"/>
              <a:t>stima</a:t>
            </a:r>
            <a:r>
              <a:rPr lang="en-US" dirty="0"/>
              <a:t> di Q </a:t>
            </a:r>
            <a:r>
              <a:rPr lang="en-US" dirty="0" err="1"/>
              <a:t>nella</a:t>
            </a:r>
            <a:r>
              <a:rPr lang="en-US" dirty="0"/>
              <a:t> </a:t>
            </a:r>
            <a:r>
              <a:rPr lang="en-US" dirty="0" err="1"/>
              <a:t>direzione</a:t>
            </a:r>
            <a:r>
              <a:rPr lang="en-US" dirty="0"/>
              <a:t> del target. Con </a:t>
            </a:r>
            <a:r>
              <a:rPr lang="en-US" dirty="0" err="1"/>
              <a:t>abbastanza</a:t>
            </a:r>
            <a:r>
              <a:rPr lang="en-US" dirty="0"/>
              <a:t> </a:t>
            </a:r>
            <a:r>
              <a:rPr lang="en-US" dirty="0" err="1"/>
              <a:t>esperienza</a:t>
            </a:r>
            <a:r>
              <a:rPr lang="en-US" dirty="0"/>
              <a:t>, Q converge alla Q </a:t>
            </a:r>
            <a:r>
              <a:rPr lang="en-US" dirty="0" err="1"/>
              <a:t>ottimale</a:t>
            </a:r>
            <a:r>
              <a:rPr lang="en-US" dirty="0"/>
              <a:t>.</a:t>
            </a:r>
          </a:p>
          <a:p>
            <a:r>
              <a:rPr lang="en-US" b="1" dirty="0"/>
              <a:t>La Q-table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letteralmente</a:t>
            </a:r>
            <a:r>
              <a:rPr lang="en-US" dirty="0"/>
              <a:t> un array </a:t>
            </a:r>
            <a:r>
              <a:rPr lang="en-US" dirty="0" err="1"/>
              <a:t>multidimensionale</a:t>
            </a:r>
            <a:r>
              <a:rPr lang="en-US" dirty="0"/>
              <a:t> dove </a:t>
            </a:r>
            <a:r>
              <a:rPr lang="en-US" dirty="0" err="1"/>
              <a:t>gli</a:t>
            </a:r>
            <a:r>
              <a:rPr lang="en-US" dirty="0"/>
              <a:t> </a:t>
            </a:r>
            <a:r>
              <a:rPr lang="en-US" dirty="0" err="1"/>
              <a:t>indici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le </a:t>
            </a:r>
            <a:r>
              <a:rPr lang="en-US" dirty="0" err="1"/>
              <a:t>combinazioni</a:t>
            </a:r>
            <a:r>
              <a:rPr lang="en-US" dirty="0"/>
              <a:t> di </a:t>
            </a:r>
            <a:r>
              <a:rPr lang="en-US" dirty="0" err="1"/>
              <a:t>stato</a:t>
            </a:r>
            <a:r>
              <a:rPr lang="en-US" dirty="0"/>
              <a:t> </a:t>
            </a:r>
            <a:r>
              <a:rPr lang="en-US" dirty="0" err="1"/>
              <a:t>discretizzato</a:t>
            </a:r>
            <a:r>
              <a:rPr lang="en-US" dirty="0"/>
              <a:t> e azione. Se </a:t>
            </a:r>
            <a:r>
              <a:rPr lang="en-US" dirty="0" err="1"/>
              <a:t>avete</a:t>
            </a:r>
            <a:r>
              <a:rPr lang="en-US" dirty="0"/>
              <a:t> 9 bin di </a:t>
            </a:r>
            <a:r>
              <a:rPr lang="en-US" dirty="0" err="1"/>
              <a:t>trackPos</a:t>
            </a:r>
            <a:r>
              <a:rPr lang="en-US" dirty="0"/>
              <a:t>, 7 bin di angle e 7 </a:t>
            </a:r>
            <a:r>
              <a:rPr lang="en-US" dirty="0" err="1"/>
              <a:t>possibili</a:t>
            </a:r>
            <a:r>
              <a:rPr lang="en-US" dirty="0"/>
              <a:t> </a:t>
            </a:r>
            <a:r>
              <a:rPr lang="en-US" dirty="0" err="1"/>
              <a:t>azioni</a:t>
            </a:r>
            <a:r>
              <a:rPr lang="en-US" dirty="0"/>
              <a:t> di </a:t>
            </a:r>
            <a:r>
              <a:rPr lang="en-US" dirty="0" err="1"/>
              <a:t>sterzo</a:t>
            </a:r>
            <a:r>
              <a:rPr lang="en-US" dirty="0"/>
              <a:t>, la Q-table ha 9×7×7 = 441 </a:t>
            </a:r>
            <a:r>
              <a:rPr lang="en-US" dirty="0" err="1"/>
              <a:t>celle</a:t>
            </a:r>
            <a:r>
              <a:rPr lang="en-US" dirty="0"/>
              <a:t>. Ogni </a:t>
            </a:r>
            <a:r>
              <a:rPr lang="en-US" dirty="0" err="1"/>
              <a:t>cella</a:t>
            </a:r>
            <a:r>
              <a:rPr lang="en-US" dirty="0"/>
              <a:t> </a:t>
            </a:r>
            <a:r>
              <a:rPr lang="en-US" dirty="0" err="1"/>
              <a:t>contiene</a:t>
            </a:r>
            <a:r>
              <a:rPr lang="en-US" dirty="0"/>
              <a:t> un </a:t>
            </a:r>
            <a:r>
              <a:rPr lang="en-US" dirty="0" err="1"/>
              <a:t>numero</a:t>
            </a:r>
            <a:r>
              <a:rPr lang="en-US" dirty="0"/>
              <a:t> </a:t>
            </a:r>
            <a:r>
              <a:rPr lang="en-US" dirty="0" err="1"/>
              <a:t>reale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aggiornato</a:t>
            </a:r>
            <a:r>
              <a:rPr lang="en-US" dirty="0"/>
              <a:t> </a:t>
            </a:r>
            <a:r>
              <a:rPr lang="en-US" dirty="0" err="1"/>
              <a:t>durante</a:t>
            </a:r>
            <a:r>
              <a:rPr lang="en-US" dirty="0"/>
              <a:t> il training.</a:t>
            </a:r>
          </a:p>
          <a:p>
            <a:r>
              <a:rPr lang="en-US" b="1" dirty="0"/>
              <a:t>La curse of dimensionality.</a:t>
            </a:r>
            <a:r>
              <a:rPr lang="en-US" dirty="0"/>
              <a:t> Il </a:t>
            </a:r>
            <a:r>
              <a:rPr lang="en-US" dirty="0" err="1"/>
              <a:t>problema</a:t>
            </a:r>
            <a:r>
              <a:rPr lang="en-US" dirty="0"/>
              <a:t> </a:t>
            </a:r>
            <a:r>
              <a:rPr lang="en-US" dirty="0" err="1"/>
              <a:t>nasce</a:t>
            </a:r>
            <a:r>
              <a:rPr lang="en-US" dirty="0"/>
              <a:t> </a:t>
            </a:r>
            <a:r>
              <a:rPr lang="en-US" dirty="0" err="1"/>
              <a:t>quando</a:t>
            </a:r>
            <a:r>
              <a:rPr lang="en-US" dirty="0"/>
              <a:t> </a:t>
            </a:r>
            <a:r>
              <a:rPr lang="en-US" dirty="0" err="1"/>
              <a:t>aggiungete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variabili</a:t>
            </a:r>
            <a:r>
              <a:rPr lang="en-US" dirty="0"/>
              <a:t> di </a:t>
            </a:r>
            <a:r>
              <a:rPr lang="en-US" dirty="0" err="1"/>
              <a:t>stato</a:t>
            </a:r>
            <a:r>
              <a:rPr lang="en-US" dirty="0"/>
              <a:t>. Se </a:t>
            </a:r>
            <a:r>
              <a:rPr lang="en-US" dirty="0" err="1"/>
              <a:t>aggiungete</a:t>
            </a:r>
            <a:r>
              <a:rPr lang="en-US" dirty="0"/>
              <a:t> </a:t>
            </a:r>
            <a:r>
              <a:rPr lang="en-US" dirty="0" err="1"/>
              <a:t>anche</a:t>
            </a:r>
            <a:r>
              <a:rPr lang="en-US" dirty="0"/>
              <a:t> la </a:t>
            </a:r>
            <a:r>
              <a:rPr lang="en-US" dirty="0" err="1"/>
              <a:t>velocità</a:t>
            </a:r>
            <a:r>
              <a:rPr lang="en-US" dirty="0"/>
              <a:t> (5 bin) e 5 </a:t>
            </a:r>
            <a:r>
              <a:rPr lang="en-US" dirty="0" err="1"/>
              <a:t>raggi</a:t>
            </a:r>
            <a:r>
              <a:rPr lang="en-US" dirty="0"/>
              <a:t> track (10 bin </a:t>
            </a:r>
            <a:r>
              <a:rPr lang="en-US" dirty="0" err="1"/>
              <a:t>ciascuno</a:t>
            </a:r>
            <a:r>
              <a:rPr lang="en-US" dirty="0"/>
              <a:t>), la </a:t>
            </a:r>
            <a:r>
              <a:rPr lang="en-US" dirty="0" err="1"/>
              <a:t>tabella</a:t>
            </a:r>
            <a:r>
              <a:rPr lang="en-US" dirty="0"/>
              <a:t> </a:t>
            </a:r>
            <a:r>
              <a:rPr lang="en-US" dirty="0" err="1"/>
              <a:t>diventa</a:t>
            </a:r>
            <a:r>
              <a:rPr lang="en-US" dirty="0"/>
              <a:t> 9×7×5×10^5×7 = </a:t>
            </a:r>
            <a:r>
              <a:rPr lang="en-US" dirty="0" err="1"/>
              <a:t>miliardi</a:t>
            </a:r>
            <a:r>
              <a:rPr lang="en-US" dirty="0"/>
              <a:t> di </a:t>
            </a:r>
            <a:r>
              <a:rPr lang="en-US" dirty="0" err="1"/>
              <a:t>celle</a:t>
            </a:r>
            <a:r>
              <a:rPr lang="en-US" dirty="0"/>
              <a:t>. Non solo la memoria </a:t>
            </a:r>
            <a:r>
              <a:rPr lang="en-US" dirty="0" err="1"/>
              <a:t>esplode</a:t>
            </a:r>
            <a:r>
              <a:rPr lang="en-US" dirty="0"/>
              <a:t>, ma la </a:t>
            </a:r>
            <a:r>
              <a:rPr lang="en-US" dirty="0" err="1"/>
              <a:t>maggior</a:t>
            </a:r>
            <a:r>
              <a:rPr lang="en-US" dirty="0"/>
              <a:t> </a:t>
            </a:r>
            <a:r>
              <a:rPr lang="en-US" dirty="0" err="1"/>
              <a:t>parte</a:t>
            </a:r>
            <a:r>
              <a:rPr lang="en-US" dirty="0"/>
              <a:t> delle </a:t>
            </a:r>
            <a:r>
              <a:rPr lang="en-US" dirty="0" err="1"/>
              <a:t>celle</a:t>
            </a:r>
            <a:r>
              <a:rPr lang="en-US" dirty="0"/>
              <a:t> non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visitata</a:t>
            </a:r>
            <a:r>
              <a:rPr lang="en-US" dirty="0"/>
              <a:t> — </a:t>
            </a:r>
            <a:r>
              <a:rPr lang="en-US" dirty="0" err="1"/>
              <a:t>l'agente</a:t>
            </a:r>
            <a:r>
              <a:rPr lang="en-US" dirty="0"/>
              <a:t> non </a:t>
            </a:r>
            <a:r>
              <a:rPr lang="en-US" dirty="0" err="1"/>
              <a:t>impara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di esse.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slide </a:t>
            </a:r>
            <a:r>
              <a:rPr lang="en-US" dirty="0" err="1"/>
              <a:t>è</a:t>
            </a:r>
            <a:r>
              <a:rPr lang="en-US" dirty="0"/>
              <a:t> la </a:t>
            </a:r>
            <a:r>
              <a:rPr lang="en-US" dirty="0" err="1"/>
              <a:t>più</a:t>
            </a:r>
            <a:r>
              <a:rPr lang="en-US" dirty="0"/>
              <a:t> "</a:t>
            </a:r>
            <a:r>
              <a:rPr lang="en-US" dirty="0" err="1"/>
              <a:t>ingegneristica</a:t>
            </a:r>
            <a:r>
              <a:rPr lang="en-US" dirty="0"/>
              <a:t>" della </a:t>
            </a:r>
            <a:r>
              <a:rPr lang="en-US" dirty="0" err="1"/>
              <a:t>sezione</a:t>
            </a:r>
            <a:r>
              <a:rPr lang="en-US" dirty="0"/>
              <a:t> Q-Learning: come </a:t>
            </a:r>
            <a:r>
              <a:rPr lang="en-US" dirty="0" err="1"/>
              <a:t>tradurre</a:t>
            </a:r>
            <a:r>
              <a:rPr lang="en-US" dirty="0"/>
              <a:t> </a:t>
            </a:r>
            <a:r>
              <a:rPr lang="en-US" dirty="0" err="1"/>
              <a:t>concretamente</a:t>
            </a:r>
            <a:r>
              <a:rPr lang="en-US" dirty="0"/>
              <a:t> il </a:t>
            </a:r>
            <a:r>
              <a:rPr lang="en-US" dirty="0" err="1"/>
              <a:t>problema</a:t>
            </a:r>
            <a:r>
              <a:rPr lang="en-US" dirty="0"/>
              <a:t> TORCS in </a:t>
            </a:r>
            <a:r>
              <a:rPr lang="en-US" dirty="0" err="1"/>
              <a:t>qualcosa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Q-Learning </a:t>
            </a:r>
            <a:r>
              <a:rPr lang="en-US" dirty="0" err="1"/>
              <a:t>può</a:t>
            </a:r>
            <a:r>
              <a:rPr lang="en-US" dirty="0"/>
              <a:t> </a:t>
            </a:r>
            <a:r>
              <a:rPr lang="en-US" dirty="0" err="1"/>
              <a:t>gestire</a:t>
            </a:r>
            <a:r>
              <a:rPr lang="en-US" dirty="0"/>
              <a:t>.</a:t>
            </a:r>
          </a:p>
          <a:p>
            <a:r>
              <a:rPr lang="en-US" b="1" dirty="0"/>
              <a:t>La </a:t>
            </a:r>
            <a:r>
              <a:rPr lang="en-US" b="1" dirty="0" err="1"/>
              <a:t>scelta</a:t>
            </a:r>
            <a:r>
              <a:rPr lang="en-US" b="1" dirty="0"/>
              <a:t> </a:t>
            </a:r>
            <a:r>
              <a:rPr lang="en-US" b="1" dirty="0" err="1"/>
              <a:t>dei</a:t>
            </a:r>
            <a:r>
              <a:rPr lang="en-US" b="1" dirty="0"/>
              <a:t> bin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un </a:t>
            </a:r>
            <a:r>
              <a:rPr lang="en-US" dirty="0" err="1"/>
              <a:t>iperparametro</a:t>
            </a:r>
            <a:r>
              <a:rPr lang="en-US" dirty="0"/>
              <a:t> </a:t>
            </a:r>
            <a:r>
              <a:rPr lang="en-US" dirty="0" err="1"/>
              <a:t>critico</a:t>
            </a:r>
            <a:r>
              <a:rPr lang="en-US" dirty="0"/>
              <a:t>. </a:t>
            </a:r>
            <a:r>
              <a:rPr lang="en-US" dirty="0" err="1"/>
              <a:t>Troppo</a:t>
            </a:r>
            <a:r>
              <a:rPr lang="en-US" dirty="0"/>
              <a:t> </a:t>
            </a:r>
            <a:r>
              <a:rPr lang="en-US" dirty="0" err="1"/>
              <a:t>pochi</a:t>
            </a:r>
            <a:r>
              <a:rPr lang="en-US" dirty="0"/>
              <a:t> bin </a:t>
            </a:r>
            <a:r>
              <a:rPr lang="en-US" dirty="0" err="1"/>
              <a:t>significano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l'agente</a:t>
            </a:r>
            <a:r>
              <a:rPr lang="en-US" dirty="0"/>
              <a:t> non distingue </a:t>
            </a:r>
            <a:r>
              <a:rPr lang="en-US" dirty="0" err="1"/>
              <a:t>situazioni</a:t>
            </a:r>
            <a:r>
              <a:rPr lang="en-US" dirty="0"/>
              <a:t> diverse (es. con 3 bin di </a:t>
            </a:r>
            <a:r>
              <a:rPr lang="en-US" dirty="0" err="1"/>
              <a:t>trackPos</a:t>
            </a:r>
            <a:r>
              <a:rPr lang="en-US" dirty="0"/>
              <a:t> non distingue "un po' a </a:t>
            </a:r>
            <a:r>
              <a:rPr lang="en-US" dirty="0" err="1"/>
              <a:t>destra</a:t>
            </a:r>
            <a:r>
              <a:rPr lang="en-US" dirty="0"/>
              <a:t>" da "quasi </a:t>
            </a:r>
            <a:r>
              <a:rPr lang="en-US" dirty="0" err="1"/>
              <a:t>fuori</a:t>
            </a:r>
            <a:r>
              <a:rPr lang="en-US" dirty="0"/>
              <a:t> </a:t>
            </a:r>
            <a:r>
              <a:rPr lang="en-US" dirty="0" err="1"/>
              <a:t>pista</a:t>
            </a:r>
            <a:r>
              <a:rPr lang="en-US" dirty="0"/>
              <a:t>"). Troppi bin </a:t>
            </a:r>
            <a:r>
              <a:rPr lang="en-US" dirty="0" err="1"/>
              <a:t>significano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la </a:t>
            </a:r>
            <a:r>
              <a:rPr lang="en-US" dirty="0" err="1"/>
              <a:t>tabella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enorme</a:t>
            </a:r>
            <a:r>
              <a:rPr lang="en-US" dirty="0"/>
              <a:t>, ogni </a:t>
            </a:r>
            <a:r>
              <a:rPr lang="en-US" dirty="0" err="1"/>
              <a:t>combinazione</a:t>
            </a:r>
            <a:r>
              <a:rPr lang="en-US" dirty="0"/>
              <a:t>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visitata</a:t>
            </a:r>
            <a:r>
              <a:rPr lang="en-US" dirty="0"/>
              <a:t> </a:t>
            </a:r>
            <a:r>
              <a:rPr lang="en-US" dirty="0" err="1"/>
              <a:t>raramente</a:t>
            </a:r>
            <a:r>
              <a:rPr lang="en-US" dirty="0"/>
              <a:t>, e la </a:t>
            </a:r>
            <a:r>
              <a:rPr lang="en-US" dirty="0" err="1"/>
              <a:t>convergenza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lentissima</a:t>
            </a:r>
            <a:r>
              <a:rPr lang="en-US" dirty="0"/>
              <a:t>.</a:t>
            </a:r>
          </a:p>
          <a:p>
            <a:r>
              <a:rPr lang="en-US" dirty="0"/>
              <a:t>Una </a:t>
            </a:r>
            <a:r>
              <a:rPr lang="en-US" dirty="0" err="1"/>
              <a:t>configurazione</a:t>
            </a:r>
            <a:r>
              <a:rPr lang="en-US" dirty="0"/>
              <a:t> </a:t>
            </a:r>
            <a:r>
              <a:rPr lang="en-US" dirty="0" err="1"/>
              <a:t>ragionevole</a:t>
            </a:r>
            <a:r>
              <a:rPr lang="en-US" dirty="0"/>
              <a:t> per </a:t>
            </a:r>
            <a:r>
              <a:rPr lang="en-US" dirty="0" err="1"/>
              <a:t>iniziare</a:t>
            </a:r>
            <a:r>
              <a:rPr lang="en-US" dirty="0"/>
              <a:t>:</a:t>
            </a:r>
          </a:p>
          <a:p>
            <a:r>
              <a:rPr lang="en-US" b="1" dirty="0" err="1"/>
              <a:t>trackPos</a:t>
            </a:r>
            <a:r>
              <a:rPr lang="en-US" dirty="0"/>
              <a:t>: 7–9 bin. </a:t>
            </a:r>
            <a:r>
              <a:rPr lang="en-US" dirty="0" err="1"/>
              <a:t>Abbastanza</a:t>
            </a:r>
            <a:r>
              <a:rPr lang="en-US" dirty="0"/>
              <a:t> per </a:t>
            </a:r>
            <a:r>
              <a:rPr lang="en-US" dirty="0" err="1"/>
              <a:t>distinguere</a:t>
            </a:r>
            <a:r>
              <a:rPr lang="en-US" dirty="0"/>
              <a:t>: sinistra/</a:t>
            </a:r>
            <a:r>
              <a:rPr lang="en-US" dirty="0" err="1"/>
              <a:t>centro</a:t>
            </a:r>
            <a:r>
              <a:rPr lang="en-US" dirty="0"/>
              <a:t>-sinistra/</a:t>
            </a:r>
            <a:r>
              <a:rPr lang="en-US" dirty="0" err="1"/>
              <a:t>centro-sx</a:t>
            </a:r>
            <a:r>
              <a:rPr lang="en-US" dirty="0"/>
              <a:t>/</a:t>
            </a:r>
            <a:r>
              <a:rPr lang="en-US" dirty="0" err="1"/>
              <a:t>centro</a:t>
            </a:r>
            <a:r>
              <a:rPr lang="en-US" dirty="0"/>
              <a:t>/</a:t>
            </a:r>
            <a:r>
              <a:rPr lang="en-US" dirty="0" err="1"/>
              <a:t>centro</a:t>
            </a:r>
            <a:r>
              <a:rPr lang="en-US" dirty="0"/>
              <a:t>-dx/</a:t>
            </a:r>
            <a:r>
              <a:rPr lang="en-US" dirty="0" err="1"/>
              <a:t>centro-destra</a:t>
            </a:r>
            <a:r>
              <a:rPr lang="en-US" dirty="0"/>
              <a:t>/</a:t>
            </a:r>
            <a:r>
              <a:rPr lang="en-US" dirty="0" err="1"/>
              <a:t>destra</a:t>
            </a:r>
            <a:r>
              <a:rPr lang="en-US" dirty="0"/>
              <a:t>.</a:t>
            </a:r>
          </a:p>
          <a:p>
            <a:r>
              <a:rPr lang="en-US" b="1" dirty="0"/>
              <a:t>angle</a:t>
            </a:r>
            <a:r>
              <a:rPr lang="en-US" dirty="0"/>
              <a:t>: 5–7 bin. </a:t>
            </a:r>
            <a:r>
              <a:rPr lang="en-US" dirty="0" err="1"/>
              <a:t>L'angolo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da circa −</a:t>
            </a:r>
            <a:r>
              <a:rPr lang="el-GR" dirty="0"/>
              <a:t>π/2 </a:t>
            </a:r>
            <a:r>
              <a:rPr lang="en-US" dirty="0"/>
              <a:t>a +</a:t>
            </a:r>
            <a:r>
              <a:rPr lang="el-GR" dirty="0"/>
              <a:t>π/2 </a:t>
            </a:r>
            <a:r>
              <a:rPr lang="en-US" dirty="0"/>
              <a:t>ma in </a:t>
            </a:r>
            <a:r>
              <a:rPr lang="en-US" dirty="0" err="1"/>
              <a:t>pratica</a:t>
            </a:r>
            <a:r>
              <a:rPr lang="en-US" dirty="0"/>
              <a:t> </a:t>
            </a:r>
            <a:r>
              <a:rPr lang="en-US" dirty="0" err="1"/>
              <a:t>raramente</a:t>
            </a:r>
            <a:r>
              <a:rPr lang="en-US" dirty="0"/>
              <a:t> </a:t>
            </a:r>
            <a:r>
              <a:rPr lang="en-US" dirty="0" err="1"/>
              <a:t>supera</a:t>
            </a:r>
            <a:r>
              <a:rPr lang="en-US" dirty="0"/>
              <a:t> ±0.5 </a:t>
            </a:r>
            <a:r>
              <a:rPr lang="en-US" dirty="0" err="1"/>
              <a:t>radianti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un buon </a:t>
            </a:r>
            <a:r>
              <a:rPr lang="en-US" dirty="0" err="1"/>
              <a:t>tracciato</a:t>
            </a:r>
            <a:r>
              <a:rPr lang="en-US" dirty="0"/>
              <a:t>. 5 bin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sufficienti</a:t>
            </a:r>
            <a:r>
              <a:rPr lang="en-US" dirty="0"/>
              <a:t>.</a:t>
            </a:r>
          </a:p>
          <a:p>
            <a:r>
              <a:rPr lang="en-US" b="1" dirty="0"/>
              <a:t>speed</a:t>
            </a:r>
            <a:r>
              <a:rPr lang="en-US" dirty="0"/>
              <a:t>: 3–5 bin. Lenta (&lt; 30 km/h), media (30–80 km/h), veloce (&gt; 80 km/h).</a:t>
            </a:r>
          </a:p>
          <a:p>
            <a:r>
              <a:rPr lang="en-US" dirty="0"/>
              <a:t>Per le </a:t>
            </a:r>
            <a:r>
              <a:rPr lang="en-US" b="1" dirty="0" err="1"/>
              <a:t>azioni</a:t>
            </a:r>
            <a:r>
              <a:rPr lang="en-US" b="1" dirty="0"/>
              <a:t> di </a:t>
            </a:r>
            <a:r>
              <a:rPr lang="en-US" b="1" dirty="0" err="1"/>
              <a:t>sterzo</a:t>
            </a:r>
            <a:r>
              <a:rPr lang="en-US" dirty="0"/>
              <a:t>, 7 </a:t>
            </a:r>
            <a:r>
              <a:rPr lang="en-US" dirty="0" err="1"/>
              <a:t>valori</a:t>
            </a:r>
            <a:r>
              <a:rPr lang="en-US" dirty="0"/>
              <a:t> </a:t>
            </a:r>
            <a:r>
              <a:rPr lang="en-US" dirty="0" err="1"/>
              <a:t>equidistanti</a:t>
            </a:r>
            <a:r>
              <a:rPr lang="en-US" dirty="0"/>
              <a:t> in [−1, 1] </a:t>
            </a:r>
            <a:r>
              <a:rPr lang="en-US" dirty="0" err="1"/>
              <a:t>sono</a:t>
            </a:r>
            <a:r>
              <a:rPr lang="en-US" dirty="0"/>
              <a:t> un buon punto di </a:t>
            </a:r>
            <a:r>
              <a:rPr lang="en-US" dirty="0" err="1"/>
              <a:t>partenza</a:t>
            </a:r>
            <a:r>
              <a:rPr lang="en-US" dirty="0"/>
              <a:t>. Con </a:t>
            </a:r>
            <a:r>
              <a:rPr lang="en-US" dirty="0" err="1"/>
              <a:t>meno</a:t>
            </a:r>
            <a:r>
              <a:rPr lang="en-US" dirty="0"/>
              <a:t> di 5 </a:t>
            </a:r>
            <a:r>
              <a:rPr lang="en-US" dirty="0" err="1"/>
              <a:t>valori</a:t>
            </a:r>
            <a:r>
              <a:rPr lang="en-US" dirty="0"/>
              <a:t> </a:t>
            </a:r>
            <a:r>
              <a:rPr lang="en-US" dirty="0" err="1"/>
              <a:t>l'agente</a:t>
            </a:r>
            <a:r>
              <a:rPr lang="en-US" dirty="0"/>
              <a:t> non </a:t>
            </a:r>
            <a:r>
              <a:rPr lang="en-US" dirty="0" err="1"/>
              <a:t>riesce</a:t>
            </a:r>
            <a:r>
              <a:rPr lang="en-US" dirty="0"/>
              <a:t> a fare curve precise; con </a:t>
            </a:r>
            <a:r>
              <a:rPr lang="en-US" dirty="0" err="1"/>
              <a:t>più</a:t>
            </a:r>
            <a:r>
              <a:rPr lang="en-US" dirty="0"/>
              <a:t> di 11 lo </a:t>
            </a:r>
            <a:r>
              <a:rPr lang="en-US" dirty="0" err="1"/>
              <a:t>spazio</a:t>
            </a:r>
            <a:r>
              <a:rPr lang="en-US" dirty="0"/>
              <a:t> delle </a:t>
            </a:r>
            <a:r>
              <a:rPr lang="en-US" dirty="0" err="1"/>
              <a:t>azioni</a:t>
            </a:r>
            <a:r>
              <a:rPr lang="en-US" dirty="0"/>
              <a:t> </a:t>
            </a:r>
            <a:r>
              <a:rPr lang="en-US" dirty="0" err="1"/>
              <a:t>diventa</a:t>
            </a:r>
            <a:r>
              <a:rPr lang="en-US" dirty="0"/>
              <a:t> </a:t>
            </a:r>
            <a:r>
              <a:rPr lang="en-US" dirty="0" err="1"/>
              <a:t>troppo</a:t>
            </a:r>
            <a:r>
              <a:rPr lang="en-US" dirty="0"/>
              <a:t> grande per </a:t>
            </a:r>
            <a:r>
              <a:rPr lang="en-US" dirty="0" err="1"/>
              <a:t>convergere</a:t>
            </a:r>
            <a:r>
              <a:rPr lang="en-US" dirty="0"/>
              <a:t> </a:t>
            </a:r>
            <a:r>
              <a:rPr lang="en-US" dirty="0" err="1"/>
              <a:t>rapidamente</a:t>
            </a:r>
            <a:r>
              <a:rPr lang="en-US" dirty="0"/>
              <a:t>.</a:t>
            </a:r>
          </a:p>
          <a:p>
            <a:r>
              <a:rPr lang="en-US" b="1" dirty="0"/>
              <a:t>Una </a:t>
            </a:r>
            <a:r>
              <a:rPr lang="en-US" b="1" dirty="0" err="1"/>
              <a:t>tecnica</a:t>
            </a:r>
            <a:r>
              <a:rPr lang="en-US" b="1" dirty="0"/>
              <a:t> utile: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valori</a:t>
            </a:r>
            <a:r>
              <a:rPr lang="en-US" b="1" dirty="0"/>
              <a:t> </a:t>
            </a:r>
            <a:r>
              <a:rPr lang="en-US" b="1" dirty="0" err="1"/>
              <a:t>ottimistici</a:t>
            </a:r>
            <a:r>
              <a:rPr lang="en-US" b="1" dirty="0"/>
              <a:t> </a:t>
            </a:r>
            <a:r>
              <a:rPr lang="en-US" b="1" dirty="0" err="1"/>
              <a:t>iniziali</a:t>
            </a:r>
            <a:r>
              <a:rPr lang="en-US" b="1" dirty="0"/>
              <a:t>.</a:t>
            </a:r>
            <a:r>
              <a:rPr lang="en-US" dirty="0"/>
              <a:t> </a:t>
            </a:r>
            <a:r>
              <a:rPr lang="en-US" dirty="0" err="1"/>
              <a:t>Invece</a:t>
            </a:r>
            <a:r>
              <a:rPr lang="en-US" dirty="0"/>
              <a:t> di </a:t>
            </a:r>
            <a:r>
              <a:rPr lang="en-US" dirty="0" err="1"/>
              <a:t>inizializzare</a:t>
            </a:r>
            <a:r>
              <a:rPr lang="en-US" dirty="0"/>
              <a:t> tutte le </a:t>
            </a:r>
            <a:r>
              <a:rPr lang="en-US" dirty="0" err="1"/>
              <a:t>celle</a:t>
            </a:r>
            <a:r>
              <a:rPr lang="en-US" dirty="0"/>
              <a:t> della Q-table a 0, </a:t>
            </a:r>
            <a:r>
              <a:rPr lang="en-US" dirty="0" err="1"/>
              <a:t>inizializzatele</a:t>
            </a:r>
            <a:r>
              <a:rPr lang="en-US" dirty="0"/>
              <a:t> a un </a:t>
            </a:r>
            <a:r>
              <a:rPr lang="en-US" dirty="0" err="1"/>
              <a:t>valore</a:t>
            </a:r>
            <a:r>
              <a:rPr lang="en-US" dirty="0"/>
              <a:t> </a:t>
            </a:r>
            <a:r>
              <a:rPr lang="en-US" dirty="0" err="1"/>
              <a:t>positivo</a:t>
            </a:r>
            <a:r>
              <a:rPr lang="en-US" dirty="0"/>
              <a:t> (es. +1 o +5). Questo fa </a:t>
            </a:r>
            <a:r>
              <a:rPr lang="en-US" dirty="0" err="1"/>
              <a:t>sì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ogni </a:t>
            </a:r>
            <a:r>
              <a:rPr lang="en-US" dirty="0" err="1"/>
              <a:t>stato</a:t>
            </a:r>
            <a:r>
              <a:rPr lang="en-US" dirty="0"/>
              <a:t> non </a:t>
            </a:r>
            <a:r>
              <a:rPr lang="en-US" dirty="0" err="1"/>
              <a:t>ancora</a:t>
            </a:r>
            <a:r>
              <a:rPr lang="en-US" dirty="0"/>
              <a:t> </a:t>
            </a:r>
            <a:r>
              <a:rPr lang="en-US" dirty="0" err="1"/>
              <a:t>visitato</a:t>
            </a:r>
            <a:r>
              <a:rPr lang="en-US" dirty="0"/>
              <a:t> </a:t>
            </a:r>
            <a:r>
              <a:rPr lang="en-US" dirty="0" err="1"/>
              <a:t>sembri</a:t>
            </a:r>
            <a:r>
              <a:rPr lang="en-US" dirty="0"/>
              <a:t> molto </a:t>
            </a:r>
            <a:r>
              <a:rPr lang="en-US" dirty="0" err="1"/>
              <a:t>promettente</a:t>
            </a:r>
            <a:r>
              <a:rPr lang="en-US" dirty="0"/>
              <a:t>, e </a:t>
            </a:r>
            <a:r>
              <a:rPr lang="en-US" dirty="0" err="1"/>
              <a:t>quindi</a:t>
            </a:r>
            <a:r>
              <a:rPr lang="en-US" dirty="0"/>
              <a:t> </a:t>
            </a:r>
            <a:r>
              <a:rPr lang="en-US" dirty="0" err="1"/>
              <a:t>l'agente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spinto a </a:t>
            </a:r>
            <a:r>
              <a:rPr lang="en-US" dirty="0" err="1"/>
              <a:t>esplorarlo</a:t>
            </a:r>
            <a:r>
              <a:rPr lang="en-US" dirty="0"/>
              <a:t> </a:t>
            </a:r>
            <a:r>
              <a:rPr lang="en-US" dirty="0" err="1"/>
              <a:t>almeno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volta. </a:t>
            </a:r>
            <a:r>
              <a:rPr lang="en-US" dirty="0" err="1"/>
              <a:t>Questo</a:t>
            </a:r>
            <a:r>
              <a:rPr lang="en-US" dirty="0"/>
              <a:t> </a:t>
            </a:r>
            <a:r>
              <a:rPr lang="en-US" dirty="0" err="1"/>
              <a:t>risolve</a:t>
            </a:r>
            <a:r>
              <a:rPr lang="en-US" dirty="0"/>
              <a:t> </a:t>
            </a:r>
            <a:r>
              <a:rPr lang="en-US" dirty="0" err="1"/>
              <a:t>parzialmente</a:t>
            </a:r>
            <a:r>
              <a:rPr lang="en-US" dirty="0"/>
              <a:t> il </a:t>
            </a:r>
            <a:r>
              <a:rPr lang="en-US" dirty="0" err="1"/>
              <a:t>problema</a:t>
            </a:r>
            <a:r>
              <a:rPr lang="en-US" dirty="0"/>
              <a:t> </a:t>
            </a:r>
            <a:r>
              <a:rPr lang="en-US" dirty="0" err="1"/>
              <a:t>dell'esplorazione</a:t>
            </a:r>
            <a:r>
              <a:rPr lang="en-US" dirty="0"/>
              <a:t> senza </a:t>
            </a:r>
            <a:r>
              <a:rPr lang="en-US" dirty="0" err="1"/>
              <a:t>bisogno</a:t>
            </a:r>
            <a:r>
              <a:rPr lang="en-US" dirty="0"/>
              <a:t> di </a:t>
            </a:r>
            <a:r>
              <a:rPr lang="el-GR" dirty="0"/>
              <a:t>ε </a:t>
            </a:r>
            <a:r>
              <a:rPr lang="en-US" dirty="0"/>
              <a:t>molto alti.</a:t>
            </a:r>
          </a:p>
          <a:p>
            <a:r>
              <a:rPr lang="en-US" b="1" dirty="0"/>
              <a:t>La </a:t>
            </a:r>
            <a:r>
              <a:rPr lang="en-US" b="1" dirty="0" err="1"/>
              <a:t>funzione</a:t>
            </a:r>
            <a:r>
              <a:rPr lang="en-US" b="1" dirty="0"/>
              <a:t> di </a:t>
            </a:r>
            <a:r>
              <a:rPr lang="en-US" b="1" dirty="0" err="1"/>
              <a:t>discretizzazione</a:t>
            </a:r>
            <a:r>
              <a:rPr lang="en-US" dirty="0"/>
              <a:t> </a:t>
            </a:r>
            <a:r>
              <a:rPr lang="en-US" dirty="0" err="1"/>
              <a:t>usa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np.digitize</a:t>
            </a:r>
            <a:r>
              <a:rPr lang="en-US" dirty="0"/>
              <a:t> di NumPy: </a:t>
            </a:r>
            <a:r>
              <a:rPr lang="en-US" dirty="0" err="1"/>
              <a:t>prende</a:t>
            </a:r>
            <a:r>
              <a:rPr lang="en-US" dirty="0"/>
              <a:t> un </a:t>
            </a:r>
            <a:r>
              <a:rPr lang="en-US" dirty="0" err="1"/>
              <a:t>valore</a:t>
            </a:r>
            <a:r>
              <a:rPr lang="en-US" dirty="0"/>
              <a:t> continuo e lo </a:t>
            </a:r>
            <a:r>
              <a:rPr lang="en-US" dirty="0" err="1"/>
              <a:t>mappa</a:t>
            </a:r>
            <a:r>
              <a:rPr lang="en-US" dirty="0"/>
              <a:t> </a:t>
            </a:r>
            <a:r>
              <a:rPr lang="en-US" dirty="0" err="1"/>
              <a:t>nell'indice</a:t>
            </a:r>
            <a:r>
              <a:rPr lang="en-US" dirty="0"/>
              <a:t> del bin </a:t>
            </a:r>
            <a:r>
              <a:rPr lang="en-US" dirty="0" err="1"/>
              <a:t>corrispondente</a:t>
            </a:r>
            <a:r>
              <a:rPr lang="en-US" dirty="0"/>
              <a:t>.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operazione</a:t>
            </a:r>
            <a:r>
              <a:rPr lang="en-US" dirty="0"/>
              <a:t> </a:t>
            </a:r>
            <a:r>
              <a:rPr lang="en-US" dirty="0" err="1"/>
              <a:t>fondamentale</a:t>
            </a:r>
            <a:r>
              <a:rPr lang="en-US" dirty="0"/>
              <a:t> da </a:t>
            </a:r>
            <a:r>
              <a:rPr lang="en-US" dirty="0" err="1"/>
              <a:t>capire</a:t>
            </a:r>
            <a:r>
              <a:rPr lang="en-US" dirty="0"/>
              <a:t> bene </a:t>
            </a:r>
            <a:r>
              <a:rPr lang="en-US" dirty="0" err="1"/>
              <a:t>perché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il </a:t>
            </a:r>
            <a:r>
              <a:rPr lang="en-US" dirty="0" err="1"/>
              <a:t>collegamento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il mondo continuo di TORCS e il mondo </a:t>
            </a:r>
            <a:r>
              <a:rPr lang="en-US" dirty="0" err="1"/>
              <a:t>discreto</a:t>
            </a:r>
            <a:r>
              <a:rPr lang="en-US" dirty="0"/>
              <a:t> della Q-table.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slide </a:t>
            </a:r>
            <a:r>
              <a:rPr lang="en-US" dirty="0" err="1"/>
              <a:t>mostra</a:t>
            </a:r>
            <a:r>
              <a:rPr lang="en-US" dirty="0"/>
              <a:t> lo </a:t>
            </a:r>
            <a:r>
              <a:rPr lang="en-US" dirty="0" err="1"/>
              <a:t>scheletro</a:t>
            </a:r>
            <a:r>
              <a:rPr lang="en-US" dirty="0"/>
              <a:t> del </a:t>
            </a:r>
            <a:r>
              <a:rPr lang="en-US" dirty="0" err="1"/>
              <a:t>codice</a:t>
            </a:r>
            <a:r>
              <a:rPr lang="en-US" dirty="0"/>
              <a:t>. </a:t>
            </a:r>
            <a:r>
              <a:rPr lang="en-US" dirty="0" err="1"/>
              <a:t>Analizziamo</a:t>
            </a:r>
            <a:r>
              <a:rPr lang="en-US" dirty="0"/>
              <a:t> ogni </a:t>
            </a:r>
            <a:r>
              <a:rPr lang="en-US" dirty="0" err="1"/>
              <a:t>parte</a:t>
            </a:r>
            <a:r>
              <a:rPr lang="en-US" dirty="0"/>
              <a:t>.</a:t>
            </a:r>
          </a:p>
          <a:p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STEER_BINS =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np.linspace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(-1, 1, 7)</a:t>
            </a:r>
            <a:r>
              <a:rPr lang="en-US" dirty="0"/>
              <a:t> — </a:t>
            </a:r>
            <a:r>
              <a:rPr lang="en-US" dirty="0" err="1"/>
              <a:t>crea</a:t>
            </a:r>
            <a:r>
              <a:rPr lang="en-US" dirty="0"/>
              <a:t> 7 </a:t>
            </a:r>
            <a:r>
              <a:rPr lang="en-US" dirty="0" err="1"/>
              <a:t>valori</a:t>
            </a:r>
            <a:r>
              <a:rPr lang="en-US" dirty="0"/>
              <a:t> </a:t>
            </a:r>
            <a:r>
              <a:rPr lang="en-US" dirty="0" err="1"/>
              <a:t>equidistanti</a:t>
            </a:r>
            <a:r>
              <a:rPr lang="en-US" dirty="0"/>
              <a:t> da −1 a +1: [−1, −0.667, −0.333, 0, 0.333, 0.667, 1]. </a:t>
            </a:r>
            <a:r>
              <a:rPr lang="en-US" dirty="0" err="1"/>
              <a:t>Questi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valori</a:t>
            </a:r>
            <a:r>
              <a:rPr lang="en-US" dirty="0"/>
              <a:t> di </a:t>
            </a:r>
            <a:r>
              <a:rPr lang="en-US" dirty="0" err="1"/>
              <a:t>sterzo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l'agente</a:t>
            </a:r>
            <a:r>
              <a:rPr lang="en-US" dirty="0"/>
              <a:t> </a:t>
            </a:r>
            <a:r>
              <a:rPr lang="en-US" dirty="0" err="1"/>
              <a:t>può</a:t>
            </a:r>
            <a:r>
              <a:rPr lang="en-US" dirty="0"/>
              <a:t> </a:t>
            </a:r>
            <a:r>
              <a:rPr lang="en-US" dirty="0" err="1"/>
              <a:t>scegliere</a:t>
            </a:r>
            <a:r>
              <a:rPr lang="en-US" dirty="0"/>
              <a:t>.</a:t>
            </a:r>
          </a:p>
          <a:p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TRACK_BINS =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np.linspace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(-1, 1, 9)</a:t>
            </a:r>
            <a:r>
              <a:rPr lang="en-US" dirty="0"/>
              <a:t> — 9 </a:t>
            </a:r>
            <a:r>
              <a:rPr lang="en-US" dirty="0" err="1"/>
              <a:t>soglie</a:t>
            </a:r>
            <a:r>
              <a:rPr lang="en-US" dirty="0"/>
              <a:t> per </a:t>
            </a:r>
            <a:r>
              <a:rPr lang="en-US" dirty="0" err="1"/>
              <a:t>dividere</a:t>
            </a:r>
            <a:r>
              <a:rPr lang="en-US" dirty="0"/>
              <a:t> </a:t>
            </a:r>
            <a:r>
              <a:rPr lang="en-US" dirty="0" err="1"/>
              <a:t>trackPos</a:t>
            </a:r>
            <a:r>
              <a:rPr lang="en-US" dirty="0"/>
              <a:t> in 9 bin. </a:t>
            </a:r>
            <a:r>
              <a:rPr lang="en-US" dirty="0" err="1"/>
              <a:t>Attenzione</a:t>
            </a:r>
            <a:r>
              <a:rPr lang="en-US" dirty="0"/>
              <a:t>: con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np.digitize</a:t>
            </a:r>
            <a:r>
              <a:rPr lang="en-US" dirty="0"/>
              <a:t>, con 9 </a:t>
            </a:r>
            <a:r>
              <a:rPr lang="en-US" dirty="0" err="1"/>
              <a:t>soglie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ottengono</a:t>
            </a:r>
            <a:r>
              <a:rPr lang="en-US" dirty="0"/>
              <a:t> 10 bin (0 = sotto la prima </a:t>
            </a:r>
            <a:r>
              <a:rPr lang="en-US" dirty="0" err="1"/>
              <a:t>soglia</a:t>
            </a:r>
            <a:r>
              <a:rPr lang="en-US" dirty="0"/>
              <a:t>, 9 = sopra </a:t>
            </a:r>
            <a:r>
              <a:rPr lang="en-US" dirty="0" err="1"/>
              <a:t>l'ultima</a:t>
            </a:r>
            <a:r>
              <a:rPr lang="en-US" dirty="0"/>
              <a:t>). Per </a:t>
            </a:r>
            <a:r>
              <a:rPr lang="en-US" dirty="0" err="1"/>
              <a:t>avere</a:t>
            </a:r>
            <a:r>
              <a:rPr lang="en-US" dirty="0"/>
              <a:t> </a:t>
            </a:r>
            <a:r>
              <a:rPr lang="en-US" dirty="0" err="1"/>
              <a:t>esattamente</a:t>
            </a:r>
            <a:r>
              <a:rPr lang="en-US" dirty="0"/>
              <a:t> 9 bin </a:t>
            </a:r>
            <a:r>
              <a:rPr lang="en-US" dirty="0" err="1"/>
              <a:t>bisogna</a:t>
            </a:r>
            <a:r>
              <a:rPr lang="en-US" dirty="0"/>
              <a:t> </a:t>
            </a:r>
            <a:r>
              <a:rPr lang="en-US" dirty="0" err="1"/>
              <a:t>usare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np.clip</a:t>
            </a:r>
            <a:r>
              <a:rPr lang="en-US" dirty="0"/>
              <a:t> per </a:t>
            </a:r>
            <a:r>
              <a:rPr lang="en-US" dirty="0" err="1"/>
              <a:t>gestire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bordi</a:t>
            </a:r>
            <a:r>
              <a:rPr lang="en-US" dirty="0"/>
              <a:t>.</a:t>
            </a:r>
          </a:p>
          <a:p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 =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np.zeros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((9, 7, 7))</a:t>
            </a:r>
            <a:r>
              <a:rPr lang="en-US" dirty="0"/>
              <a:t> — la Q-table </a:t>
            </a:r>
            <a:r>
              <a:rPr lang="en-US" dirty="0" err="1"/>
              <a:t>tridimensionale</a:t>
            </a:r>
            <a:r>
              <a:rPr lang="en-US" dirty="0"/>
              <a:t>: 9 bin di </a:t>
            </a:r>
            <a:r>
              <a:rPr lang="en-US" dirty="0" err="1"/>
              <a:t>trackPos</a:t>
            </a:r>
            <a:r>
              <a:rPr lang="en-US" dirty="0"/>
              <a:t> × 7 bin di angle × 7 </a:t>
            </a:r>
            <a:r>
              <a:rPr lang="en-US" dirty="0" err="1"/>
              <a:t>azioni</a:t>
            </a:r>
            <a:r>
              <a:rPr lang="en-US" dirty="0"/>
              <a:t> di </a:t>
            </a:r>
            <a:r>
              <a:rPr lang="en-US" dirty="0" err="1"/>
              <a:t>sterzo</a:t>
            </a:r>
            <a:r>
              <a:rPr lang="en-US" dirty="0"/>
              <a:t>.</a:t>
            </a:r>
          </a:p>
          <a:p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def discretize(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obs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en-US" dirty="0"/>
              <a:t> — </a:t>
            </a:r>
            <a:r>
              <a:rPr lang="en-US" dirty="0" err="1"/>
              <a:t>prende</a:t>
            </a:r>
            <a:r>
              <a:rPr lang="en-US" dirty="0"/>
              <a:t> </a:t>
            </a:r>
            <a:r>
              <a:rPr lang="en-US" dirty="0" err="1"/>
              <a:t>l'osservazione</a:t>
            </a:r>
            <a:r>
              <a:rPr lang="en-US" dirty="0"/>
              <a:t> </a:t>
            </a:r>
            <a:r>
              <a:rPr lang="en-US" dirty="0" err="1"/>
              <a:t>grezza</a:t>
            </a:r>
            <a:r>
              <a:rPr lang="en-US" dirty="0"/>
              <a:t> (</a:t>
            </a:r>
            <a:r>
              <a:rPr lang="en-US" dirty="0" err="1"/>
              <a:t>dizionario</a:t>
            </a:r>
            <a:r>
              <a:rPr lang="en-US" dirty="0"/>
              <a:t> con '</a:t>
            </a:r>
            <a:r>
              <a:rPr lang="en-US" dirty="0" err="1"/>
              <a:t>trackPos</a:t>
            </a:r>
            <a:r>
              <a:rPr lang="en-US" dirty="0"/>
              <a:t>', 'angle', </a:t>
            </a:r>
            <a:r>
              <a:rPr lang="en-US" dirty="0" err="1"/>
              <a:t>ecc</a:t>
            </a:r>
            <a:r>
              <a:rPr lang="en-US" dirty="0"/>
              <a:t>.) e </a:t>
            </a:r>
            <a:r>
              <a:rPr lang="en-US" dirty="0" err="1"/>
              <a:t>restituisce</a:t>
            </a:r>
            <a:r>
              <a:rPr lang="en-US" dirty="0"/>
              <a:t> </a:t>
            </a:r>
            <a:r>
              <a:rPr lang="en-US" dirty="0" err="1"/>
              <a:t>gli</a:t>
            </a:r>
            <a:r>
              <a:rPr lang="en-US" dirty="0"/>
              <a:t> </a:t>
            </a:r>
            <a:r>
              <a:rPr lang="en-US" dirty="0" err="1"/>
              <a:t>indici</a:t>
            </a:r>
            <a:r>
              <a:rPr lang="en-US" dirty="0"/>
              <a:t> </a:t>
            </a:r>
            <a:r>
              <a:rPr lang="en-US" dirty="0" err="1"/>
              <a:t>discreti</a:t>
            </a:r>
            <a:r>
              <a:rPr lang="en-US" dirty="0"/>
              <a:t>.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np.digitize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['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trackPos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'], TRACK_BINS) - 1</a:t>
            </a:r>
            <a:r>
              <a:rPr lang="en-US" dirty="0"/>
              <a:t> </a:t>
            </a:r>
            <a:r>
              <a:rPr lang="en-US" dirty="0" err="1"/>
              <a:t>mappa</a:t>
            </a:r>
            <a:r>
              <a:rPr lang="en-US" dirty="0"/>
              <a:t> il </a:t>
            </a:r>
            <a:r>
              <a:rPr lang="en-US" dirty="0" err="1"/>
              <a:t>valore</a:t>
            </a:r>
            <a:r>
              <a:rPr lang="en-US" dirty="0"/>
              <a:t> continuo </a:t>
            </a:r>
            <a:r>
              <a:rPr lang="en-US" dirty="0" err="1"/>
              <a:t>nell'indice</a:t>
            </a:r>
            <a:r>
              <a:rPr lang="en-US" dirty="0"/>
              <a:t> del bin; il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-1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per </a:t>
            </a:r>
            <a:r>
              <a:rPr lang="en-US" dirty="0" err="1"/>
              <a:t>avere</a:t>
            </a:r>
            <a:r>
              <a:rPr lang="en-US" dirty="0"/>
              <a:t> </a:t>
            </a:r>
            <a:r>
              <a:rPr lang="en-US" dirty="0" err="1"/>
              <a:t>indici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partono</a:t>
            </a:r>
            <a:r>
              <a:rPr lang="en-US" dirty="0"/>
              <a:t> da 0.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np.clip</a:t>
            </a:r>
            <a:r>
              <a:rPr lang="en-US" dirty="0"/>
              <a:t> </a:t>
            </a:r>
            <a:r>
              <a:rPr lang="en-US" dirty="0" err="1"/>
              <a:t>garantisce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l'indice</a:t>
            </a:r>
            <a:r>
              <a:rPr lang="en-US" dirty="0"/>
              <a:t> non esca </a:t>
            </a:r>
            <a:r>
              <a:rPr lang="en-US" dirty="0" err="1"/>
              <a:t>dall'intervallo</a:t>
            </a:r>
            <a:r>
              <a:rPr lang="en-US" dirty="0"/>
              <a:t> </a:t>
            </a:r>
            <a:r>
              <a:rPr lang="en-US" dirty="0" err="1"/>
              <a:t>valido</a:t>
            </a:r>
            <a:r>
              <a:rPr lang="en-US" dirty="0"/>
              <a:t> </a:t>
            </a:r>
            <a:r>
              <a:rPr lang="en-US" dirty="0" err="1"/>
              <a:t>anche</a:t>
            </a:r>
            <a:r>
              <a:rPr lang="en-US" dirty="0"/>
              <a:t> in </a:t>
            </a:r>
            <a:r>
              <a:rPr lang="en-US" dirty="0" err="1"/>
              <a:t>casi</a:t>
            </a:r>
            <a:r>
              <a:rPr lang="en-US" dirty="0"/>
              <a:t> </a:t>
            </a:r>
            <a:r>
              <a:rPr lang="en-US" dirty="0" err="1"/>
              <a:t>limite</a:t>
            </a:r>
            <a:r>
              <a:rPr lang="en-US" dirty="0"/>
              <a:t>.</a:t>
            </a:r>
          </a:p>
          <a:p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def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choose_action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(state, epsilon)</a:t>
            </a:r>
            <a:r>
              <a:rPr lang="en-US" dirty="0"/>
              <a:t> — la policy </a:t>
            </a:r>
            <a:r>
              <a:rPr lang="el-GR" dirty="0"/>
              <a:t>ε-</a:t>
            </a:r>
            <a:r>
              <a:rPr lang="en-US" dirty="0"/>
              <a:t>greedy.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np.random.rand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&lt; epsilon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true con </a:t>
            </a:r>
            <a:r>
              <a:rPr lang="en-US" dirty="0" err="1"/>
              <a:t>probabilità</a:t>
            </a:r>
            <a:r>
              <a:rPr lang="en-US" dirty="0"/>
              <a:t> </a:t>
            </a:r>
            <a:r>
              <a:rPr lang="el-GR" dirty="0"/>
              <a:t>ε → </a:t>
            </a:r>
            <a:r>
              <a:rPr lang="en-US" dirty="0" err="1"/>
              <a:t>esplora</a:t>
            </a:r>
            <a:r>
              <a:rPr lang="en-US" dirty="0"/>
              <a:t> (azione </a:t>
            </a:r>
            <a:r>
              <a:rPr lang="en-US" dirty="0" err="1"/>
              <a:t>casuale</a:t>
            </a:r>
            <a:r>
              <a:rPr lang="en-US" dirty="0"/>
              <a:t>). </a:t>
            </a:r>
            <a:r>
              <a:rPr lang="en-US" dirty="0" err="1"/>
              <a:t>Altrimenti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np.argmax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(Q[state])</a:t>
            </a:r>
            <a:r>
              <a:rPr lang="en-US" dirty="0"/>
              <a:t> </a:t>
            </a:r>
            <a:r>
              <a:rPr lang="en-US" dirty="0" err="1"/>
              <a:t>restituisce</a:t>
            </a:r>
            <a:r>
              <a:rPr lang="en-US" dirty="0"/>
              <a:t> </a:t>
            </a:r>
            <a:r>
              <a:rPr lang="en-US" dirty="0" err="1"/>
              <a:t>l'indice</a:t>
            </a:r>
            <a:r>
              <a:rPr lang="en-US" dirty="0"/>
              <a:t> </a:t>
            </a:r>
            <a:r>
              <a:rPr lang="en-US" dirty="0" err="1"/>
              <a:t>dell'azione</a:t>
            </a:r>
            <a:r>
              <a:rPr lang="en-US" dirty="0"/>
              <a:t> con il Q </a:t>
            </a:r>
            <a:r>
              <a:rPr lang="en-US" dirty="0" err="1"/>
              <a:t>valore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alto </a:t>
            </a:r>
            <a:r>
              <a:rPr lang="en-US" dirty="0" err="1"/>
              <a:t>nello</a:t>
            </a:r>
            <a:r>
              <a:rPr lang="en-US" dirty="0"/>
              <a:t> </a:t>
            </a:r>
            <a:r>
              <a:rPr lang="en-US" dirty="0" err="1"/>
              <a:t>stato</a:t>
            </a:r>
            <a:r>
              <a:rPr lang="en-US" dirty="0"/>
              <a:t> </a:t>
            </a:r>
            <a:r>
              <a:rPr lang="en-US" dirty="0" err="1"/>
              <a:t>corrente</a:t>
            </a:r>
            <a:r>
              <a:rPr lang="en-US" dirty="0"/>
              <a:t>. </a:t>
            </a:r>
            <a:r>
              <a:rPr lang="en-US" dirty="0" err="1"/>
              <a:t>L'indice</a:t>
            </a:r>
            <a:r>
              <a:rPr lang="en-US" dirty="0"/>
              <a:t> </a:t>
            </a:r>
            <a:r>
              <a:rPr lang="en-US" dirty="0" err="1"/>
              <a:t>viene</a:t>
            </a:r>
            <a:r>
              <a:rPr lang="en-US" dirty="0"/>
              <a:t> poi </a:t>
            </a:r>
            <a:r>
              <a:rPr lang="en-US" dirty="0" err="1"/>
              <a:t>convertito</a:t>
            </a:r>
            <a:r>
              <a:rPr lang="en-US" dirty="0"/>
              <a:t> in </a:t>
            </a:r>
            <a:r>
              <a:rPr lang="en-US" dirty="0" err="1"/>
              <a:t>valore</a:t>
            </a:r>
            <a:r>
              <a:rPr lang="en-US" dirty="0"/>
              <a:t> </a:t>
            </a:r>
            <a:r>
              <a:rPr lang="en-US" dirty="0" err="1"/>
              <a:t>reale</a:t>
            </a:r>
            <a:r>
              <a:rPr lang="en-US" dirty="0"/>
              <a:t> di </a:t>
            </a:r>
            <a:r>
              <a:rPr lang="en-US" dirty="0" err="1"/>
              <a:t>sterzo</a:t>
            </a:r>
            <a:r>
              <a:rPr lang="en-US" dirty="0"/>
              <a:t> </a:t>
            </a:r>
            <a:r>
              <a:rPr lang="en-US" dirty="0" err="1"/>
              <a:t>tramite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STEER_BINS[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</a:t>
            </a:r>
            <a:r>
              <a:rPr lang="en-US" dirty="0"/>
              <a:t>.</a:t>
            </a:r>
          </a:p>
          <a:p>
            <a:r>
              <a:rPr lang="en-US" dirty="0"/>
              <a:t>Nel training loop (non </a:t>
            </a:r>
            <a:r>
              <a:rPr lang="en-US" dirty="0" err="1"/>
              <a:t>mostrato</a:t>
            </a:r>
            <a:r>
              <a:rPr lang="en-US" dirty="0"/>
              <a:t> </a:t>
            </a:r>
            <a:r>
              <a:rPr lang="en-US" dirty="0" err="1"/>
              <a:t>nella</a:t>
            </a:r>
            <a:r>
              <a:rPr lang="en-US" dirty="0"/>
              <a:t> slide), il Q-update </a:t>
            </a:r>
            <a:r>
              <a:rPr lang="en-US" dirty="0" err="1"/>
              <a:t>è</a:t>
            </a:r>
            <a:r>
              <a:rPr lang="en-US" dirty="0"/>
              <a:t>:</a:t>
            </a:r>
          </a:p>
          <a:p>
            <a:r>
              <a:rPr lang="en-US" dirty="0"/>
              <a:t>python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target = reward + gamma *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np.max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(Q[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state_new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Q[state][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action_idx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+= alpha * (target - Q[state][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action_idx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])</a:t>
            </a:r>
          </a:p>
          <a:p>
            <a:r>
              <a:rPr lang="en-US" dirty="0"/>
              <a:t>Se </a:t>
            </a:r>
            <a:r>
              <a:rPr lang="en-US" dirty="0" err="1"/>
              <a:t>l'episodio</a:t>
            </a:r>
            <a:r>
              <a:rPr lang="en-US" dirty="0"/>
              <a:t> termina (done=True), il target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semplicemente</a:t>
            </a:r>
            <a:r>
              <a:rPr lang="en-US" dirty="0"/>
              <a:t> il reward finale senza il </a:t>
            </a:r>
            <a:r>
              <a:rPr lang="en-US" dirty="0" err="1"/>
              <a:t>termine</a:t>
            </a:r>
            <a:r>
              <a:rPr lang="en-US" dirty="0"/>
              <a:t> </a:t>
            </a:r>
            <a:r>
              <a:rPr lang="en-US" dirty="0" err="1"/>
              <a:t>futuro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Passiamo agli algoritmi moderni che usano reti neurali al posto della Q-table.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</a:t>
            </a:r>
            <a:r>
              <a:rPr lang="en-US" dirty="0" err="1"/>
              <a:t>limiti</a:t>
            </a:r>
            <a:r>
              <a:rPr lang="en-US" dirty="0"/>
              <a:t> del Q-Learning </a:t>
            </a:r>
            <a:r>
              <a:rPr lang="en-US" dirty="0" err="1"/>
              <a:t>tabellare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tre</a:t>
            </a:r>
            <a:r>
              <a:rPr lang="en-US" dirty="0"/>
              <a:t>:</a:t>
            </a:r>
          </a:p>
          <a:p>
            <a:r>
              <a:rPr lang="en-US" b="1" dirty="0"/>
              <a:t>1. </a:t>
            </a:r>
            <a:r>
              <a:rPr lang="en-US" b="1" dirty="0" err="1"/>
              <a:t>Scalabilità</a:t>
            </a:r>
            <a:r>
              <a:rPr lang="en-US" b="1" dirty="0"/>
              <a:t>.</a:t>
            </a:r>
            <a:r>
              <a:rPr lang="en-US" dirty="0"/>
              <a:t> Come </a:t>
            </a:r>
            <a:r>
              <a:rPr lang="en-US" dirty="0" err="1"/>
              <a:t>abbiamo</a:t>
            </a:r>
            <a:r>
              <a:rPr lang="en-US" dirty="0"/>
              <a:t> visto, la </a:t>
            </a:r>
            <a:r>
              <a:rPr lang="en-US" dirty="0" err="1"/>
              <a:t>tabella</a:t>
            </a:r>
            <a:r>
              <a:rPr lang="en-US" dirty="0"/>
              <a:t> </a:t>
            </a:r>
            <a:r>
              <a:rPr lang="en-US" dirty="0" err="1"/>
              <a:t>esplode</a:t>
            </a:r>
            <a:r>
              <a:rPr lang="en-US" dirty="0"/>
              <a:t> con </a:t>
            </a:r>
            <a:r>
              <a:rPr lang="en-US" dirty="0" err="1"/>
              <a:t>molte</a:t>
            </a:r>
            <a:r>
              <a:rPr lang="en-US" dirty="0"/>
              <a:t> </a:t>
            </a:r>
            <a:r>
              <a:rPr lang="en-US" dirty="0" err="1"/>
              <a:t>variabili</a:t>
            </a:r>
            <a:r>
              <a:rPr lang="en-US" dirty="0"/>
              <a:t> di </a:t>
            </a:r>
            <a:r>
              <a:rPr lang="en-US" dirty="0" err="1"/>
              <a:t>stato</a:t>
            </a:r>
            <a:r>
              <a:rPr lang="en-US" dirty="0"/>
              <a:t>. Con </a:t>
            </a:r>
            <a:r>
              <a:rPr lang="en-US" dirty="0" err="1"/>
              <a:t>i</a:t>
            </a:r>
            <a:r>
              <a:rPr lang="en-US" dirty="0"/>
              <a:t> 19 </a:t>
            </a:r>
            <a:r>
              <a:rPr lang="en-US" dirty="0" err="1"/>
              <a:t>raggi</a:t>
            </a:r>
            <a:r>
              <a:rPr lang="en-US" dirty="0"/>
              <a:t> track </a:t>
            </a:r>
            <a:r>
              <a:rPr lang="en-US" dirty="0" err="1"/>
              <a:t>completi</a:t>
            </a:r>
            <a:r>
              <a:rPr lang="en-US" dirty="0"/>
              <a:t> + </a:t>
            </a:r>
            <a:r>
              <a:rPr lang="en-US" dirty="0" err="1"/>
              <a:t>velocità</a:t>
            </a:r>
            <a:r>
              <a:rPr lang="en-US" dirty="0"/>
              <a:t> + angle + </a:t>
            </a:r>
            <a:r>
              <a:rPr lang="en-US" dirty="0" err="1"/>
              <a:t>trackPos</a:t>
            </a:r>
            <a:r>
              <a:rPr lang="en-US" dirty="0"/>
              <a:t>, </a:t>
            </a:r>
            <a:r>
              <a:rPr lang="en-US" dirty="0" err="1"/>
              <a:t>siamo</a:t>
            </a:r>
            <a:r>
              <a:rPr lang="en-US" dirty="0"/>
              <a:t> </a:t>
            </a:r>
            <a:r>
              <a:rPr lang="en-US" dirty="0" err="1"/>
              <a:t>nell'ordine</a:t>
            </a:r>
            <a:r>
              <a:rPr lang="en-US" dirty="0"/>
              <a:t> di </a:t>
            </a:r>
            <a:r>
              <a:rPr lang="en-US" dirty="0" err="1"/>
              <a:t>miliardi</a:t>
            </a:r>
            <a:r>
              <a:rPr lang="en-US" dirty="0"/>
              <a:t> di </a:t>
            </a:r>
            <a:r>
              <a:rPr lang="en-US" dirty="0" err="1"/>
              <a:t>stati</a:t>
            </a:r>
            <a:r>
              <a:rPr lang="en-US" dirty="0"/>
              <a:t> — </a:t>
            </a:r>
            <a:r>
              <a:rPr lang="en-US" dirty="0" err="1"/>
              <a:t>impraticabile</a:t>
            </a:r>
            <a:r>
              <a:rPr lang="en-US" dirty="0"/>
              <a:t>.</a:t>
            </a:r>
          </a:p>
          <a:p>
            <a:r>
              <a:rPr lang="en-US" b="1" dirty="0"/>
              <a:t>2. </a:t>
            </a:r>
            <a:r>
              <a:rPr lang="en-US" b="1" dirty="0" err="1"/>
              <a:t>Generalizzazione</a:t>
            </a:r>
            <a:r>
              <a:rPr lang="en-US" b="1" dirty="0"/>
              <a:t>.</a:t>
            </a:r>
            <a:r>
              <a:rPr lang="en-US" dirty="0"/>
              <a:t> La Q-table </a:t>
            </a:r>
            <a:r>
              <a:rPr lang="en-US" dirty="0" err="1"/>
              <a:t>tratta</a:t>
            </a:r>
            <a:r>
              <a:rPr lang="en-US" dirty="0"/>
              <a:t> ogni </a:t>
            </a:r>
            <a:r>
              <a:rPr lang="en-US" dirty="0" err="1"/>
              <a:t>stato</a:t>
            </a:r>
            <a:r>
              <a:rPr lang="en-US" dirty="0"/>
              <a:t> come </a:t>
            </a:r>
            <a:r>
              <a:rPr lang="en-US" dirty="0" err="1"/>
              <a:t>completamente</a:t>
            </a:r>
            <a:r>
              <a:rPr lang="en-US" dirty="0"/>
              <a:t> </a:t>
            </a:r>
            <a:r>
              <a:rPr lang="en-US" dirty="0" err="1"/>
              <a:t>indipendente</a:t>
            </a:r>
            <a:r>
              <a:rPr lang="en-US" dirty="0"/>
              <a:t> </a:t>
            </a:r>
            <a:r>
              <a:rPr lang="en-US" dirty="0" err="1"/>
              <a:t>dagli</a:t>
            </a:r>
            <a:r>
              <a:rPr lang="en-US" dirty="0"/>
              <a:t> </a:t>
            </a:r>
            <a:r>
              <a:rPr lang="en-US" dirty="0" err="1"/>
              <a:t>altri</a:t>
            </a:r>
            <a:r>
              <a:rPr lang="en-US" dirty="0"/>
              <a:t>. Se </a:t>
            </a:r>
            <a:r>
              <a:rPr lang="en-US" dirty="0" err="1"/>
              <a:t>l'agente</a:t>
            </a:r>
            <a:r>
              <a:rPr lang="en-US" dirty="0"/>
              <a:t> ha </a:t>
            </a:r>
            <a:r>
              <a:rPr lang="en-US" dirty="0" err="1"/>
              <a:t>imparato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in (</a:t>
            </a:r>
            <a:r>
              <a:rPr lang="en-US" dirty="0" err="1"/>
              <a:t>trackPos</a:t>
            </a:r>
            <a:r>
              <a:rPr lang="en-US" dirty="0"/>
              <a:t>=0.3, angle=0.1) </a:t>
            </a:r>
            <a:r>
              <a:rPr lang="en-US" dirty="0" err="1"/>
              <a:t>conviene</a:t>
            </a:r>
            <a:r>
              <a:rPr lang="en-US" dirty="0"/>
              <a:t> </a:t>
            </a:r>
            <a:r>
              <a:rPr lang="en-US" dirty="0" err="1"/>
              <a:t>sterzare</a:t>
            </a:r>
            <a:r>
              <a:rPr lang="en-US" dirty="0"/>
              <a:t> </a:t>
            </a:r>
            <a:r>
              <a:rPr lang="en-US" dirty="0" err="1"/>
              <a:t>leggermente</a:t>
            </a:r>
            <a:r>
              <a:rPr lang="en-US" dirty="0"/>
              <a:t> a sinistra, non </a:t>
            </a:r>
            <a:r>
              <a:rPr lang="en-US" dirty="0" err="1"/>
              <a:t>trasferisce</a:t>
            </a:r>
            <a:r>
              <a:rPr lang="en-US" dirty="0"/>
              <a:t> </a:t>
            </a:r>
            <a:r>
              <a:rPr lang="en-US" dirty="0" err="1"/>
              <a:t>automaticamente</a:t>
            </a:r>
            <a:r>
              <a:rPr lang="en-US" dirty="0"/>
              <a:t> </a:t>
            </a:r>
            <a:r>
              <a:rPr lang="en-US" dirty="0" err="1"/>
              <a:t>questa</a:t>
            </a:r>
            <a:r>
              <a:rPr lang="en-US" dirty="0"/>
              <a:t> </a:t>
            </a:r>
            <a:r>
              <a:rPr lang="en-US" dirty="0" err="1"/>
              <a:t>conoscenza</a:t>
            </a:r>
            <a:r>
              <a:rPr lang="en-US" dirty="0"/>
              <a:t> a (</a:t>
            </a:r>
            <a:r>
              <a:rPr lang="en-US" dirty="0" err="1"/>
              <a:t>trackPos</a:t>
            </a:r>
            <a:r>
              <a:rPr lang="en-US" dirty="0"/>
              <a:t>=0.35, angle=0.12) — </a:t>
            </a:r>
            <a:r>
              <a:rPr lang="en-US" dirty="0" err="1"/>
              <a:t>perché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bin </a:t>
            </a:r>
            <a:r>
              <a:rPr lang="en-US" dirty="0" err="1"/>
              <a:t>diversi</a:t>
            </a:r>
            <a:r>
              <a:rPr lang="en-US" dirty="0"/>
              <a:t>. Una rete </a:t>
            </a:r>
            <a:r>
              <a:rPr lang="en-US" dirty="0" err="1"/>
              <a:t>neurale</a:t>
            </a:r>
            <a:r>
              <a:rPr lang="en-US" dirty="0"/>
              <a:t> </a:t>
            </a:r>
            <a:r>
              <a:rPr lang="en-US" dirty="0" err="1"/>
              <a:t>invece</a:t>
            </a:r>
            <a:r>
              <a:rPr lang="en-US" dirty="0"/>
              <a:t> </a:t>
            </a:r>
            <a:r>
              <a:rPr lang="en-US" dirty="0" err="1"/>
              <a:t>generalizza</a:t>
            </a:r>
            <a:r>
              <a:rPr lang="en-US" dirty="0"/>
              <a:t>: </a:t>
            </a:r>
            <a:r>
              <a:rPr lang="en-US" dirty="0" err="1"/>
              <a:t>apprende</a:t>
            </a:r>
            <a:r>
              <a:rPr lang="en-US" dirty="0"/>
              <a:t> </a:t>
            </a:r>
            <a:r>
              <a:rPr lang="en-US" dirty="0" err="1"/>
              <a:t>rappresentazioni</a:t>
            </a:r>
            <a:r>
              <a:rPr lang="en-US" dirty="0"/>
              <a:t> interne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catturano</a:t>
            </a:r>
            <a:r>
              <a:rPr lang="en-US" dirty="0"/>
              <a:t> la </a:t>
            </a:r>
            <a:r>
              <a:rPr lang="en-US" dirty="0" err="1"/>
              <a:t>struttura</a:t>
            </a:r>
            <a:r>
              <a:rPr lang="en-US" dirty="0"/>
              <a:t> del </a:t>
            </a:r>
            <a:r>
              <a:rPr lang="en-US" dirty="0" err="1"/>
              <a:t>problema</a:t>
            </a:r>
            <a:r>
              <a:rPr lang="en-US" dirty="0"/>
              <a:t> e </a:t>
            </a:r>
            <a:r>
              <a:rPr lang="en-US" dirty="0" err="1"/>
              <a:t>funzionano</a:t>
            </a:r>
            <a:r>
              <a:rPr lang="en-US" dirty="0"/>
              <a:t> </a:t>
            </a:r>
            <a:r>
              <a:rPr lang="en-US" dirty="0" err="1"/>
              <a:t>anche</a:t>
            </a:r>
            <a:r>
              <a:rPr lang="en-US" dirty="0"/>
              <a:t> per </a:t>
            </a:r>
            <a:r>
              <a:rPr lang="en-US" dirty="0" err="1"/>
              <a:t>stati</a:t>
            </a:r>
            <a:r>
              <a:rPr lang="en-US" dirty="0"/>
              <a:t> </a:t>
            </a:r>
            <a:r>
              <a:rPr lang="en-US" dirty="0" err="1"/>
              <a:t>simili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visti</a:t>
            </a:r>
            <a:r>
              <a:rPr lang="en-US" dirty="0"/>
              <a:t>.</a:t>
            </a:r>
          </a:p>
          <a:p>
            <a:r>
              <a:rPr lang="en-US" b="1" dirty="0"/>
              <a:t>3. Azioni continue.</a:t>
            </a:r>
            <a:r>
              <a:rPr lang="en-US" dirty="0"/>
              <a:t> Il Q-Learning classico non </a:t>
            </a:r>
            <a:r>
              <a:rPr lang="en-US" dirty="0" err="1"/>
              <a:t>funziona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spazi</a:t>
            </a:r>
            <a:r>
              <a:rPr lang="en-US" dirty="0"/>
              <a:t> delle </a:t>
            </a:r>
            <a:r>
              <a:rPr lang="en-US" dirty="0" err="1"/>
              <a:t>azioni</a:t>
            </a:r>
            <a:r>
              <a:rPr lang="en-US" dirty="0"/>
              <a:t> </a:t>
            </a:r>
            <a:r>
              <a:rPr lang="en-US" dirty="0" err="1"/>
              <a:t>continui</a:t>
            </a:r>
            <a:r>
              <a:rPr lang="en-US" dirty="0"/>
              <a:t>. Con DDPG o SAC la rete </a:t>
            </a:r>
            <a:r>
              <a:rPr lang="en-US" dirty="0" err="1"/>
              <a:t>restituisce</a:t>
            </a:r>
            <a:r>
              <a:rPr lang="en-US" dirty="0"/>
              <a:t> </a:t>
            </a:r>
            <a:r>
              <a:rPr lang="en-US" dirty="0" err="1"/>
              <a:t>direttamente</a:t>
            </a:r>
            <a:r>
              <a:rPr lang="en-US" dirty="0"/>
              <a:t> il </a:t>
            </a:r>
            <a:r>
              <a:rPr lang="en-US" dirty="0" err="1"/>
              <a:t>valore</a:t>
            </a:r>
            <a:r>
              <a:rPr lang="en-US" dirty="0"/>
              <a:t> di </a:t>
            </a:r>
            <a:r>
              <a:rPr lang="en-US" dirty="0" err="1"/>
              <a:t>sterzo</a:t>
            </a:r>
            <a:r>
              <a:rPr lang="en-US" dirty="0"/>
              <a:t> come </a:t>
            </a:r>
            <a:r>
              <a:rPr lang="en-US" dirty="0" err="1"/>
              <a:t>numero</a:t>
            </a:r>
            <a:r>
              <a:rPr lang="en-US" dirty="0"/>
              <a:t> </a:t>
            </a:r>
            <a:r>
              <a:rPr lang="en-US" dirty="0" err="1"/>
              <a:t>reale</a:t>
            </a:r>
            <a:r>
              <a:rPr lang="en-US" dirty="0"/>
              <a:t>, senza </a:t>
            </a:r>
            <a:r>
              <a:rPr lang="en-US" dirty="0" err="1"/>
              <a:t>discretizzazione</a:t>
            </a:r>
            <a:r>
              <a:rPr lang="en-US" dirty="0"/>
              <a:t>.</a:t>
            </a:r>
          </a:p>
          <a:p>
            <a:r>
              <a:rPr lang="en-US" b="1" dirty="0"/>
              <a:t>La </a:t>
            </a:r>
            <a:r>
              <a:rPr lang="en-US" b="1" dirty="0" err="1"/>
              <a:t>soluzione</a:t>
            </a:r>
            <a:r>
              <a:rPr lang="en-US" b="1" dirty="0"/>
              <a:t>: </a:t>
            </a:r>
            <a:r>
              <a:rPr lang="en-US" b="1" dirty="0" err="1"/>
              <a:t>approssimare</a:t>
            </a:r>
            <a:r>
              <a:rPr lang="en-US" b="1" dirty="0"/>
              <a:t> Q (o la policy) con </a:t>
            </a:r>
            <a:r>
              <a:rPr lang="en-US" b="1" dirty="0" err="1"/>
              <a:t>una</a:t>
            </a:r>
            <a:r>
              <a:rPr lang="en-US" b="1" dirty="0"/>
              <a:t> rete </a:t>
            </a:r>
            <a:r>
              <a:rPr lang="en-US" b="1" dirty="0" err="1"/>
              <a:t>neurale</a:t>
            </a:r>
            <a:r>
              <a:rPr lang="en-US" b="1" dirty="0"/>
              <a:t>.</a:t>
            </a:r>
            <a:r>
              <a:rPr lang="en-US" dirty="0"/>
              <a:t> </a:t>
            </a:r>
            <a:r>
              <a:rPr lang="en-US" dirty="0" err="1"/>
              <a:t>Invece</a:t>
            </a:r>
            <a:r>
              <a:rPr lang="en-US" dirty="0"/>
              <a:t> di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tabella</a:t>
            </a:r>
            <a:r>
              <a:rPr lang="en-US" dirty="0"/>
              <a:t> Q(</a:t>
            </a:r>
            <a:r>
              <a:rPr lang="en-US" dirty="0" err="1"/>
              <a:t>s,a</a:t>
            </a:r>
            <a:r>
              <a:rPr lang="en-US" dirty="0"/>
              <a:t>), </a:t>
            </a:r>
            <a:r>
              <a:rPr lang="en-US" dirty="0" err="1"/>
              <a:t>usiamo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rete Q_</a:t>
            </a:r>
            <a:r>
              <a:rPr lang="el-GR" dirty="0"/>
              <a:t>θ(</a:t>
            </a:r>
            <a:r>
              <a:rPr lang="en-US" dirty="0" err="1"/>
              <a:t>s,a</a:t>
            </a:r>
            <a:r>
              <a:rPr lang="en-US" dirty="0"/>
              <a:t>) </a:t>
            </a:r>
            <a:r>
              <a:rPr lang="en-US" dirty="0" err="1"/>
              <a:t>parametrizzata</a:t>
            </a:r>
            <a:r>
              <a:rPr lang="en-US" dirty="0"/>
              <a:t> </a:t>
            </a:r>
            <a:r>
              <a:rPr lang="en-US" dirty="0" err="1"/>
              <a:t>dai</a:t>
            </a:r>
            <a:r>
              <a:rPr lang="en-US" dirty="0"/>
              <a:t> </a:t>
            </a:r>
            <a:r>
              <a:rPr lang="en-US" dirty="0" err="1"/>
              <a:t>pesi</a:t>
            </a:r>
            <a:r>
              <a:rPr lang="en-US" dirty="0"/>
              <a:t> </a:t>
            </a:r>
            <a:r>
              <a:rPr lang="el-GR" dirty="0"/>
              <a:t>θ. </a:t>
            </a:r>
            <a:r>
              <a:rPr lang="en-US" dirty="0"/>
              <a:t>La rete </a:t>
            </a:r>
            <a:r>
              <a:rPr lang="en-US" dirty="0" err="1"/>
              <a:t>prende</a:t>
            </a:r>
            <a:r>
              <a:rPr lang="en-US" dirty="0"/>
              <a:t> lo </a:t>
            </a:r>
            <a:r>
              <a:rPr lang="en-US" dirty="0" err="1"/>
              <a:t>stato</a:t>
            </a:r>
            <a:r>
              <a:rPr lang="en-US" dirty="0"/>
              <a:t> in input e </a:t>
            </a:r>
            <a:r>
              <a:rPr lang="en-US" dirty="0" err="1"/>
              <a:t>restituisce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valori</a:t>
            </a:r>
            <a:r>
              <a:rPr lang="en-US" dirty="0"/>
              <a:t> Q per tutte le </a:t>
            </a:r>
            <a:r>
              <a:rPr lang="en-US" dirty="0" err="1"/>
              <a:t>azioni</a:t>
            </a:r>
            <a:r>
              <a:rPr lang="en-US" dirty="0"/>
              <a:t> (o per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specifica</a:t>
            </a:r>
            <a:r>
              <a:rPr lang="en-US" dirty="0"/>
              <a:t> azione). I </a:t>
            </a:r>
            <a:r>
              <a:rPr lang="en-US" dirty="0" err="1"/>
              <a:t>pesi</a:t>
            </a:r>
            <a:r>
              <a:rPr lang="en-US" dirty="0"/>
              <a:t> </a:t>
            </a:r>
            <a:r>
              <a:rPr lang="en-US" dirty="0" err="1"/>
              <a:t>vengono</a:t>
            </a:r>
            <a:r>
              <a:rPr lang="en-US" dirty="0"/>
              <a:t> </a:t>
            </a:r>
            <a:r>
              <a:rPr lang="en-US" dirty="0" err="1"/>
              <a:t>aggiornati</a:t>
            </a:r>
            <a:r>
              <a:rPr lang="en-US" dirty="0"/>
              <a:t> </a:t>
            </a:r>
            <a:r>
              <a:rPr lang="en-US" dirty="0" err="1"/>
              <a:t>tramite</a:t>
            </a:r>
            <a:r>
              <a:rPr lang="en-US" dirty="0"/>
              <a:t> backpropagation, </a:t>
            </a:r>
            <a:r>
              <a:rPr lang="en-US" dirty="0" err="1"/>
              <a:t>esattamente</a:t>
            </a:r>
            <a:r>
              <a:rPr lang="en-US" dirty="0"/>
              <a:t> come in un </a:t>
            </a:r>
            <a:r>
              <a:rPr lang="en-US" dirty="0" err="1"/>
              <a:t>normale</a:t>
            </a:r>
            <a:r>
              <a:rPr lang="en-US" dirty="0"/>
              <a:t> </a:t>
            </a:r>
            <a:r>
              <a:rPr lang="en-US" dirty="0" err="1"/>
              <a:t>problema</a:t>
            </a:r>
            <a:r>
              <a:rPr lang="en-US" dirty="0"/>
              <a:t> di machine learning.</a:t>
            </a:r>
          </a:p>
          <a:p>
            <a:r>
              <a:rPr lang="en-US" dirty="0"/>
              <a:t>Il </a:t>
            </a:r>
            <a:r>
              <a:rPr lang="en-US" dirty="0" err="1"/>
              <a:t>problema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questo</a:t>
            </a:r>
            <a:r>
              <a:rPr lang="en-US" dirty="0"/>
              <a:t> </a:t>
            </a:r>
            <a:r>
              <a:rPr lang="en-US" dirty="0" err="1"/>
              <a:t>rende</a:t>
            </a:r>
            <a:r>
              <a:rPr lang="en-US" dirty="0"/>
              <a:t> il training molto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complicato</a:t>
            </a:r>
            <a:r>
              <a:rPr lang="en-US" dirty="0"/>
              <a:t>. In un </a:t>
            </a:r>
            <a:r>
              <a:rPr lang="en-US" dirty="0" err="1"/>
              <a:t>normale</a:t>
            </a:r>
            <a:r>
              <a:rPr lang="en-US" dirty="0"/>
              <a:t> </a:t>
            </a:r>
            <a:r>
              <a:rPr lang="en-US" dirty="0" err="1"/>
              <a:t>problema</a:t>
            </a:r>
            <a:r>
              <a:rPr lang="en-US" dirty="0"/>
              <a:t> di supervised learning, il target (le label)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fisso</a:t>
            </a:r>
            <a:r>
              <a:rPr lang="en-US" dirty="0"/>
              <a:t>. In RL, il target cambia ad ogni aggiornamento — </a:t>
            </a:r>
            <a:r>
              <a:rPr lang="en-US" dirty="0" err="1"/>
              <a:t>perché</a:t>
            </a:r>
            <a:r>
              <a:rPr lang="en-US" dirty="0"/>
              <a:t> </a:t>
            </a:r>
            <a:r>
              <a:rPr lang="en-US" dirty="0" err="1"/>
              <a:t>dipende</a:t>
            </a:r>
            <a:r>
              <a:rPr lang="en-US" dirty="0"/>
              <a:t> </a:t>
            </a:r>
            <a:r>
              <a:rPr lang="en-US" dirty="0" err="1"/>
              <a:t>dalla</a:t>
            </a:r>
            <a:r>
              <a:rPr lang="en-US" dirty="0"/>
              <a:t> </a:t>
            </a:r>
            <a:r>
              <a:rPr lang="en-US" dirty="0" err="1"/>
              <a:t>stessa</a:t>
            </a:r>
            <a:r>
              <a:rPr lang="en-US" dirty="0"/>
              <a:t> rete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stiamo</a:t>
            </a:r>
            <a:r>
              <a:rPr lang="en-US" dirty="0"/>
              <a:t> </a:t>
            </a:r>
            <a:r>
              <a:rPr lang="en-US" dirty="0" err="1"/>
              <a:t>aggiornando</a:t>
            </a:r>
            <a:r>
              <a:rPr lang="en-US" dirty="0"/>
              <a:t>. Questa </a:t>
            </a:r>
            <a:r>
              <a:rPr lang="en-US" dirty="0" err="1"/>
              <a:t>è</a:t>
            </a:r>
            <a:r>
              <a:rPr lang="en-US" dirty="0"/>
              <a:t> la </a:t>
            </a:r>
            <a:r>
              <a:rPr lang="en-US" dirty="0" err="1"/>
              <a:t>principale</a:t>
            </a:r>
            <a:r>
              <a:rPr lang="en-US" dirty="0"/>
              <a:t> </a:t>
            </a:r>
            <a:r>
              <a:rPr lang="en-US" dirty="0" err="1"/>
              <a:t>fonte</a:t>
            </a:r>
            <a:r>
              <a:rPr lang="en-US" dirty="0"/>
              <a:t> di </a:t>
            </a:r>
            <a:r>
              <a:rPr lang="en-US" dirty="0" err="1"/>
              <a:t>instabilità</a:t>
            </a:r>
            <a:r>
              <a:rPr lang="en-US" dirty="0"/>
              <a:t>.</a:t>
            </a:r>
          </a:p>
          <a:p>
            <a:r>
              <a:rPr lang="en-US" dirty="0"/>
              <a:t>DQN (2013), DDPG, PPO e SAC </a:t>
            </a:r>
            <a:r>
              <a:rPr lang="en-US" dirty="0" err="1"/>
              <a:t>sono</a:t>
            </a:r>
            <a:r>
              <a:rPr lang="en-US" dirty="0"/>
              <a:t> tutti </a:t>
            </a:r>
            <a:r>
              <a:rPr lang="en-US" dirty="0" err="1"/>
              <a:t>algoritmi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introducono</a:t>
            </a:r>
            <a:r>
              <a:rPr lang="en-US" dirty="0"/>
              <a:t> tricks </a:t>
            </a:r>
            <a:r>
              <a:rPr lang="en-US" dirty="0" err="1"/>
              <a:t>diversi</a:t>
            </a:r>
            <a:r>
              <a:rPr lang="en-US" dirty="0"/>
              <a:t> per </a:t>
            </a:r>
            <a:r>
              <a:rPr lang="en-US" dirty="0" err="1"/>
              <a:t>stabilizzare</a:t>
            </a:r>
            <a:r>
              <a:rPr lang="en-US" dirty="0"/>
              <a:t> </a:t>
            </a:r>
            <a:r>
              <a:rPr lang="en-US" dirty="0" err="1"/>
              <a:t>questo</a:t>
            </a:r>
            <a:r>
              <a:rPr lang="en-US" dirty="0"/>
              <a:t>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DDPG (Lillicrap et al., 2015, DeepMind)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l'estensione</a:t>
            </a:r>
            <a:r>
              <a:rPr lang="en-US" dirty="0"/>
              <a:t> del Q-Learning a </a:t>
            </a:r>
            <a:r>
              <a:rPr lang="en-US" dirty="0" err="1"/>
              <a:t>spazi</a:t>
            </a:r>
            <a:r>
              <a:rPr lang="en-US" dirty="0"/>
              <a:t> di </a:t>
            </a:r>
            <a:r>
              <a:rPr lang="en-US" dirty="0" err="1"/>
              <a:t>azioni</a:t>
            </a:r>
            <a:r>
              <a:rPr lang="en-US" dirty="0"/>
              <a:t> </a:t>
            </a:r>
            <a:r>
              <a:rPr lang="en-US" dirty="0" err="1"/>
              <a:t>continui</a:t>
            </a:r>
            <a:r>
              <a:rPr lang="en-US" dirty="0"/>
              <a:t>. Il </a:t>
            </a:r>
            <a:r>
              <a:rPr lang="en-US" dirty="0" err="1"/>
              <a:t>nome</a:t>
            </a:r>
            <a:r>
              <a:rPr lang="en-US" dirty="0"/>
              <a:t> dice </a:t>
            </a:r>
            <a:r>
              <a:rPr lang="en-US" dirty="0" err="1"/>
              <a:t>tutto</a:t>
            </a:r>
            <a:r>
              <a:rPr lang="en-US" dirty="0"/>
              <a:t>: </a:t>
            </a:r>
            <a:r>
              <a:rPr lang="en-US" i="1" dirty="0"/>
              <a:t>Deep</a:t>
            </a:r>
            <a:r>
              <a:rPr lang="en-US" dirty="0"/>
              <a:t> (</a:t>
            </a:r>
            <a:r>
              <a:rPr lang="en-US" dirty="0" err="1"/>
              <a:t>usa</a:t>
            </a:r>
            <a:r>
              <a:rPr lang="en-US" dirty="0"/>
              <a:t> </a:t>
            </a:r>
            <a:r>
              <a:rPr lang="en-US" dirty="0" err="1"/>
              <a:t>reti</a:t>
            </a:r>
            <a:r>
              <a:rPr lang="en-US" dirty="0"/>
              <a:t> </a:t>
            </a:r>
            <a:r>
              <a:rPr lang="en-US" dirty="0" err="1"/>
              <a:t>neurali</a:t>
            </a:r>
            <a:r>
              <a:rPr lang="en-US" dirty="0"/>
              <a:t>), </a:t>
            </a:r>
            <a:r>
              <a:rPr lang="en-US" i="1" dirty="0"/>
              <a:t>Deterministic</a:t>
            </a:r>
            <a:r>
              <a:rPr lang="en-US" dirty="0"/>
              <a:t> (la policy produce </a:t>
            </a:r>
            <a:r>
              <a:rPr lang="en-US" dirty="0" err="1"/>
              <a:t>un'azione</a:t>
            </a:r>
            <a:r>
              <a:rPr lang="en-US" dirty="0"/>
              <a:t> </a:t>
            </a:r>
            <a:r>
              <a:rPr lang="en-US" dirty="0" err="1"/>
              <a:t>precisa</a:t>
            </a:r>
            <a:r>
              <a:rPr lang="en-US" dirty="0"/>
              <a:t>, non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distribuzione</a:t>
            </a:r>
            <a:r>
              <a:rPr lang="en-US" dirty="0"/>
              <a:t>), </a:t>
            </a:r>
            <a:r>
              <a:rPr lang="en-US" i="1" dirty="0"/>
              <a:t>Policy Gradient</a:t>
            </a:r>
            <a:r>
              <a:rPr lang="en-US" dirty="0"/>
              <a:t> (</a:t>
            </a:r>
            <a:r>
              <a:rPr lang="en-US" dirty="0" err="1"/>
              <a:t>usa</a:t>
            </a:r>
            <a:r>
              <a:rPr lang="en-US" dirty="0"/>
              <a:t> il </a:t>
            </a:r>
            <a:r>
              <a:rPr lang="en-US" dirty="0" err="1"/>
              <a:t>gradiente</a:t>
            </a:r>
            <a:r>
              <a:rPr lang="en-US" dirty="0"/>
              <a:t> per </a:t>
            </a:r>
            <a:r>
              <a:rPr lang="en-US" dirty="0" err="1"/>
              <a:t>aggiornare</a:t>
            </a:r>
            <a:r>
              <a:rPr lang="en-US" dirty="0"/>
              <a:t> la policy).</a:t>
            </a:r>
          </a:p>
          <a:p>
            <a:r>
              <a:rPr lang="en-US" b="1" dirty="0" err="1"/>
              <a:t>Architettura</a:t>
            </a:r>
            <a:r>
              <a:rPr lang="en-US" b="1" dirty="0"/>
              <a:t> Actor-Critic.</a:t>
            </a:r>
            <a:r>
              <a:rPr lang="en-US" dirty="0"/>
              <a:t> DDPG </a:t>
            </a:r>
            <a:r>
              <a:rPr lang="en-US" dirty="0" err="1"/>
              <a:t>usa</a:t>
            </a:r>
            <a:r>
              <a:rPr lang="en-US" dirty="0"/>
              <a:t> due </a:t>
            </a:r>
            <a:r>
              <a:rPr lang="en-US" dirty="0" err="1"/>
              <a:t>reti</a:t>
            </a:r>
            <a:r>
              <a:rPr lang="en-US" dirty="0"/>
              <a:t> separate:</a:t>
            </a:r>
          </a:p>
          <a:p>
            <a:r>
              <a:rPr lang="en-US" dirty="0" err="1"/>
              <a:t>L'</a:t>
            </a:r>
            <a:r>
              <a:rPr lang="en-US" b="1" dirty="0" err="1"/>
              <a:t>Actor</a:t>
            </a:r>
            <a:r>
              <a:rPr lang="en-US" dirty="0"/>
              <a:t> (o policy network) </a:t>
            </a:r>
            <a:r>
              <a:rPr lang="en-US" dirty="0" err="1"/>
              <a:t>è</a:t>
            </a:r>
            <a:r>
              <a:rPr lang="en-US" dirty="0"/>
              <a:t> la rete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guida</a:t>
            </a:r>
            <a:r>
              <a:rPr lang="en-US" dirty="0"/>
              <a:t>: </a:t>
            </a:r>
            <a:r>
              <a:rPr lang="en-US" dirty="0" err="1"/>
              <a:t>prende</a:t>
            </a:r>
            <a:r>
              <a:rPr lang="en-US" dirty="0"/>
              <a:t> in input lo </a:t>
            </a:r>
            <a:r>
              <a:rPr lang="en-US" dirty="0" err="1"/>
              <a:t>stato</a:t>
            </a:r>
            <a:r>
              <a:rPr lang="en-US" dirty="0"/>
              <a:t> e produce </a:t>
            </a:r>
            <a:r>
              <a:rPr lang="en-US" dirty="0" err="1"/>
              <a:t>direttamente</a:t>
            </a:r>
            <a:r>
              <a:rPr lang="en-US" dirty="0"/>
              <a:t> </a:t>
            </a:r>
            <a:r>
              <a:rPr lang="en-US" dirty="0" err="1"/>
              <a:t>l'azione</a:t>
            </a:r>
            <a:r>
              <a:rPr lang="en-US" dirty="0"/>
              <a:t> continua. </a:t>
            </a:r>
            <a:r>
              <a:rPr lang="el-G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μ(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s|</a:t>
            </a:r>
            <a:r>
              <a:rPr lang="el-G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θ^μ</a:t>
            </a:r>
            <a:r>
              <a:rPr lang="el-G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 → A</a:t>
            </a:r>
            <a:r>
              <a:rPr lang="en-US" dirty="0"/>
              <a:t>. Per TORCS: </a:t>
            </a:r>
            <a:r>
              <a:rPr lang="en-US" dirty="0" err="1"/>
              <a:t>prende</a:t>
            </a:r>
            <a:r>
              <a:rPr lang="en-US" dirty="0"/>
              <a:t> [</a:t>
            </a:r>
            <a:r>
              <a:rPr lang="en-US" dirty="0" err="1"/>
              <a:t>trackPos</a:t>
            </a:r>
            <a:r>
              <a:rPr lang="en-US" dirty="0"/>
              <a:t>, angle, </a:t>
            </a:r>
            <a:r>
              <a:rPr lang="en-US" dirty="0" err="1"/>
              <a:t>speedX</a:t>
            </a:r>
            <a:r>
              <a:rPr lang="en-US" dirty="0"/>
              <a:t>, track...] e </a:t>
            </a:r>
            <a:r>
              <a:rPr lang="en-US" dirty="0" err="1"/>
              <a:t>restituisce</a:t>
            </a:r>
            <a:r>
              <a:rPr lang="en-US" dirty="0"/>
              <a:t> [steer, accel]. </a:t>
            </a:r>
            <a:r>
              <a:rPr lang="en-US" dirty="0" err="1"/>
              <a:t>L'Actor</a:t>
            </a:r>
            <a:r>
              <a:rPr lang="en-US" dirty="0"/>
              <a:t>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addestrato</a:t>
            </a:r>
            <a:r>
              <a:rPr lang="en-US" dirty="0"/>
              <a:t> per </a:t>
            </a:r>
            <a:r>
              <a:rPr lang="en-US" dirty="0" err="1"/>
              <a:t>massimizzare</a:t>
            </a:r>
            <a:r>
              <a:rPr lang="en-US" dirty="0"/>
              <a:t> il </a:t>
            </a:r>
            <a:r>
              <a:rPr lang="en-US" dirty="0" err="1"/>
              <a:t>valore</a:t>
            </a:r>
            <a:r>
              <a:rPr lang="en-US" dirty="0"/>
              <a:t> </a:t>
            </a:r>
            <a:r>
              <a:rPr lang="en-US" dirty="0" err="1"/>
              <a:t>stimato</a:t>
            </a:r>
            <a:r>
              <a:rPr lang="en-US" dirty="0"/>
              <a:t> dal Critic.</a:t>
            </a:r>
          </a:p>
          <a:p>
            <a:r>
              <a:rPr lang="en-US" dirty="0"/>
              <a:t>Il </a:t>
            </a:r>
            <a:r>
              <a:rPr lang="en-US" b="1" dirty="0"/>
              <a:t>Critic</a:t>
            </a:r>
            <a:r>
              <a:rPr lang="en-US" dirty="0"/>
              <a:t> (o Q-network) </a:t>
            </a:r>
            <a:r>
              <a:rPr lang="en-US" dirty="0" err="1"/>
              <a:t>è</a:t>
            </a:r>
            <a:r>
              <a:rPr lang="en-US" dirty="0"/>
              <a:t> il "</a:t>
            </a:r>
            <a:r>
              <a:rPr lang="en-US" dirty="0" err="1"/>
              <a:t>giudice</a:t>
            </a:r>
            <a:r>
              <a:rPr lang="en-US" dirty="0"/>
              <a:t>": </a:t>
            </a:r>
            <a:r>
              <a:rPr lang="en-US" dirty="0" err="1"/>
              <a:t>prende</a:t>
            </a:r>
            <a:r>
              <a:rPr lang="en-US" dirty="0"/>
              <a:t> in input lo </a:t>
            </a:r>
            <a:r>
              <a:rPr lang="en-US" dirty="0" err="1"/>
              <a:t>stato</a:t>
            </a:r>
            <a:r>
              <a:rPr lang="en-US" dirty="0"/>
              <a:t> </a:t>
            </a:r>
            <a:r>
              <a:rPr lang="en-US" i="1" dirty="0"/>
              <a:t>e</a:t>
            </a:r>
            <a:r>
              <a:rPr lang="en-US" dirty="0"/>
              <a:t> </a:t>
            </a:r>
            <a:r>
              <a:rPr lang="en-US" dirty="0" err="1"/>
              <a:t>l'azione</a:t>
            </a:r>
            <a:r>
              <a:rPr lang="en-US" dirty="0"/>
              <a:t>, e </a:t>
            </a:r>
            <a:r>
              <a:rPr lang="en-US" dirty="0" err="1"/>
              <a:t>stima</a:t>
            </a:r>
            <a:r>
              <a:rPr lang="en-US" dirty="0"/>
              <a:t> il Q-value — </a:t>
            </a:r>
            <a:r>
              <a:rPr lang="en-US" dirty="0" err="1"/>
              <a:t>quanto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buona </a:t>
            </a:r>
            <a:r>
              <a:rPr lang="en-US" dirty="0" err="1"/>
              <a:t>quell'azione</a:t>
            </a:r>
            <a:r>
              <a:rPr lang="en-US" dirty="0"/>
              <a:t> in </a:t>
            </a:r>
            <a:r>
              <a:rPr lang="en-US" dirty="0" err="1"/>
              <a:t>quello</a:t>
            </a:r>
            <a:r>
              <a:rPr lang="en-US" dirty="0"/>
              <a:t> </a:t>
            </a:r>
            <a:r>
              <a:rPr lang="en-US" dirty="0" err="1"/>
              <a:t>stato</a:t>
            </a:r>
            <a:r>
              <a:rPr lang="en-US" dirty="0"/>
              <a:t>.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s,a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|</a:t>
            </a:r>
            <a:r>
              <a:rPr lang="el-G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θ^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Q): S × A →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ℝ</a:t>
            </a:r>
            <a:r>
              <a:rPr lang="en-US" dirty="0"/>
              <a:t>. Il Critic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addestrato</a:t>
            </a:r>
            <a:r>
              <a:rPr lang="en-US" dirty="0"/>
              <a:t> con la </a:t>
            </a:r>
            <a:r>
              <a:rPr lang="en-US" dirty="0" err="1"/>
              <a:t>regola</a:t>
            </a:r>
            <a:r>
              <a:rPr lang="en-US" dirty="0"/>
              <a:t> di Bellman, come il Q-Learning classico.</a:t>
            </a:r>
          </a:p>
          <a:p>
            <a:r>
              <a:rPr lang="en-US" dirty="0"/>
              <a:t>Il </a:t>
            </a:r>
            <a:r>
              <a:rPr lang="en-US" dirty="0" err="1"/>
              <a:t>flusso</a:t>
            </a:r>
            <a:r>
              <a:rPr lang="en-US" dirty="0"/>
              <a:t> di training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circolare</a:t>
            </a:r>
            <a:r>
              <a:rPr lang="en-US" dirty="0"/>
              <a:t>: </a:t>
            </a:r>
            <a:r>
              <a:rPr lang="en-US" dirty="0" err="1"/>
              <a:t>l'Actor</a:t>
            </a:r>
            <a:r>
              <a:rPr lang="en-US" dirty="0"/>
              <a:t> genera </a:t>
            </a:r>
            <a:r>
              <a:rPr lang="en-US" dirty="0" err="1"/>
              <a:t>un'azione</a:t>
            </a:r>
            <a:r>
              <a:rPr lang="en-US" dirty="0"/>
              <a:t> → il Critic valuta </a:t>
            </a:r>
            <a:r>
              <a:rPr lang="en-US" dirty="0" err="1"/>
              <a:t>quanto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buona → il Critic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aggiorna</a:t>
            </a:r>
            <a:r>
              <a:rPr lang="en-US" dirty="0"/>
              <a:t> </a:t>
            </a:r>
            <a:r>
              <a:rPr lang="en-US" dirty="0" err="1"/>
              <a:t>minimizzando</a:t>
            </a:r>
            <a:r>
              <a:rPr lang="en-US" dirty="0"/>
              <a:t> </a:t>
            </a:r>
            <a:r>
              <a:rPr lang="en-US" dirty="0" err="1"/>
              <a:t>l'errore</a:t>
            </a:r>
            <a:r>
              <a:rPr lang="en-US" dirty="0"/>
              <a:t> di Bellman → </a:t>
            </a:r>
            <a:r>
              <a:rPr lang="en-US" dirty="0" err="1"/>
              <a:t>l'Actor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aggiorna</a:t>
            </a:r>
            <a:r>
              <a:rPr lang="en-US" dirty="0"/>
              <a:t> </a:t>
            </a:r>
            <a:r>
              <a:rPr lang="en-US" dirty="0" err="1"/>
              <a:t>nella</a:t>
            </a:r>
            <a:r>
              <a:rPr lang="en-US" dirty="0"/>
              <a:t> </a:t>
            </a:r>
            <a:r>
              <a:rPr lang="en-US" dirty="0" err="1"/>
              <a:t>direzione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fa </a:t>
            </a:r>
            <a:r>
              <a:rPr lang="en-US" dirty="0" err="1"/>
              <a:t>salire</a:t>
            </a:r>
            <a:r>
              <a:rPr lang="en-US" dirty="0"/>
              <a:t> il </a:t>
            </a:r>
            <a:r>
              <a:rPr lang="en-US" dirty="0" err="1"/>
              <a:t>valore</a:t>
            </a:r>
            <a:r>
              <a:rPr lang="en-US" dirty="0"/>
              <a:t> </a:t>
            </a:r>
            <a:r>
              <a:rPr lang="en-US" dirty="0" err="1"/>
              <a:t>stimato</a:t>
            </a:r>
            <a:r>
              <a:rPr lang="en-US" dirty="0"/>
              <a:t> dal Critic.</a:t>
            </a:r>
          </a:p>
          <a:p>
            <a:r>
              <a:rPr lang="en-US" b="1" dirty="0"/>
              <a:t>Replay Buffer.</a:t>
            </a:r>
            <a:r>
              <a:rPr lang="en-US" dirty="0"/>
              <a:t> DDPG </a:t>
            </a:r>
            <a:r>
              <a:rPr lang="en-US" dirty="0" err="1"/>
              <a:t>è</a:t>
            </a:r>
            <a:r>
              <a:rPr lang="en-US" dirty="0"/>
              <a:t> un </a:t>
            </a:r>
            <a:r>
              <a:rPr lang="en-US" dirty="0" err="1"/>
              <a:t>algoritmo</a:t>
            </a:r>
            <a:r>
              <a:rPr lang="en-US" dirty="0"/>
              <a:t> </a:t>
            </a:r>
            <a:r>
              <a:rPr lang="en-US" i="1" dirty="0"/>
              <a:t>off-policy</a:t>
            </a:r>
            <a:r>
              <a:rPr lang="en-US" dirty="0"/>
              <a:t>: </a:t>
            </a:r>
            <a:r>
              <a:rPr lang="en-US" dirty="0" err="1"/>
              <a:t>può</a:t>
            </a:r>
            <a:r>
              <a:rPr lang="en-US" dirty="0"/>
              <a:t> </a:t>
            </a:r>
            <a:r>
              <a:rPr lang="en-US" dirty="0" err="1"/>
              <a:t>imparare</a:t>
            </a:r>
            <a:r>
              <a:rPr lang="en-US" dirty="0"/>
              <a:t> da </a:t>
            </a:r>
            <a:r>
              <a:rPr lang="en-US" dirty="0" err="1"/>
              <a:t>esperienze</a:t>
            </a:r>
            <a:r>
              <a:rPr lang="en-US" dirty="0"/>
              <a:t> </a:t>
            </a:r>
            <a:r>
              <a:rPr lang="en-US" dirty="0" err="1"/>
              <a:t>raccolte</a:t>
            </a:r>
            <a:r>
              <a:rPr lang="en-US" dirty="0"/>
              <a:t> in </a:t>
            </a:r>
            <a:r>
              <a:rPr lang="en-US" dirty="0" err="1"/>
              <a:t>passato</a:t>
            </a:r>
            <a:r>
              <a:rPr lang="en-US" dirty="0"/>
              <a:t>, non solo </a:t>
            </a:r>
            <a:r>
              <a:rPr lang="en-US" dirty="0" err="1"/>
              <a:t>dall'episodio</a:t>
            </a:r>
            <a:r>
              <a:rPr lang="en-US" dirty="0"/>
              <a:t> </a:t>
            </a:r>
            <a:r>
              <a:rPr lang="en-US" dirty="0" err="1"/>
              <a:t>corrente</a:t>
            </a:r>
            <a:r>
              <a:rPr lang="en-US" dirty="0"/>
              <a:t>. Il replay buffer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coda FIFO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memorizza</a:t>
            </a:r>
            <a:r>
              <a:rPr lang="en-US" dirty="0"/>
              <a:t> le </a:t>
            </a:r>
            <a:r>
              <a:rPr lang="en-US" dirty="0" err="1"/>
              <a:t>ultime</a:t>
            </a:r>
            <a:r>
              <a:rPr lang="en-US" dirty="0"/>
              <a:t> N </a:t>
            </a:r>
            <a:r>
              <a:rPr lang="en-US" dirty="0" err="1"/>
              <a:t>transizioni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(s, a, r, s', done)</a:t>
            </a:r>
            <a:r>
              <a:rPr lang="en-US" dirty="0"/>
              <a:t>. Ad ogni step di training,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campiona</a:t>
            </a:r>
            <a:r>
              <a:rPr lang="en-US" dirty="0"/>
              <a:t> un mini-batch </a:t>
            </a:r>
            <a:r>
              <a:rPr lang="en-US" dirty="0" err="1"/>
              <a:t>casuale</a:t>
            </a:r>
            <a:r>
              <a:rPr lang="en-US" dirty="0"/>
              <a:t> dal buffer e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aggiornano</a:t>
            </a:r>
            <a:r>
              <a:rPr lang="en-US" dirty="0"/>
              <a:t> Actor e Critic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questi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. </a:t>
            </a:r>
            <a:r>
              <a:rPr lang="en-US" dirty="0" err="1"/>
              <a:t>Questo</a:t>
            </a:r>
            <a:r>
              <a:rPr lang="en-US" dirty="0"/>
              <a:t> ha due </a:t>
            </a:r>
            <a:r>
              <a:rPr lang="en-US" dirty="0" err="1"/>
              <a:t>vantaggi</a:t>
            </a:r>
            <a:r>
              <a:rPr lang="en-US" dirty="0"/>
              <a:t>: </a:t>
            </a:r>
            <a:r>
              <a:rPr lang="en-US" dirty="0" err="1"/>
              <a:t>rompe</a:t>
            </a:r>
            <a:r>
              <a:rPr lang="en-US" dirty="0"/>
              <a:t> le </a:t>
            </a:r>
            <a:r>
              <a:rPr lang="en-US" dirty="0" err="1"/>
              <a:t>correlazioni</a:t>
            </a:r>
            <a:r>
              <a:rPr lang="en-US" dirty="0"/>
              <a:t> </a:t>
            </a:r>
            <a:r>
              <a:rPr lang="en-US" dirty="0" err="1"/>
              <a:t>temporali</a:t>
            </a:r>
            <a:r>
              <a:rPr lang="en-US" dirty="0"/>
              <a:t> (le </a:t>
            </a:r>
            <a:r>
              <a:rPr lang="en-US" dirty="0" err="1"/>
              <a:t>transizioni</a:t>
            </a:r>
            <a:r>
              <a:rPr lang="en-US" dirty="0"/>
              <a:t> consecutive </a:t>
            </a:r>
            <a:r>
              <a:rPr lang="en-US" dirty="0" err="1"/>
              <a:t>sono</a:t>
            </a:r>
            <a:r>
              <a:rPr lang="en-US" dirty="0"/>
              <a:t> molto </a:t>
            </a:r>
            <a:r>
              <a:rPr lang="en-US" dirty="0" err="1"/>
              <a:t>simili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loro — </a:t>
            </a:r>
            <a:r>
              <a:rPr lang="en-US" dirty="0" err="1"/>
              <a:t>usarle</a:t>
            </a:r>
            <a:r>
              <a:rPr lang="en-US" dirty="0"/>
              <a:t> in </a:t>
            </a:r>
            <a:r>
              <a:rPr lang="en-US" dirty="0" err="1"/>
              <a:t>ordine</a:t>
            </a:r>
            <a:r>
              <a:rPr lang="en-US" dirty="0"/>
              <a:t> </a:t>
            </a:r>
            <a:r>
              <a:rPr lang="en-US" dirty="0" err="1"/>
              <a:t>causerebbe</a:t>
            </a:r>
            <a:r>
              <a:rPr lang="en-US" dirty="0"/>
              <a:t> overfitting locale) e </a:t>
            </a:r>
            <a:r>
              <a:rPr lang="en-US" dirty="0" err="1"/>
              <a:t>aumenta</a:t>
            </a:r>
            <a:r>
              <a:rPr lang="en-US" dirty="0"/>
              <a:t> </a:t>
            </a:r>
            <a:r>
              <a:rPr lang="en-US" dirty="0" err="1"/>
              <a:t>l'efficienza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campioni</a:t>
            </a:r>
            <a:r>
              <a:rPr lang="en-US" dirty="0"/>
              <a:t> (ogni </a:t>
            </a:r>
            <a:r>
              <a:rPr lang="en-US" dirty="0" err="1"/>
              <a:t>transizione</a:t>
            </a:r>
            <a:r>
              <a:rPr lang="en-US" dirty="0"/>
              <a:t>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usata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volte).</a:t>
            </a:r>
          </a:p>
          <a:p>
            <a:r>
              <a:rPr lang="en-US" b="1" dirty="0"/>
              <a:t>Target Networks.</a:t>
            </a:r>
            <a:r>
              <a:rPr lang="en-US" dirty="0"/>
              <a:t> Il </a:t>
            </a:r>
            <a:r>
              <a:rPr lang="en-US" dirty="0" err="1"/>
              <a:t>problema</a:t>
            </a:r>
            <a:r>
              <a:rPr lang="en-US" dirty="0"/>
              <a:t> del "moving target"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il target del Critic cambia ad ogni aggiornamento, </a:t>
            </a:r>
            <a:r>
              <a:rPr lang="en-US" dirty="0" err="1"/>
              <a:t>perché</a:t>
            </a:r>
            <a:r>
              <a:rPr lang="en-US" dirty="0"/>
              <a:t> </a:t>
            </a:r>
            <a:r>
              <a:rPr lang="en-US" dirty="0" err="1"/>
              <a:t>dipende</a:t>
            </a:r>
            <a:r>
              <a:rPr lang="en-US" dirty="0"/>
              <a:t> </a:t>
            </a:r>
            <a:r>
              <a:rPr lang="en-US" dirty="0" err="1"/>
              <a:t>dalla</a:t>
            </a:r>
            <a:r>
              <a:rPr lang="en-US" dirty="0"/>
              <a:t> </a:t>
            </a:r>
            <a:r>
              <a:rPr lang="en-US" dirty="0" err="1"/>
              <a:t>stessa</a:t>
            </a:r>
            <a:r>
              <a:rPr lang="en-US" dirty="0"/>
              <a:t> rete Q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stiamo</a:t>
            </a:r>
            <a:r>
              <a:rPr lang="en-US" dirty="0"/>
              <a:t> </a:t>
            </a:r>
            <a:r>
              <a:rPr lang="en-US" dirty="0" err="1"/>
              <a:t>aggiornando</a:t>
            </a:r>
            <a:r>
              <a:rPr lang="en-US" dirty="0"/>
              <a:t>. DDPG </a:t>
            </a:r>
            <a:r>
              <a:rPr lang="en-US" dirty="0" err="1"/>
              <a:t>risolve</a:t>
            </a:r>
            <a:r>
              <a:rPr lang="en-US" dirty="0"/>
              <a:t> </a:t>
            </a:r>
            <a:r>
              <a:rPr lang="en-US" dirty="0" err="1"/>
              <a:t>questo</a:t>
            </a:r>
            <a:r>
              <a:rPr lang="en-US" dirty="0"/>
              <a:t> con due </a:t>
            </a:r>
            <a:r>
              <a:rPr lang="en-US" dirty="0" err="1"/>
              <a:t>copie</a:t>
            </a:r>
            <a:r>
              <a:rPr lang="en-US" dirty="0"/>
              <a:t> </a:t>
            </a:r>
            <a:r>
              <a:rPr lang="en-US" dirty="0" err="1"/>
              <a:t>aggiuntive</a:t>
            </a:r>
            <a:r>
              <a:rPr lang="en-US" dirty="0"/>
              <a:t> delle </a:t>
            </a:r>
            <a:r>
              <a:rPr lang="en-US" dirty="0" err="1"/>
              <a:t>reti</a:t>
            </a:r>
            <a:r>
              <a:rPr lang="en-US" dirty="0"/>
              <a:t> (</a:t>
            </a:r>
            <a:r>
              <a:rPr lang="en-US" dirty="0" err="1"/>
              <a:t>chiamate</a:t>
            </a:r>
            <a:r>
              <a:rPr lang="en-US" dirty="0"/>
              <a:t> </a:t>
            </a:r>
            <a:r>
              <a:rPr lang="el-GR" dirty="0"/>
              <a:t>μ' </a:t>
            </a:r>
            <a:r>
              <a:rPr lang="en-US" dirty="0"/>
              <a:t>e Q'),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vengono</a:t>
            </a:r>
            <a:r>
              <a:rPr lang="en-US" dirty="0"/>
              <a:t> </a:t>
            </a:r>
            <a:r>
              <a:rPr lang="en-US" dirty="0" err="1"/>
              <a:t>aggiornate</a:t>
            </a:r>
            <a:r>
              <a:rPr lang="en-US" dirty="0"/>
              <a:t> </a:t>
            </a:r>
            <a:r>
              <a:rPr lang="en-US" i="1" dirty="0"/>
              <a:t>lentamente</a:t>
            </a:r>
            <a:r>
              <a:rPr lang="en-US" dirty="0"/>
              <a:t> con un "soft update": </a:t>
            </a:r>
            <a:r>
              <a:rPr lang="el-G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θ' ← </a:t>
            </a:r>
            <a:r>
              <a:rPr lang="el-G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τ·θ</a:t>
            </a:r>
            <a:r>
              <a:rPr lang="el-G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(1−τ)·θ'</a:t>
            </a:r>
            <a:r>
              <a:rPr lang="el-GR" dirty="0"/>
              <a:t>, </a:t>
            </a:r>
            <a:r>
              <a:rPr lang="en-US" dirty="0"/>
              <a:t>con </a:t>
            </a:r>
            <a:r>
              <a:rPr lang="el-GR" dirty="0"/>
              <a:t>τ ≈ 0.001. </a:t>
            </a:r>
            <a:r>
              <a:rPr lang="en-US" dirty="0"/>
              <a:t>Le target networks </a:t>
            </a:r>
            <a:r>
              <a:rPr lang="en-US" dirty="0" err="1"/>
              <a:t>cambiano</a:t>
            </a:r>
            <a:r>
              <a:rPr lang="en-US" dirty="0"/>
              <a:t> quasi </a:t>
            </a:r>
            <a:r>
              <a:rPr lang="en-US" dirty="0" err="1"/>
              <a:t>impercettibilmente</a:t>
            </a:r>
            <a:r>
              <a:rPr lang="en-US" dirty="0"/>
              <a:t> ad ogni step, </a:t>
            </a:r>
            <a:r>
              <a:rPr lang="en-US" dirty="0" err="1"/>
              <a:t>fornendo</a:t>
            </a:r>
            <a:r>
              <a:rPr lang="en-US" dirty="0"/>
              <a:t> un target stabile per il Critic </a:t>
            </a:r>
            <a:r>
              <a:rPr lang="en-US" dirty="0" err="1"/>
              <a:t>principale</a:t>
            </a:r>
            <a:r>
              <a:rPr lang="en-US" dirty="0"/>
              <a:t>.</a:t>
            </a:r>
          </a:p>
          <a:p>
            <a:r>
              <a:rPr lang="en-US" b="1" dirty="0"/>
              <a:t>Rumore OU (Ornstein-</a:t>
            </a:r>
            <a:r>
              <a:rPr lang="en-US" b="1" dirty="0" err="1"/>
              <a:t>Uhlenbeck</a:t>
            </a:r>
            <a:r>
              <a:rPr lang="en-US" b="1" dirty="0"/>
              <a:t>).</a:t>
            </a:r>
            <a:r>
              <a:rPr lang="en-US" dirty="0"/>
              <a:t> Per </a:t>
            </a:r>
            <a:r>
              <a:rPr lang="en-US" dirty="0" err="1"/>
              <a:t>esplorare</a:t>
            </a:r>
            <a:r>
              <a:rPr lang="en-US" dirty="0"/>
              <a:t>, DDPG </a:t>
            </a:r>
            <a:r>
              <a:rPr lang="en-US" dirty="0" err="1"/>
              <a:t>aggiunge</a:t>
            </a:r>
            <a:r>
              <a:rPr lang="en-US" dirty="0"/>
              <a:t> </a:t>
            </a:r>
            <a:r>
              <a:rPr lang="en-US" dirty="0" err="1"/>
              <a:t>rumore</a:t>
            </a:r>
            <a:r>
              <a:rPr lang="en-US" dirty="0"/>
              <a:t> </a:t>
            </a:r>
            <a:r>
              <a:rPr lang="en-US" dirty="0" err="1"/>
              <a:t>all'azione</a:t>
            </a:r>
            <a:r>
              <a:rPr lang="en-US" dirty="0"/>
              <a:t> </a:t>
            </a:r>
            <a:r>
              <a:rPr lang="en-US" dirty="0" err="1"/>
              <a:t>prodotta</a:t>
            </a:r>
            <a:r>
              <a:rPr lang="en-US" dirty="0"/>
              <a:t> </a:t>
            </a:r>
            <a:r>
              <a:rPr lang="en-US" dirty="0" err="1"/>
              <a:t>dall'Actor</a:t>
            </a:r>
            <a:r>
              <a:rPr lang="en-US" dirty="0"/>
              <a:t>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= </a:t>
            </a:r>
            <a:r>
              <a:rPr lang="el-G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μ(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s) + N</a:t>
            </a:r>
            <a:r>
              <a:rPr lang="en-US" dirty="0"/>
              <a:t>. Il </a:t>
            </a:r>
            <a:r>
              <a:rPr lang="en-US" dirty="0" err="1"/>
              <a:t>rumore</a:t>
            </a:r>
            <a:r>
              <a:rPr lang="en-US" dirty="0"/>
              <a:t> OU </a:t>
            </a:r>
            <a:r>
              <a:rPr lang="en-US" dirty="0" err="1"/>
              <a:t>è</a:t>
            </a:r>
            <a:r>
              <a:rPr lang="en-US" dirty="0"/>
              <a:t> uno </a:t>
            </a:r>
            <a:r>
              <a:rPr lang="en-US" dirty="0" err="1"/>
              <a:t>specifico</a:t>
            </a:r>
            <a:r>
              <a:rPr lang="en-US" dirty="0"/>
              <a:t> </a:t>
            </a:r>
            <a:r>
              <a:rPr lang="en-US" dirty="0" err="1"/>
              <a:t>tipo</a:t>
            </a:r>
            <a:r>
              <a:rPr lang="en-US" dirty="0"/>
              <a:t> di </a:t>
            </a:r>
            <a:r>
              <a:rPr lang="en-US" dirty="0" err="1"/>
              <a:t>rumore</a:t>
            </a:r>
            <a:r>
              <a:rPr lang="en-US" dirty="0"/>
              <a:t> "</a:t>
            </a:r>
            <a:r>
              <a:rPr lang="en-US" dirty="0" err="1"/>
              <a:t>correlato</a:t>
            </a:r>
            <a:r>
              <a:rPr lang="en-US" dirty="0"/>
              <a:t> </a:t>
            </a:r>
            <a:r>
              <a:rPr lang="en-US" dirty="0" err="1"/>
              <a:t>nel</a:t>
            </a:r>
            <a:r>
              <a:rPr lang="en-US" dirty="0"/>
              <a:t> tempo": </a:t>
            </a:r>
            <a:r>
              <a:rPr lang="en-US" dirty="0" err="1"/>
              <a:t>tende</a:t>
            </a:r>
            <a:r>
              <a:rPr lang="en-US" dirty="0"/>
              <a:t> a </a:t>
            </a:r>
            <a:r>
              <a:rPr lang="en-US" dirty="0" err="1"/>
              <a:t>tornare</a:t>
            </a:r>
            <a:r>
              <a:rPr lang="en-US" dirty="0"/>
              <a:t> verso zero ma con </a:t>
            </a:r>
            <a:r>
              <a:rPr lang="en-US" dirty="0" err="1"/>
              <a:t>inerzia</a:t>
            </a:r>
            <a:r>
              <a:rPr lang="en-US" dirty="0"/>
              <a:t>, il </a:t>
            </a:r>
            <a:r>
              <a:rPr lang="en-US" dirty="0" err="1"/>
              <a:t>che</a:t>
            </a:r>
            <a:r>
              <a:rPr lang="en-US" dirty="0"/>
              <a:t> produce </a:t>
            </a:r>
            <a:r>
              <a:rPr lang="en-US" dirty="0" err="1"/>
              <a:t>traiettorie</a:t>
            </a:r>
            <a:r>
              <a:rPr lang="en-US" dirty="0"/>
              <a:t> di </a:t>
            </a:r>
            <a:r>
              <a:rPr lang="en-US" dirty="0" err="1"/>
              <a:t>esplorazione</a:t>
            </a:r>
            <a:r>
              <a:rPr lang="en-US" dirty="0"/>
              <a:t> smoother rispetto al </a:t>
            </a:r>
            <a:r>
              <a:rPr lang="en-US" dirty="0" err="1"/>
              <a:t>rumore</a:t>
            </a:r>
            <a:r>
              <a:rPr lang="en-US" dirty="0"/>
              <a:t> </a:t>
            </a:r>
            <a:r>
              <a:rPr lang="en-US" dirty="0" err="1"/>
              <a:t>gaussiano</a:t>
            </a:r>
            <a:r>
              <a:rPr lang="en-US" dirty="0"/>
              <a:t> puro. </a:t>
            </a:r>
            <a:r>
              <a:rPr lang="en-US" dirty="0" err="1"/>
              <a:t>Questo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importante</a:t>
            </a:r>
            <a:r>
              <a:rPr lang="en-US" dirty="0"/>
              <a:t> per la </a:t>
            </a:r>
            <a:r>
              <a:rPr lang="en-US" dirty="0" err="1"/>
              <a:t>guida</a:t>
            </a:r>
            <a:r>
              <a:rPr lang="en-US" dirty="0"/>
              <a:t>, dove </a:t>
            </a:r>
            <a:r>
              <a:rPr lang="en-US" dirty="0" err="1"/>
              <a:t>azioni</a:t>
            </a:r>
            <a:r>
              <a:rPr lang="en-US" dirty="0"/>
              <a:t> consecutive correlate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naturali</a:t>
            </a:r>
            <a:r>
              <a:rPr lang="en-US" dirty="0"/>
              <a:t> di </a:t>
            </a:r>
            <a:r>
              <a:rPr lang="en-US" dirty="0" err="1"/>
              <a:t>azioni</a:t>
            </a:r>
            <a:r>
              <a:rPr lang="en-US" dirty="0"/>
              <a:t> </a:t>
            </a:r>
            <a:r>
              <a:rPr lang="en-US" dirty="0" err="1"/>
              <a:t>completamente</a:t>
            </a:r>
            <a:r>
              <a:rPr lang="en-US" dirty="0"/>
              <a:t> </a:t>
            </a:r>
            <a:r>
              <a:rPr lang="en-US" dirty="0" err="1"/>
              <a:t>casuali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slide molto </a:t>
            </a:r>
            <a:r>
              <a:rPr lang="en-US" dirty="0" err="1"/>
              <a:t>pratica</a:t>
            </a:r>
            <a:r>
              <a:rPr lang="en-US" dirty="0"/>
              <a:t>. </a:t>
            </a:r>
            <a:r>
              <a:rPr lang="en-US" dirty="0" err="1"/>
              <a:t>Spiegare</a:t>
            </a:r>
            <a:r>
              <a:rPr lang="en-US" dirty="0"/>
              <a:t> </a:t>
            </a:r>
            <a:r>
              <a:rPr lang="en-US" dirty="0" err="1"/>
              <a:t>ciascun</a:t>
            </a:r>
            <a:r>
              <a:rPr lang="en-US" dirty="0"/>
              <a:t> </a:t>
            </a:r>
            <a:r>
              <a:rPr lang="en-US" dirty="0" err="1"/>
              <a:t>iperparametro</a:t>
            </a:r>
            <a:r>
              <a:rPr lang="en-US" dirty="0"/>
              <a:t> con la </a:t>
            </a:r>
            <a:r>
              <a:rPr lang="en-US" dirty="0" err="1"/>
              <a:t>motivazione</a:t>
            </a:r>
            <a:r>
              <a:rPr lang="en-US" dirty="0"/>
              <a:t>:</a:t>
            </a:r>
          </a:p>
          <a:p>
            <a:r>
              <a:rPr lang="en-US" b="1" dirty="0"/>
              <a:t>64–256 </a:t>
            </a:r>
            <a:r>
              <a:rPr lang="en-US" b="1" dirty="0" err="1"/>
              <a:t>neuroni</a:t>
            </a:r>
            <a:r>
              <a:rPr lang="en-US" b="1" dirty="0"/>
              <a:t> per layer.</a:t>
            </a:r>
            <a:r>
              <a:rPr lang="en-US" dirty="0"/>
              <a:t> La rete non </a:t>
            </a:r>
            <a:r>
              <a:rPr lang="en-US" dirty="0" err="1"/>
              <a:t>deve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 </a:t>
            </a:r>
            <a:r>
              <a:rPr lang="en-US" dirty="0" err="1"/>
              <a:t>troppo</a:t>
            </a:r>
            <a:r>
              <a:rPr lang="en-US" dirty="0"/>
              <a:t> </a:t>
            </a:r>
            <a:r>
              <a:rPr lang="en-US" dirty="0" err="1"/>
              <a:t>profonda</a:t>
            </a:r>
            <a:r>
              <a:rPr lang="en-US" dirty="0"/>
              <a:t> né </a:t>
            </a:r>
            <a:r>
              <a:rPr lang="en-US" dirty="0" err="1"/>
              <a:t>troppo</a:t>
            </a:r>
            <a:r>
              <a:rPr lang="en-US" dirty="0"/>
              <a:t> grande. Una </a:t>
            </a:r>
            <a:r>
              <a:rPr lang="en-US" dirty="0" err="1"/>
              <a:t>configurazione</a:t>
            </a:r>
            <a:r>
              <a:rPr lang="en-US" dirty="0"/>
              <a:t> tipica per TORCS </a:t>
            </a:r>
            <a:r>
              <a:rPr lang="en-US" dirty="0" err="1"/>
              <a:t>è</a:t>
            </a:r>
            <a:r>
              <a:rPr lang="en-US" dirty="0"/>
              <a:t> 2–3 layer hidden con 128 o 256 </a:t>
            </a:r>
            <a:r>
              <a:rPr lang="en-US" dirty="0" err="1"/>
              <a:t>neuroni</a:t>
            </a:r>
            <a:r>
              <a:rPr lang="en-US" dirty="0"/>
              <a:t>, </a:t>
            </a:r>
            <a:r>
              <a:rPr lang="en-US" dirty="0" err="1"/>
              <a:t>sia</a:t>
            </a:r>
            <a:r>
              <a:rPr lang="en-US" dirty="0"/>
              <a:t> per </a:t>
            </a:r>
            <a:r>
              <a:rPr lang="en-US" dirty="0" err="1"/>
              <a:t>l'Actor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per il Critic. Layer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grandi</a:t>
            </a:r>
            <a:r>
              <a:rPr lang="en-US" dirty="0"/>
              <a:t> </a:t>
            </a:r>
            <a:r>
              <a:rPr lang="en-US" dirty="0" err="1"/>
              <a:t>possono</a:t>
            </a:r>
            <a:r>
              <a:rPr lang="en-US" dirty="0"/>
              <a:t> </a:t>
            </a:r>
            <a:r>
              <a:rPr lang="en-US" dirty="0" err="1"/>
              <a:t>modellare</a:t>
            </a:r>
            <a:r>
              <a:rPr lang="en-US" dirty="0"/>
              <a:t> </a:t>
            </a:r>
            <a:r>
              <a:rPr lang="en-US" dirty="0" err="1"/>
              <a:t>comportamenti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complessi</a:t>
            </a:r>
            <a:r>
              <a:rPr lang="en-US" dirty="0"/>
              <a:t> ma </a:t>
            </a:r>
            <a:r>
              <a:rPr lang="en-US" dirty="0" err="1"/>
              <a:t>convergono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lentamente. Per TORCS, </a:t>
            </a:r>
            <a:r>
              <a:rPr lang="en-US" dirty="0" err="1"/>
              <a:t>anche</a:t>
            </a:r>
            <a:r>
              <a:rPr lang="en-US" dirty="0"/>
              <a:t> 64 </a:t>
            </a:r>
            <a:r>
              <a:rPr lang="en-US" dirty="0" err="1"/>
              <a:t>neuroni</a:t>
            </a:r>
            <a:r>
              <a:rPr lang="en-US" dirty="0"/>
              <a:t> per layer </a:t>
            </a:r>
            <a:r>
              <a:rPr lang="en-US" dirty="0" err="1"/>
              <a:t>spesso</a:t>
            </a:r>
            <a:r>
              <a:rPr lang="en-US" dirty="0"/>
              <a:t> </a:t>
            </a:r>
            <a:r>
              <a:rPr lang="en-US" dirty="0" err="1"/>
              <a:t>bastano</a:t>
            </a:r>
            <a:r>
              <a:rPr lang="en-US" dirty="0"/>
              <a:t> per un buon lane keeping.</a:t>
            </a:r>
          </a:p>
          <a:p>
            <a:r>
              <a:rPr lang="en-US" b="1" dirty="0"/>
              <a:t>Learning rate 1e-4.</a:t>
            </a:r>
            <a:r>
              <a:rPr lang="en-US" dirty="0"/>
              <a:t> </a:t>
            </a:r>
            <a:r>
              <a:rPr lang="en-US" dirty="0" err="1"/>
              <a:t>Questo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il learning rate </a:t>
            </a:r>
            <a:r>
              <a:rPr lang="en-US" dirty="0" err="1"/>
              <a:t>dell'ottimizzatore</a:t>
            </a:r>
            <a:r>
              <a:rPr lang="en-US" dirty="0"/>
              <a:t> Adam per </a:t>
            </a:r>
            <a:r>
              <a:rPr lang="en-US" dirty="0" err="1"/>
              <a:t>entrambe</a:t>
            </a:r>
            <a:r>
              <a:rPr lang="en-US" dirty="0"/>
              <a:t> le </a:t>
            </a:r>
            <a:r>
              <a:rPr lang="en-US" dirty="0" err="1"/>
              <a:t>reti</a:t>
            </a:r>
            <a:r>
              <a:rPr lang="en-US" dirty="0"/>
              <a:t>. </a:t>
            </a:r>
            <a:r>
              <a:rPr lang="en-US" dirty="0" err="1"/>
              <a:t>È</a:t>
            </a:r>
            <a:r>
              <a:rPr lang="en-US" dirty="0"/>
              <a:t> un </a:t>
            </a:r>
            <a:r>
              <a:rPr lang="en-US" dirty="0" err="1"/>
              <a:t>valore</a:t>
            </a:r>
            <a:r>
              <a:rPr lang="en-US" dirty="0"/>
              <a:t> piccolo — </a:t>
            </a:r>
            <a:r>
              <a:rPr lang="en-US" dirty="0" err="1"/>
              <a:t>più</a:t>
            </a:r>
            <a:r>
              <a:rPr lang="en-US" dirty="0"/>
              <a:t> piccolo del </a:t>
            </a:r>
            <a:r>
              <a:rPr lang="en-US" dirty="0" err="1"/>
              <a:t>solito</a:t>
            </a:r>
            <a:r>
              <a:rPr lang="en-US" dirty="0"/>
              <a:t> per le </a:t>
            </a:r>
            <a:r>
              <a:rPr lang="en-US" dirty="0" err="1"/>
              <a:t>reti</a:t>
            </a:r>
            <a:r>
              <a:rPr lang="en-US" dirty="0"/>
              <a:t> </a:t>
            </a:r>
            <a:r>
              <a:rPr lang="en-US" dirty="0" err="1"/>
              <a:t>neurali</a:t>
            </a:r>
            <a:r>
              <a:rPr lang="en-US" dirty="0"/>
              <a:t> (dove 1e-3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comune</a:t>
            </a:r>
            <a:r>
              <a:rPr lang="en-US" dirty="0"/>
              <a:t>) — </a:t>
            </a:r>
            <a:r>
              <a:rPr lang="en-US" dirty="0" err="1"/>
              <a:t>perché</a:t>
            </a:r>
            <a:r>
              <a:rPr lang="en-US" dirty="0"/>
              <a:t> DDPG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notoriamente</a:t>
            </a:r>
            <a:r>
              <a:rPr lang="en-US" dirty="0"/>
              <a:t> </a:t>
            </a:r>
            <a:r>
              <a:rPr lang="en-US" dirty="0" err="1"/>
              <a:t>instabile</a:t>
            </a:r>
            <a:r>
              <a:rPr lang="en-US" dirty="0"/>
              <a:t> e learning rate alti </a:t>
            </a:r>
            <a:r>
              <a:rPr lang="en-US" dirty="0" err="1"/>
              <a:t>causano</a:t>
            </a:r>
            <a:r>
              <a:rPr lang="en-US" dirty="0"/>
              <a:t> </a:t>
            </a:r>
            <a:r>
              <a:rPr lang="en-US" dirty="0" err="1"/>
              <a:t>oscillazioni</a:t>
            </a:r>
            <a:r>
              <a:rPr lang="en-US" dirty="0"/>
              <a:t> </a:t>
            </a:r>
            <a:r>
              <a:rPr lang="en-US" dirty="0" err="1"/>
              <a:t>divergenti</a:t>
            </a:r>
            <a:r>
              <a:rPr lang="en-US" dirty="0"/>
              <a:t>. Si </a:t>
            </a:r>
            <a:r>
              <a:rPr lang="en-US" dirty="0" err="1"/>
              <a:t>usano</a:t>
            </a:r>
            <a:r>
              <a:rPr lang="en-US" dirty="0"/>
              <a:t> </a:t>
            </a:r>
            <a:r>
              <a:rPr lang="en-US" dirty="0" err="1"/>
              <a:t>spesso</a:t>
            </a:r>
            <a:r>
              <a:rPr lang="en-US" dirty="0"/>
              <a:t> learning rate </a:t>
            </a:r>
            <a:r>
              <a:rPr lang="en-US" dirty="0" err="1"/>
              <a:t>diversi</a:t>
            </a:r>
            <a:r>
              <a:rPr lang="en-US" dirty="0"/>
              <a:t> per Actor e Critic (es. Actor: 1e-4, Critic: 1e-3).</a:t>
            </a:r>
          </a:p>
          <a:p>
            <a:r>
              <a:rPr lang="en-US" b="1" dirty="0"/>
              <a:t>Replay buffer 50K+.</a:t>
            </a:r>
            <a:r>
              <a:rPr lang="en-US" dirty="0"/>
              <a:t> </a:t>
            </a:r>
            <a:r>
              <a:rPr lang="en-US" dirty="0" err="1"/>
              <a:t>All'inizio</a:t>
            </a:r>
            <a:r>
              <a:rPr lang="en-US" dirty="0"/>
              <a:t> del training (</a:t>
            </a:r>
            <a:r>
              <a:rPr lang="en-US" dirty="0" err="1"/>
              <a:t>finché</a:t>
            </a:r>
            <a:r>
              <a:rPr lang="en-US" dirty="0"/>
              <a:t> il buffer non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pieno</a:t>
            </a:r>
            <a:r>
              <a:rPr lang="en-US" dirty="0"/>
              <a:t>) non </a:t>
            </a:r>
            <a:r>
              <a:rPr lang="en-US" dirty="0" err="1"/>
              <a:t>si</a:t>
            </a:r>
            <a:r>
              <a:rPr lang="en-US" dirty="0"/>
              <a:t> fa </a:t>
            </a:r>
            <a:r>
              <a:rPr lang="en-US" dirty="0" err="1"/>
              <a:t>nessun</a:t>
            </a:r>
            <a:r>
              <a:rPr lang="en-US" dirty="0"/>
              <a:t> aggiornamento di rete —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raccolgono</a:t>
            </a:r>
            <a:r>
              <a:rPr lang="en-US" dirty="0"/>
              <a:t> solo </a:t>
            </a:r>
            <a:r>
              <a:rPr lang="en-US" dirty="0" err="1"/>
              <a:t>esperienze</a:t>
            </a:r>
            <a:r>
              <a:rPr lang="en-US" dirty="0"/>
              <a:t> con la policy </a:t>
            </a:r>
            <a:r>
              <a:rPr lang="en-US" dirty="0" err="1"/>
              <a:t>casuale</a:t>
            </a:r>
            <a:r>
              <a:rPr lang="en-US" dirty="0"/>
              <a:t> (pura </a:t>
            </a:r>
            <a:r>
              <a:rPr lang="en-US" dirty="0" err="1"/>
              <a:t>esplorazione</a:t>
            </a:r>
            <a:r>
              <a:rPr lang="en-US" dirty="0"/>
              <a:t>). Solo </a:t>
            </a:r>
            <a:r>
              <a:rPr lang="en-US" dirty="0" err="1"/>
              <a:t>quando</a:t>
            </a:r>
            <a:r>
              <a:rPr lang="en-US" dirty="0"/>
              <a:t> il buffer </a:t>
            </a:r>
            <a:r>
              <a:rPr lang="en-US" dirty="0" err="1"/>
              <a:t>raggiunge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dimensione</a:t>
            </a:r>
            <a:r>
              <a:rPr lang="en-US" dirty="0"/>
              <a:t> minima (es. 10K </a:t>
            </a:r>
            <a:r>
              <a:rPr lang="en-US" dirty="0" err="1"/>
              <a:t>transizioni</a:t>
            </a:r>
            <a:r>
              <a:rPr lang="en-US" dirty="0"/>
              <a:t>)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inizia</a:t>
            </a:r>
            <a:r>
              <a:rPr lang="en-US" dirty="0"/>
              <a:t> il training. Con buffer </a:t>
            </a:r>
            <a:r>
              <a:rPr lang="en-US" dirty="0" err="1"/>
              <a:t>troppo</a:t>
            </a:r>
            <a:r>
              <a:rPr lang="en-US" dirty="0"/>
              <a:t> </a:t>
            </a:r>
            <a:r>
              <a:rPr lang="en-US" dirty="0" err="1"/>
              <a:t>piccoli</a:t>
            </a:r>
            <a:r>
              <a:rPr lang="en-US" dirty="0"/>
              <a:t>, </a:t>
            </a:r>
            <a:r>
              <a:rPr lang="en-US" dirty="0" err="1"/>
              <a:t>l'agente</a:t>
            </a:r>
            <a:r>
              <a:rPr lang="en-US" dirty="0"/>
              <a:t> </a:t>
            </a:r>
            <a:r>
              <a:rPr lang="en-US" dirty="0" err="1"/>
              <a:t>campiona</a:t>
            </a:r>
            <a:r>
              <a:rPr lang="en-US" dirty="0"/>
              <a:t> sempre le </a:t>
            </a:r>
            <a:r>
              <a:rPr lang="en-US" dirty="0" err="1"/>
              <a:t>stesse</a:t>
            </a:r>
            <a:r>
              <a:rPr lang="en-US" dirty="0"/>
              <a:t> </a:t>
            </a:r>
            <a:r>
              <a:rPr lang="en-US" dirty="0" err="1"/>
              <a:t>esperienze</a:t>
            </a:r>
            <a:r>
              <a:rPr lang="en-US" dirty="0"/>
              <a:t> </a:t>
            </a:r>
            <a:r>
              <a:rPr lang="en-US" dirty="0" err="1"/>
              <a:t>recenti</a:t>
            </a:r>
            <a:r>
              <a:rPr lang="en-US" dirty="0"/>
              <a:t> e "</a:t>
            </a:r>
            <a:r>
              <a:rPr lang="en-US" dirty="0" err="1"/>
              <a:t>dimentica</a:t>
            </a:r>
            <a:r>
              <a:rPr lang="en-US" dirty="0"/>
              <a:t>" </a:t>
            </a:r>
            <a:r>
              <a:rPr lang="en-US" dirty="0" err="1"/>
              <a:t>troppo</a:t>
            </a:r>
            <a:r>
              <a:rPr lang="en-US" dirty="0"/>
              <a:t> in </a:t>
            </a:r>
            <a:r>
              <a:rPr lang="en-US" dirty="0" err="1"/>
              <a:t>fretta</a:t>
            </a:r>
            <a:r>
              <a:rPr lang="en-US" dirty="0"/>
              <a:t>.</a:t>
            </a:r>
          </a:p>
          <a:p>
            <a:r>
              <a:rPr lang="el-GR" b="1" dirty="0"/>
              <a:t>γ = 0.95.</a:t>
            </a:r>
            <a:r>
              <a:rPr lang="el-GR" dirty="0"/>
              <a:t> </a:t>
            </a:r>
            <a:r>
              <a:rPr lang="en-US" dirty="0"/>
              <a:t>Per TORCS, </a:t>
            </a:r>
            <a:r>
              <a:rPr lang="en-US" dirty="0" err="1"/>
              <a:t>questo</a:t>
            </a:r>
            <a:r>
              <a:rPr lang="en-US" dirty="0"/>
              <a:t> </a:t>
            </a:r>
            <a:r>
              <a:rPr lang="en-US" dirty="0" err="1"/>
              <a:t>significa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il reward </a:t>
            </a:r>
            <a:r>
              <a:rPr lang="en-US" dirty="0" err="1"/>
              <a:t>tra</a:t>
            </a:r>
            <a:r>
              <a:rPr lang="en-US" dirty="0"/>
              <a:t> 20 step ha peso (0.95)^20 ≈ 0.36. Un </a:t>
            </a:r>
            <a:r>
              <a:rPr lang="en-US" dirty="0" err="1"/>
              <a:t>passo</a:t>
            </a:r>
            <a:r>
              <a:rPr lang="en-US" dirty="0"/>
              <a:t> di </a:t>
            </a:r>
            <a:r>
              <a:rPr lang="en-US" dirty="0" err="1"/>
              <a:t>simulazione</a:t>
            </a:r>
            <a:r>
              <a:rPr lang="en-US" dirty="0"/>
              <a:t> TORCS dura circa 20ms, </a:t>
            </a:r>
            <a:r>
              <a:rPr lang="en-US" dirty="0" err="1"/>
              <a:t>quindi</a:t>
            </a:r>
            <a:r>
              <a:rPr lang="en-US" dirty="0"/>
              <a:t> 20 step </a:t>
            </a:r>
            <a:r>
              <a:rPr lang="en-US" dirty="0" err="1"/>
              <a:t>sono</a:t>
            </a:r>
            <a:r>
              <a:rPr lang="en-US" dirty="0"/>
              <a:t> 400ms. Con </a:t>
            </a:r>
            <a:r>
              <a:rPr lang="el-GR" dirty="0"/>
              <a:t>γ=0.95, </a:t>
            </a:r>
            <a:r>
              <a:rPr lang="en-US" dirty="0" err="1"/>
              <a:t>l'agente</a:t>
            </a:r>
            <a:r>
              <a:rPr lang="en-US" dirty="0"/>
              <a:t> "</a:t>
            </a:r>
            <a:r>
              <a:rPr lang="en-US" dirty="0" err="1"/>
              <a:t>guarda</a:t>
            </a:r>
            <a:r>
              <a:rPr lang="en-US" dirty="0"/>
              <a:t> avanti" circa 1–2 secondi — </a:t>
            </a:r>
            <a:r>
              <a:rPr lang="en-US" dirty="0" err="1"/>
              <a:t>abbastanza</a:t>
            </a:r>
            <a:r>
              <a:rPr lang="en-US" dirty="0"/>
              <a:t> per </a:t>
            </a:r>
            <a:r>
              <a:rPr lang="en-US" dirty="0" err="1"/>
              <a:t>anticipare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curva ma non </a:t>
            </a:r>
            <a:r>
              <a:rPr lang="en-US" dirty="0" err="1"/>
              <a:t>così</a:t>
            </a:r>
            <a:r>
              <a:rPr lang="en-US" dirty="0"/>
              <a:t> tanto da </a:t>
            </a:r>
            <a:r>
              <a:rPr lang="en-US" dirty="0" err="1"/>
              <a:t>rendere</a:t>
            </a:r>
            <a:r>
              <a:rPr lang="en-US" dirty="0"/>
              <a:t> il training </a:t>
            </a:r>
            <a:r>
              <a:rPr lang="en-US" dirty="0" err="1"/>
              <a:t>instabile</a:t>
            </a:r>
            <a:r>
              <a:rPr lang="en-US" dirty="0"/>
              <a:t>.</a:t>
            </a:r>
          </a:p>
          <a:p>
            <a:r>
              <a:rPr lang="en-US" dirty="0" err="1"/>
              <a:t>Spesso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fanno</a:t>
            </a:r>
            <a:r>
              <a:rPr lang="en-US" dirty="0"/>
              <a:t> </a:t>
            </a:r>
            <a:r>
              <a:rPr lang="en-US" dirty="0" err="1"/>
              <a:t>anche</a:t>
            </a:r>
            <a:r>
              <a:rPr lang="en-US" dirty="0"/>
              <a:t> </a:t>
            </a:r>
            <a:r>
              <a:rPr lang="en-US" b="1" dirty="0"/>
              <a:t>multiple updates per timestep</a:t>
            </a:r>
            <a:r>
              <a:rPr lang="en-US" dirty="0"/>
              <a:t> (es. 1 step di </a:t>
            </a:r>
            <a:r>
              <a:rPr lang="en-US" dirty="0" err="1"/>
              <a:t>simulazione</a:t>
            </a:r>
            <a:r>
              <a:rPr lang="en-US" dirty="0"/>
              <a:t> → 10 aggiornamenti della rete), per </a:t>
            </a:r>
            <a:r>
              <a:rPr lang="en-US" dirty="0" err="1"/>
              <a:t>usare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efficacemente</a:t>
            </a:r>
            <a:r>
              <a:rPr lang="en-US" dirty="0"/>
              <a:t> il replay buffer.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PPO (Schulman et al., OpenAI, 2017)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forse</a:t>
            </a:r>
            <a:r>
              <a:rPr lang="en-US" dirty="0"/>
              <a:t> </a:t>
            </a:r>
            <a:r>
              <a:rPr lang="en-US" dirty="0" err="1"/>
              <a:t>l'algoritmo</a:t>
            </a:r>
            <a:r>
              <a:rPr lang="en-US" dirty="0"/>
              <a:t> di RL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usato</a:t>
            </a:r>
            <a:r>
              <a:rPr lang="en-US" dirty="0"/>
              <a:t> </a:t>
            </a:r>
            <a:r>
              <a:rPr lang="en-US" dirty="0" err="1"/>
              <a:t>oggi</a:t>
            </a:r>
            <a:r>
              <a:rPr lang="en-US" dirty="0"/>
              <a:t> in </a:t>
            </a:r>
            <a:r>
              <a:rPr lang="en-US" dirty="0" err="1"/>
              <a:t>pratica</a:t>
            </a:r>
            <a:r>
              <a:rPr lang="en-US" dirty="0"/>
              <a:t>, in </a:t>
            </a:r>
            <a:r>
              <a:rPr lang="en-US" dirty="0" err="1"/>
              <a:t>applicazioni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vanno</a:t>
            </a:r>
            <a:r>
              <a:rPr lang="en-US" dirty="0"/>
              <a:t> </a:t>
            </a:r>
            <a:r>
              <a:rPr lang="en-US" dirty="0" err="1"/>
              <a:t>dalla</a:t>
            </a:r>
            <a:r>
              <a:rPr lang="en-US" dirty="0"/>
              <a:t> </a:t>
            </a:r>
            <a:r>
              <a:rPr lang="en-US" dirty="0" err="1"/>
              <a:t>robotica</a:t>
            </a:r>
            <a:r>
              <a:rPr lang="en-US" dirty="0"/>
              <a:t> ai Large Language Models (ChatGPT </a:t>
            </a:r>
            <a:r>
              <a:rPr lang="en-US" dirty="0" err="1"/>
              <a:t>usa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versione</a:t>
            </a:r>
            <a:r>
              <a:rPr lang="en-US" dirty="0"/>
              <a:t> di PPO </a:t>
            </a:r>
            <a:r>
              <a:rPr lang="en-US" dirty="0" err="1"/>
              <a:t>nell'RLHF</a:t>
            </a:r>
            <a:r>
              <a:rPr lang="en-US" dirty="0"/>
              <a:t>).</a:t>
            </a:r>
          </a:p>
          <a:p>
            <a:r>
              <a:rPr lang="en-US" dirty="0"/>
              <a:t>PPO </a:t>
            </a:r>
            <a:r>
              <a:rPr lang="en-US" dirty="0" err="1"/>
              <a:t>è</a:t>
            </a:r>
            <a:r>
              <a:rPr lang="en-US" dirty="0"/>
              <a:t> un </a:t>
            </a:r>
            <a:r>
              <a:rPr lang="en-US" dirty="0" err="1"/>
              <a:t>algoritmo</a:t>
            </a:r>
            <a:r>
              <a:rPr lang="en-US" dirty="0"/>
              <a:t> </a:t>
            </a:r>
            <a:r>
              <a:rPr lang="en-US" i="1" dirty="0"/>
              <a:t>on-policy</a:t>
            </a:r>
            <a:r>
              <a:rPr lang="en-US" dirty="0"/>
              <a:t>: a </a:t>
            </a:r>
            <a:r>
              <a:rPr lang="en-US" dirty="0" err="1"/>
              <a:t>differenza</a:t>
            </a:r>
            <a:r>
              <a:rPr lang="en-US" dirty="0"/>
              <a:t> di DDPG, </a:t>
            </a:r>
            <a:r>
              <a:rPr lang="en-US" dirty="0" err="1"/>
              <a:t>impara</a:t>
            </a:r>
            <a:r>
              <a:rPr lang="en-US" dirty="0"/>
              <a:t> solo </a:t>
            </a:r>
            <a:r>
              <a:rPr lang="en-US" dirty="0" err="1"/>
              <a:t>dalle</a:t>
            </a:r>
            <a:r>
              <a:rPr lang="en-US" dirty="0"/>
              <a:t> </a:t>
            </a:r>
            <a:r>
              <a:rPr lang="en-US" dirty="0" err="1"/>
              <a:t>esperienze</a:t>
            </a:r>
            <a:r>
              <a:rPr lang="en-US" dirty="0"/>
              <a:t> </a:t>
            </a:r>
            <a:r>
              <a:rPr lang="en-US" dirty="0" err="1"/>
              <a:t>raccolte</a:t>
            </a:r>
            <a:r>
              <a:rPr lang="en-US" dirty="0"/>
              <a:t> con la policy </a:t>
            </a:r>
            <a:r>
              <a:rPr lang="en-US" dirty="0" err="1"/>
              <a:t>attuale</a:t>
            </a:r>
            <a:r>
              <a:rPr lang="en-US" dirty="0"/>
              <a:t>. Non ha replay buffer. Ogni batch di </a:t>
            </a:r>
            <a:r>
              <a:rPr lang="en-US" dirty="0" err="1"/>
              <a:t>esperienze</a:t>
            </a:r>
            <a:r>
              <a:rPr lang="en-US" dirty="0"/>
              <a:t>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usato</a:t>
            </a:r>
            <a:r>
              <a:rPr lang="en-US" dirty="0"/>
              <a:t> per </a:t>
            </a:r>
            <a:r>
              <a:rPr lang="en-US" dirty="0" err="1"/>
              <a:t>alcuni</a:t>
            </a:r>
            <a:r>
              <a:rPr lang="en-US" dirty="0"/>
              <a:t> aggiornamenti e poi </a:t>
            </a:r>
            <a:r>
              <a:rPr lang="en-US" dirty="0" err="1"/>
              <a:t>scartato</a:t>
            </a:r>
            <a:r>
              <a:rPr lang="en-US" dirty="0"/>
              <a:t>.</a:t>
            </a:r>
          </a:p>
          <a:p>
            <a:r>
              <a:rPr lang="en-US" b="1" dirty="0" err="1"/>
              <a:t>L'idea</a:t>
            </a:r>
            <a:r>
              <a:rPr lang="en-US" b="1" dirty="0"/>
              <a:t> del Clipping.</a:t>
            </a:r>
            <a:r>
              <a:rPr lang="en-US" dirty="0"/>
              <a:t> Il </a:t>
            </a:r>
            <a:r>
              <a:rPr lang="en-US" dirty="0" err="1"/>
              <a:t>problema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metodi</a:t>
            </a:r>
            <a:r>
              <a:rPr lang="en-US" dirty="0"/>
              <a:t> di policy gradient </a:t>
            </a:r>
            <a:r>
              <a:rPr lang="en-US" dirty="0" err="1"/>
              <a:t>classici</a:t>
            </a:r>
            <a:r>
              <a:rPr lang="en-US" dirty="0"/>
              <a:t> (come REINFORCE o A3C)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un </a:t>
            </a:r>
            <a:r>
              <a:rPr lang="en-US" dirty="0" err="1"/>
              <a:t>singolo</a:t>
            </a:r>
            <a:r>
              <a:rPr lang="en-US" dirty="0"/>
              <a:t> aggiornamento </a:t>
            </a:r>
            <a:r>
              <a:rPr lang="en-US" dirty="0" err="1"/>
              <a:t>troppo</a:t>
            </a:r>
            <a:r>
              <a:rPr lang="en-US" dirty="0"/>
              <a:t> grande </a:t>
            </a:r>
            <a:r>
              <a:rPr lang="en-US" dirty="0" err="1"/>
              <a:t>può</a:t>
            </a:r>
            <a:r>
              <a:rPr lang="en-US" dirty="0"/>
              <a:t> </a:t>
            </a:r>
            <a:r>
              <a:rPr lang="en-US" dirty="0" err="1"/>
              <a:t>portare</a:t>
            </a:r>
            <a:r>
              <a:rPr lang="en-US" dirty="0"/>
              <a:t> la policy in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regione</a:t>
            </a:r>
            <a:r>
              <a:rPr lang="en-US" dirty="0"/>
              <a:t> molto </a:t>
            </a:r>
            <a:r>
              <a:rPr lang="en-US" dirty="0" err="1"/>
              <a:t>peggiore</a:t>
            </a:r>
            <a:r>
              <a:rPr lang="en-US" dirty="0"/>
              <a:t>, da cui </a:t>
            </a:r>
            <a:r>
              <a:rPr lang="en-US" dirty="0" err="1"/>
              <a:t>è</a:t>
            </a:r>
            <a:r>
              <a:rPr lang="en-US" dirty="0"/>
              <a:t> difficile </a:t>
            </a:r>
            <a:r>
              <a:rPr lang="en-US" dirty="0" err="1"/>
              <a:t>recuperare</a:t>
            </a:r>
            <a:r>
              <a:rPr lang="en-US" dirty="0"/>
              <a:t>. TRPO (predecessor di PPO) </a:t>
            </a:r>
            <a:r>
              <a:rPr lang="en-US" dirty="0" err="1"/>
              <a:t>risolve</a:t>
            </a:r>
            <a:r>
              <a:rPr lang="en-US" dirty="0"/>
              <a:t> </a:t>
            </a:r>
            <a:r>
              <a:rPr lang="en-US" dirty="0" err="1"/>
              <a:t>questo</a:t>
            </a:r>
            <a:r>
              <a:rPr lang="en-US" dirty="0"/>
              <a:t> con un </a:t>
            </a:r>
            <a:r>
              <a:rPr lang="en-US" dirty="0" err="1"/>
              <a:t>vincolo</a:t>
            </a:r>
            <a:r>
              <a:rPr lang="en-US" dirty="0"/>
              <a:t> </a:t>
            </a:r>
            <a:r>
              <a:rPr lang="en-US" dirty="0" err="1"/>
              <a:t>matematico</a:t>
            </a:r>
            <a:r>
              <a:rPr lang="en-US" dirty="0"/>
              <a:t> </a:t>
            </a:r>
            <a:r>
              <a:rPr lang="en-US" dirty="0" err="1"/>
              <a:t>complesso</a:t>
            </a:r>
            <a:r>
              <a:rPr lang="en-US" dirty="0"/>
              <a:t>. PPO </a:t>
            </a:r>
            <a:r>
              <a:rPr lang="en-US" dirty="0" err="1"/>
              <a:t>approssima</a:t>
            </a:r>
            <a:r>
              <a:rPr lang="en-US" dirty="0"/>
              <a:t> </a:t>
            </a:r>
            <a:r>
              <a:rPr lang="en-US" dirty="0" err="1"/>
              <a:t>questo</a:t>
            </a:r>
            <a:r>
              <a:rPr lang="en-US" dirty="0"/>
              <a:t> </a:t>
            </a:r>
            <a:r>
              <a:rPr lang="en-US" dirty="0" err="1"/>
              <a:t>vincolo</a:t>
            </a:r>
            <a:r>
              <a:rPr lang="en-US" dirty="0"/>
              <a:t> con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funzione</a:t>
            </a:r>
            <a:r>
              <a:rPr lang="en-US" dirty="0"/>
              <a:t> </a:t>
            </a:r>
            <a:r>
              <a:rPr lang="en-US" dirty="0" err="1"/>
              <a:t>obiettivo</a:t>
            </a:r>
            <a:r>
              <a:rPr lang="en-US" dirty="0"/>
              <a:t> molto </a:t>
            </a:r>
            <a:r>
              <a:rPr lang="en-US" dirty="0" err="1"/>
              <a:t>più</a:t>
            </a:r>
            <a:r>
              <a:rPr lang="en-US" dirty="0"/>
              <a:t> semplice — il clipping.</a:t>
            </a:r>
          </a:p>
          <a:p>
            <a:r>
              <a:rPr lang="en-US" dirty="0"/>
              <a:t>La </a:t>
            </a:r>
            <a:r>
              <a:rPr lang="en-US" dirty="0" err="1"/>
              <a:t>funzione</a:t>
            </a:r>
            <a:r>
              <a:rPr lang="en-US" dirty="0"/>
              <a:t> </a:t>
            </a:r>
            <a:r>
              <a:rPr lang="en-US" dirty="0" err="1"/>
              <a:t>obiettivo</a:t>
            </a:r>
            <a:r>
              <a:rPr lang="en-US" dirty="0"/>
              <a:t> di PPO </a:t>
            </a:r>
            <a:r>
              <a:rPr lang="en-US" dirty="0" err="1"/>
              <a:t>è</a:t>
            </a:r>
            <a:r>
              <a:rPr lang="en-US" dirty="0"/>
              <a:t>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L(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θ) =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E[min(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r_t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θ)·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A_t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clip(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r_t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θ), 1−ε, 1+ε)·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A_t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)]</a:t>
            </a:r>
          </a:p>
          <a:p>
            <a:r>
              <a:rPr lang="en-US" dirty="0"/>
              <a:t>Dove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r_t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l-G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θ) = </a:t>
            </a:r>
            <a:r>
              <a:rPr lang="el-G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π_θ</a:t>
            </a:r>
            <a:r>
              <a:rPr lang="el-G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a|s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/ </a:t>
            </a:r>
            <a:r>
              <a:rPr lang="el-G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π_θ</a:t>
            </a:r>
            <a:r>
              <a:rPr lang="el-G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old(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a|s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il </a:t>
            </a:r>
            <a:r>
              <a:rPr lang="en-US" dirty="0" err="1"/>
              <a:t>rapporto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la </a:t>
            </a:r>
            <a:r>
              <a:rPr lang="en-US" dirty="0" err="1"/>
              <a:t>probabilità</a:t>
            </a:r>
            <a:r>
              <a:rPr lang="en-US" dirty="0"/>
              <a:t> di </a:t>
            </a:r>
            <a:r>
              <a:rPr lang="en-US" dirty="0" err="1"/>
              <a:t>quell'azione</a:t>
            </a:r>
            <a:r>
              <a:rPr lang="en-US" dirty="0"/>
              <a:t> sotto la </a:t>
            </a:r>
            <a:r>
              <a:rPr lang="en-US" dirty="0" err="1"/>
              <a:t>nuova</a:t>
            </a:r>
            <a:r>
              <a:rPr lang="en-US" dirty="0"/>
              <a:t> policy e sotto </a:t>
            </a:r>
            <a:r>
              <a:rPr lang="en-US" dirty="0" err="1"/>
              <a:t>quella</a:t>
            </a:r>
            <a:r>
              <a:rPr lang="en-US" dirty="0"/>
              <a:t> </a:t>
            </a:r>
            <a:r>
              <a:rPr lang="en-US" dirty="0" err="1"/>
              <a:t>vecchia</a:t>
            </a:r>
            <a:r>
              <a:rPr lang="en-US" dirty="0"/>
              <a:t>, e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A_t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l'</a:t>
            </a:r>
            <a:r>
              <a:rPr lang="en-US" b="1" dirty="0" err="1"/>
              <a:t>advantage</a:t>
            </a:r>
            <a:r>
              <a:rPr lang="en-US" dirty="0"/>
              <a:t> — </a:t>
            </a:r>
            <a:r>
              <a:rPr lang="en-US" dirty="0" err="1"/>
              <a:t>quanto</a:t>
            </a:r>
            <a:r>
              <a:rPr lang="en-US" dirty="0"/>
              <a:t> </a:t>
            </a:r>
            <a:r>
              <a:rPr lang="en-US" dirty="0" err="1"/>
              <a:t>quell'azione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stata</a:t>
            </a:r>
            <a:r>
              <a:rPr lang="en-US" dirty="0"/>
              <a:t> </a:t>
            </a:r>
            <a:r>
              <a:rPr lang="en-US" dirty="0" err="1"/>
              <a:t>migliore</a:t>
            </a:r>
            <a:r>
              <a:rPr lang="en-US" dirty="0"/>
              <a:t> del </a:t>
            </a:r>
            <a:r>
              <a:rPr lang="en-US" dirty="0" err="1"/>
              <a:t>valore</a:t>
            </a:r>
            <a:r>
              <a:rPr lang="en-US" dirty="0"/>
              <a:t> medio </a:t>
            </a:r>
            <a:r>
              <a:rPr lang="en-US" dirty="0" err="1"/>
              <a:t>nello</a:t>
            </a:r>
            <a:r>
              <a:rPr lang="en-US" dirty="0"/>
              <a:t> </a:t>
            </a:r>
            <a:r>
              <a:rPr lang="en-US" dirty="0" err="1"/>
              <a:t>stato</a:t>
            </a:r>
            <a:r>
              <a:rPr lang="en-US" dirty="0"/>
              <a:t> s.</a:t>
            </a:r>
          </a:p>
          <a:p>
            <a:r>
              <a:rPr lang="en-US" dirty="0"/>
              <a:t>Il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clip(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r_t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1−</a:t>
            </a:r>
            <a:r>
              <a:rPr lang="el-G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ε, 1+ε)</a:t>
            </a:r>
            <a:r>
              <a:rPr lang="el-GR" dirty="0"/>
              <a:t> </a:t>
            </a:r>
            <a:r>
              <a:rPr lang="en-US" dirty="0" err="1"/>
              <a:t>taglia</a:t>
            </a:r>
            <a:r>
              <a:rPr lang="en-US" dirty="0"/>
              <a:t> il </a:t>
            </a:r>
            <a:r>
              <a:rPr lang="en-US" dirty="0" err="1"/>
              <a:t>rapporto</a:t>
            </a:r>
            <a:r>
              <a:rPr lang="en-US" dirty="0"/>
              <a:t> in [0.8, 1.2] (con </a:t>
            </a:r>
            <a:r>
              <a:rPr lang="el-GR" dirty="0"/>
              <a:t>ε=0.2). </a:t>
            </a:r>
            <a:r>
              <a:rPr lang="en-US" dirty="0" err="1"/>
              <a:t>Questo</a:t>
            </a:r>
            <a:r>
              <a:rPr lang="en-US" dirty="0"/>
              <a:t> </a:t>
            </a:r>
            <a:r>
              <a:rPr lang="en-US" dirty="0" err="1"/>
              <a:t>significa</a:t>
            </a:r>
            <a:r>
              <a:rPr lang="en-US" dirty="0"/>
              <a:t>: se la </a:t>
            </a:r>
            <a:r>
              <a:rPr lang="en-US" dirty="0" err="1"/>
              <a:t>nuova</a:t>
            </a:r>
            <a:r>
              <a:rPr lang="en-US" dirty="0"/>
              <a:t> policy </a:t>
            </a:r>
            <a:r>
              <a:rPr lang="en-US" dirty="0" err="1"/>
              <a:t>vuole</a:t>
            </a:r>
            <a:r>
              <a:rPr lang="en-US" dirty="0"/>
              <a:t> </a:t>
            </a:r>
            <a:r>
              <a:rPr lang="en-US" dirty="0" err="1"/>
              <a:t>aumentare</a:t>
            </a:r>
            <a:r>
              <a:rPr lang="en-US" dirty="0"/>
              <a:t> di </a:t>
            </a:r>
            <a:r>
              <a:rPr lang="en-US" dirty="0" err="1"/>
              <a:t>troppo</a:t>
            </a:r>
            <a:r>
              <a:rPr lang="en-US" dirty="0"/>
              <a:t> la </a:t>
            </a:r>
            <a:r>
              <a:rPr lang="en-US" dirty="0" err="1"/>
              <a:t>probabilità</a:t>
            </a:r>
            <a:r>
              <a:rPr lang="en-US" dirty="0"/>
              <a:t> di </a:t>
            </a:r>
            <a:r>
              <a:rPr lang="en-US" dirty="0" err="1"/>
              <a:t>un'azione</a:t>
            </a:r>
            <a:r>
              <a:rPr lang="en-US" dirty="0"/>
              <a:t> (</a:t>
            </a:r>
            <a:r>
              <a:rPr lang="en-US" dirty="0" err="1"/>
              <a:t>r_t</a:t>
            </a:r>
            <a:r>
              <a:rPr lang="en-US" dirty="0"/>
              <a:t> &gt; 1.2), </a:t>
            </a:r>
            <a:r>
              <a:rPr lang="en-US" dirty="0" err="1"/>
              <a:t>l'aggiornamento</a:t>
            </a:r>
            <a:r>
              <a:rPr lang="en-US" dirty="0"/>
              <a:t>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bloccato</a:t>
            </a:r>
            <a:r>
              <a:rPr lang="en-US" dirty="0"/>
              <a:t>. Se </a:t>
            </a:r>
            <a:r>
              <a:rPr lang="en-US" dirty="0" err="1"/>
              <a:t>vuole</a:t>
            </a:r>
            <a:r>
              <a:rPr lang="en-US" dirty="0"/>
              <a:t> </a:t>
            </a:r>
            <a:r>
              <a:rPr lang="en-US" dirty="0" err="1"/>
              <a:t>diminuirla</a:t>
            </a:r>
            <a:r>
              <a:rPr lang="en-US" dirty="0"/>
              <a:t> di </a:t>
            </a:r>
            <a:r>
              <a:rPr lang="en-US" dirty="0" err="1"/>
              <a:t>troppo</a:t>
            </a:r>
            <a:r>
              <a:rPr lang="en-US" dirty="0"/>
              <a:t> (</a:t>
            </a:r>
            <a:r>
              <a:rPr lang="en-US" dirty="0" err="1"/>
              <a:t>r_t</a:t>
            </a:r>
            <a:r>
              <a:rPr lang="en-US" dirty="0"/>
              <a:t> &lt; 0.8),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bloccato</a:t>
            </a:r>
            <a:r>
              <a:rPr lang="en-US" dirty="0"/>
              <a:t> </a:t>
            </a:r>
            <a:r>
              <a:rPr lang="en-US" dirty="0" err="1"/>
              <a:t>anche</a:t>
            </a:r>
            <a:r>
              <a:rPr lang="en-US" dirty="0"/>
              <a:t> </a:t>
            </a:r>
            <a:r>
              <a:rPr lang="en-US" dirty="0" err="1"/>
              <a:t>quello</a:t>
            </a:r>
            <a:r>
              <a:rPr lang="en-US" dirty="0"/>
              <a:t>. La policy non </a:t>
            </a:r>
            <a:r>
              <a:rPr lang="en-US" dirty="0" err="1"/>
              <a:t>può</a:t>
            </a:r>
            <a:r>
              <a:rPr lang="en-US" dirty="0"/>
              <a:t> </a:t>
            </a:r>
            <a:r>
              <a:rPr lang="en-US" dirty="0" err="1"/>
              <a:t>cambiare</a:t>
            </a:r>
            <a:r>
              <a:rPr lang="en-US" dirty="0"/>
              <a:t> </a:t>
            </a:r>
            <a:r>
              <a:rPr lang="en-US" dirty="0" err="1"/>
              <a:t>troppo</a:t>
            </a:r>
            <a:r>
              <a:rPr lang="en-US" dirty="0"/>
              <a:t> in un </a:t>
            </a:r>
            <a:r>
              <a:rPr lang="en-US" dirty="0" err="1"/>
              <a:t>singolo</a:t>
            </a:r>
            <a:r>
              <a:rPr lang="en-US" dirty="0"/>
              <a:t> batch.</a:t>
            </a:r>
          </a:p>
          <a:p>
            <a:r>
              <a:rPr lang="en-US" b="1" dirty="0"/>
              <a:t>Policy e Value network.</a:t>
            </a:r>
            <a:r>
              <a:rPr lang="en-US" dirty="0"/>
              <a:t> In PPO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usano</a:t>
            </a:r>
            <a:r>
              <a:rPr lang="en-US" dirty="0"/>
              <a:t> </a:t>
            </a:r>
            <a:r>
              <a:rPr lang="en-US" dirty="0" err="1"/>
              <a:t>tipicamente</a:t>
            </a:r>
            <a:r>
              <a:rPr lang="en-US" dirty="0"/>
              <a:t> due output </a:t>
            </a:r>
            <a:r>
              <a:rPr lang="en-US" dirty="0" err="1"/>
              <a:t>dalla</a:t>
            </a:r>
            <a:r>
              <a:rPr lang="en-US" dirty="0"/>
              <a:t> </a:t>
            </a:r>
            <a:r>
              <a:rPr lang="en-US" dirty="0" err="1"/>
              <a:t>stessa</a:t>
            </a:r>
            <a:r>
              <a:rPr lang="en-US" dirty="0"/>
              <a:t> rete: uno per la policy </a:t>
            </a:r>
            <a:r>
              <a:rPr lang="el-GR" dirty="0"/>
              <a:t>π(</a:t>
            </a:r>
            <a:r>
              <a:rPr lang="en-US" dirty="0" err="1"/>
              <a:t>a|s</a:t>
            </a:r>
            <a:r>
              <a:rPr lang="en-US" dirty="0"/>
              <a:t>) e uno per la </a:t>
            </a:r>
            <a:r>
              <a:rPr lang="en-US" dirty="0" err="1"/>
              <a:t>funzione</a:t>
            </a:r>
            <a:r>
              <a:rPr lang="en-US" dirty="0"/>
              <a:t> di </a:t>
            </a:r>
            <a:r>
              <a:rPr lang="en-US" dirty="0" err="1"/>
              <a:t>valore</a:t>
            </a:r>
            <a:r>
              <a:rPr lang="en-US" dirty="0"/>
              <a:t> V(s). </a:t>
            </a:r>
            <a:r>
              <a:rPr lang="en-US" dirty="0" err="1"/>
              <a:t>Condividendo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layer </a:t>
            </a:r>
            <a:r>
              <a:rPr lang="en-US" dirty="0" err="1"/>
              <a:t>nascosti</a:t>
            </a:r>
            <a:r>
              <a:rPr lang="en-US" dirty="0"/>
              <a:t>, la rete </a:t>
            </a:r>
            <a:r>
              <a:rPr lang="en-US" dirty="0" err="1"/>
              <a:t>impara</a:t>
            </a:r>
            <a:r>
              <a:rPr lang="en-US" dirty="0"/>
              <a:t> </a:t>
            </a:r>
            <a:r>
              <a:rPr lang="en-US" dirty="0" err="1"/>
              <a:t>rappresentazioni</a:t>
            </a:r>
            <a:r>
              <a:rPr lang="en-US" dirty="0"/>
              <a:t> </a:t>
            </a:r>
            <a:r>
              <a:rPr lang="en-US" dirty="0" err="1"/>
              <a:t>utili</a:t>
            </a:r>
            <a:r>
              <a:rPr lang="en-US" dirty="0"/>
              <a:t> per </a:t>
            </a:r>
            <a:r>
              <a:rPr lang="en-US" dirty="0" err="1"/>
              <a:t>entrambi</a:t>
            </a:r>
            <a:r>
              <a:rPr lang="en-US" dirty="0"/>
              <a:t>.</a:t>
            </a:r>
          </a:p>
          <a:p>
            <a:r>
              <a:rPr lang="en-US" b="1" dirty="0"/>
              <a:t>Entropy bonus.</a:t>
            </a:r>
            <a:r>
              <a:rPr lang="en-US" dirty="0"/>
              <a:t> PPO </a:t>
            </a:r>
            <a:r>
              <a:rPr lang="en-US" dirty="0" err="1"/>
              <a:t>aggiunge</a:t>
            </a:r>
            <a:r>
              <a:rPr lang="en-US" dirty="0"/>
              <a:t> </a:t>
            </a:r>
            <a:r>
              <a:rPr lang="en-US" dirty="0" err="1"/>
              <a:t>spesso</a:t>
            </a:r>
            <a:r>
              <a:rPr lang="en-US" dirty="0"/>
              <a:t> un </a:t>
            </a:r>
            <a:r>
              <a:rPr lang="en-US" dirty="0" err="1"/>
              <a:t>termine</a:t>
            </a:r>
            <a:r>
              <a:rPr lang="en-US" dirty="0"/>
              <a:t> di </a:t>
            </a:r>
            <a:r>
              <a:rPr lang="en-US" dirty="0" err="1"/>
              <a:t>entropia</a:t>
            </a:r>
            <a:r>
              <a:rPr lang="en-US" dirty="0"/>
              <a:t> alla loss: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L_total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L_clip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− c_1·L_VF + c_2·S[</a:t>
            </a:r>
            <a:r>
              <a:rPr lang="el-G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π]</a:t>
            </a:r>
            <a:r>
              <a:rPr lang="el-GR" dirty="0"/>
              <a:t>. </a:t>
            </a:r>
            <a:r>
              <a:rPr lang="en-US" dirty="0" err="1"/>
              <a:t>Massimizzare</a:t>
            </a:r>
            <a:r>
              <a:rPr lang="en-US" dirty="0"/>
              <a:t> </a:t>
            </a:r>
            <a:r>
              <a:rPr lang="en-US" dirty="0" err="1"/>
              <a:t>l'entropia</a:t>
            </a:r>
            <a:r>
              <a:rPr lang="en-US" dirty="0"/>
              <a:t> S[</a:t>
            </a:r>
            <a:r>
              <a:rPr lang="el-GR" dirty="0"/>
              <a:t>π] </a:t>
            </a:r>
            <a:r>
              <a:rPr lang="en-US" dirty="0"/>
              <a:t>della policy </a:t>
            </a:r>
            <a:r>
              <a:rPr lang="en-US" dirty="0" err="1"/>
              <a:t>incoraggia</a:t>
            </a:r>
            <a:r>
              <a:rPr lang="en-US" dirty="0"/>
              <a:t> </a:t>
            </a:r>
            <a:r>
              <a:rPr lang="en-US" dirty="0" err="1"/>
              <a:t>l'esplorazione</a:t>
            </a:r>
            <a:r>
              <a:rPr lang="en-US" dirty="0"/>
              <a:t> — </a:t>
            </a:r>
            <a:r>
              <a:rPr lang="en-US" dirty="0" err="1"/>
              <a:t>una</a:t>
            </a:r>
            <a:r>
              <a:rPr lang="en-US" dirty="0"/>
              <a:t> policy con </a:t>
            </a:r>
            <a:r>
              <a:rPr lang="en-US" dirty="0" err="1"/>
              <a:t>alta</a:t>
            </a:r>
            <a:r>
              <a:rPr lang="en-US" dirty="0"/>
              <a:t> </a:t>
            </a:r>
            <a:r>
              <a:rPr lang="en-US" dirty="0" err="1"/>
              <a:t>entropia</a:t>
            </a:r>
            <a:r>
              <a:rPr lang="en-US" dirty="0"/>
              <a:t> </a:t>
            </a:r>
            <a:r>
              <a:rPr lang="en-US" dirty="0" err="1"/>
              <a:t>assegna</a:t>
            </a:r>
            <a:r>
              <a:rPr lang="en-US" dirty="0"/>
              <a:t> </a:t>
            </a:r>
            <a:r>
              <a:rPr lang="en-US" dirty="0" err="1"/>
              <a:t>probabilità</a:t>
            </a:r>
            <a:r>
              <a:rPr lang="en-US" dirty="0"/>
              <a:t> </a:t>
            </a:r>
            <a:r>
              <a:rPr lang="en-US" dirty="0" err="1"/>
              <a:t>simili</a:t>
            </a:r>
            <a:r>
              <a:rPr lang="en-US" dirty="0"/>
              <a:t> a </a:t>
            </a:r>
            <a:r>
              <a:rPr lang="en-US" dirty="0" err="1"/>
              <a:t>molte</a:t>
            </a:r>
            <a:r>
              <a:rPr lang="en-US" dirty="0"/>
              <a:t> </a:t>
            </a:r>
            <a:r>
              <a:rPr lang="en-US" dirty="0" err="1"/>
              <a:t>azioni</a:t>
            </a:r>
            <a:r>
              <a:rPr lang="en-US" dirty="0"/>
              <a:t> (</a:t>
            </a:r>
            <a:r>
              <a:rPr lang="en-US" dirty="0" err="1"/>
              <a:t>è</a:t>
            </a:r>
            <a:r>
              <a:rPr lang="en-US" dirty="0"/>
              <a:t> "</a:t>
            </a:r>
            <a:r>
              <a:rPr lang="en-US" dirty="0" err="1"/>
              <a:t>indecisa</a:t>
            </a:r>
            <a:r>
              <a:rPr lang="en-US" dirty="0"/>
              <a:t>"), </a:t>
            </a:r>
            <a:r>
              <a:rPr lang="en-US" dirty="0" err="1"/>
              <a:t>mentre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con </a:t>
            </a:r>
            <a:r>
              <a:rPr lang="en-US" dirty="0" err="1"/>
              <a:t>bassa</a:t>
            </a:r>
            <a:r>
              <a:rPr lang="en-US" dirty="0"/>
              <a:t> </a:t>
            </a:r>
            <a:r>
              <a:rPr lang="en-US" dirty="0" err="1"/>
              <a:t>entropia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molto </a:t>
            </a:r>
            <a:r>
              <a:rPr lang="en-US" dirty="0" err="1"/>
              <a:t>deterministica</a:t>
            </a:r>
            <a:r>
              <a:rPr lang="en-US" dirty="0"/>
              <a:t>. Il </a:t>
            </a:r>
            <a:r>
              <a:rPr lang="en-US" dirty="0" err="1"/>
              <a:t>termine</a:t>
            </a:r>
            <a:r>
              <a:rPr lang="en-US" dirty="0"/>
              <a:t> </a:t>
            </a:r>
            <a:r>
              <a:rPr lang="en-US" dirty="0" err="1"/>
              <a:t>entropico</a:t>
            </a:r>
            <a:r>
              <a:rPr lang="en-US" dirty="0"/>
              <a:t> </a:t>
            </a:r>
            <a:r>
              <a:rPr lang="en-US" dirty="0" err="1"/>
              <a:t>impedisce</a:t>
            </a:r>
            <a:r>
              <a:rPr lang="en-US" dirty="0"/>
              <a:t> alla policy di </a:t>
            </a:r>
            <a:r>
              <a:rPr lang="en-US" dirty="0" err="1"/>
              <a:t>collassare</a:t>
            </a:r>
            <a:r>
              <a:rPr lang="en-US" dirty="0"/>
              <a:t> </a:t>
            </a:r>
            <a:r>
              <a:rPr lang="en-US" dirty="0" err="1"/>
              <a:t>prematuramente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un'azione</a:t>
            </a:r>
            <a:r>
              <a:rPr lang="en-US" dirty="0"/>
              <a:t> sola.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Stable-Baselines3 (SB3)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libreria</a:t>
            </a:r>
            <a:r>
              <a:rPr lang="en-US" dirty="0"/>
              <a:t> Python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implementa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principali</a:t>
            </a:r>
            <a:r>
              <a:rPr lang="en-US" dirty="0"/>
              <a:t> </a:t>
            </a:r>
            <a:r>
              <a:rPr lang="en-US" dirty="0" err="1"/>
              <a:t>algoritmi</a:t>
            </a:r>
            <a:r>
              <a:rPr lang="en-US" dirty="0"/>
              <a:t> di Deep RL (PPO, SAC, DDPG, TD3, A2C) con </a:t>
            </a:r>
            <a:r>
              <a:rPr lang="en-US" dirty="0" err="1"/>
              <a:t>un'interfaccia</a:t>
            </a:r>
            <a:r>
              <a:rPr lang="en-US" dirty="0"/>
              <a:t> </a:t>
            </a:r>
            <a:r>
              <a:rPr lang="en-US" dirty="0" err="1"/>
              <a:t>unificata</a:t>
            </a:r>
            <a:r>
              <a:rPr lang="en-US" dirty="0"/>
              <a:t> e ben testata. </a:t>
            </a:r>
            <a:r>
              <a:rPr lang="en-US" dirty="0" err="1"/>
              <a:t>È</a:t>
            </a:r>
            <a:r>
              <a:rPr lang="en-US" dirty="0"/>
              <a:t> la </a:t>
            </a:r>
            <a:r>
              <a:rPr lang="en-US" dirty="0" err="1"/>
              <a:t>libreria</a:t>
            </a:r>
            <a:r>
              <a:rPr lang="en-US" dirty="0"/>
              <a:t> di </a:t>
            </a:r>
            <a:r>
              <a:rPr lang="en-US" dirty="0" err="1"/>
              <a:t>riferimento</a:t>
            </a:r>
            <a:r>
              <a:rPr lang="en-US" dirty="0"/>
              <a:t> per chi </a:t>
            </a:r>
            <a:r>
              <a:rPr lang="en-US" dirty="0" err="1"/>
              <a:t>vuole</a:t>
            </a:r>
            <a:r>
              <a:rPr lang="en-US" dirty="0"/>
              <a:t> </a:t>
            </a:r>
            <a:r>
              <a:rPr lang="en-US" dirty="0" err="1"/>
              <a:t>usare</a:t>
            </a:r>
            <a:r>
              <a:rPr lang="en-US" dirty="0"/>
              <a:t> RL senza </a:t>
            </a:r>
            <a:r>
              <a:rPr lang="en-US" dirty="0" err="1"/>
              <a:t>implementare</a:t>
            </a:r>
            <a:r>
              <a:rPr lang="en-US" dirty="0"/>
              <a:t> </a:t>
            </a:r>
            <a:r>
              <a:rPr lang="en-US" dirty="0" err="1"/>
              <a:t>tutto</a:t>
            </a:r>
            <a:r>
              <a:rPr lang="en-US" dirty="0"/>
              <a:t> da zero.</a:t>
            </a:r>
          </a:p>
          <a:p>
            <a:r>
              <a:rPr lang="en-US" dirty="0" err="1"/>
              <a:t>Analizziamo</a:t>
            </a:r>
            <a:r>
              <a:rPr lang="en-US" dirty="0"/>
              <a:t> il </a:t>
            </a:r>
            <a:r>
              <a:rPr lang="en-US" dirty="0" err="1"/>
              <a:t>codice</a:t>
            </a:r>
            <a:r>
              <a:rPr lang="en-US" dirty="0"/>
              <a:t>:</a:t>
            </a:r>
          </a:p>
          <a:p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TorcsEnv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(throttle=True,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gear_change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=False)</a:t>
            </a:r>
            <a:r>
              <a:rPr lang="en-US" dirty="0"/>
              <a:t> — </a:t>
            </a:r>
            <a:r>
              <a:rPr lang="en-US" dirty="0" err="1"/>
              <a:t>crea</a:t>
            </a:r>
            <a:r>
              <a:rPr lang="en-US" dirty="0"/>
              <a:t> </a:t>
            </a:r>
            <a:r>
              <a:rPr lang="en-US" dirty="0" err="1"/>
              <a:t>l'ambiente</a:t>
            </a:r>
            <a:r>
              <a:rPr lang="en-US" dirty="0"/>
              <a:t> TORCS.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throttle=True</a:t>
            </a:r>
            <a:r>
              <a:rPr lang="en-US" dirty="0"/>
              <a:t> </a:t>
            </a:r>
            <a:r>
              <a:rPr lang="en-US" dirty="0" err="1"/>
              <a:t>significa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l'agente</a:t>
            </a:r>
            <a:r>
              <a:rPr lang="en-US" dirty="0"/>
              <a:t> </a:t>
            </a:r>
            <a:r>
              <a:rPr lang="en-US" dirty="0" err="1"/>
              <a:t>controlla</a:t>
            </a:r>
            <a:r>
              <a:rPr lang="en-US" dirty="0"/>
              <a:t> </a:t>
            </a:r>
            <a:r>
              <a:rPr lang="en-US" dirty="0" err="1"/>
              <a:t>anche</a:t>
            </a:r>
            <a:r>
              <a:rPr lang="en-US" dirty="0"/>
              <a:t> </a:t>
            </a:r>
            <a:r>
              <a:rPr lang="en-US" dirty="0" err="1"/>
              <a:t>l'acceleratore</a:t>
            </a:r>
            <a:r>
              <a:rPr lang="en-US" dirty="0"/>
              <a:t> (non solo lo </a:t>
            </a:r>
            <a:r>
              <a:rPr lang="en-US" dirty="0" err="1"/>
              <a:t>sterzo</a:t>
            </a:r>
            <a:r>
              <a:rPr lang="en-US" dirty="0"/>
              <a:t>).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gear_change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=False</a:t>
            </a:r>
            <a:r>
              <a:rPr lang="en-US" dirty="0"/>
              <a:t> </a:t>
            </a:r>
            <a:r>
              <a:rPr lang="en-US" dirty="0" err="1"/>
              <a:t>significa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il </a:t>
            </a:r>
            <a:r>
              <a:rPr lang="en-US" dirty="0" err="1"/>
              <a:t>cambio</a:t>
            </a:r>
            <a:r>
              <a:rPr lang="en-US" dirty="0"/>
              <a:t> marcia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automatico</a:t>
            </a:r>
            <a:r>
              <a:rPr lang="en-US" dirty="0"/>
              <a:t>.</a:t>
            </a:r>
          </a:p>
          <a:p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PPO('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MlpPolicy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', env, ...)</a:t>
            </a:r>
            <a:r>
              <a:rPr lang="en-US" dirty="0"/>
              <a:t> — </a:t>
            </a:r>
            <a:r>
              <a:rPr lang="en-US" dirty="0" err="1"/>
              <a:t>crea</a:t>
            </a:r>
            <a:r>
              <a:rPr lang="en-US" dirty="0"/>
              <a:t> un </a:t>
            </a:r>
            <a:r>
              <a:rPr lang="en-US" dirty="0" err="1"/>
              <a:t>agente</a:t>
            </a:r>
            <a:r>
              <a:rPr lang="en-US" dirty="0"/>
              <a:t> PPO con </a:t>
            </a:r>
            <a:r>
              <a:rPr lang="en-US" dirty="0" err="1"/>
              <a:t>una</a:t>
            </a:r>
            <a:r>
              <a:rPr lang="en-US" dirty="0"/>
              <a:t> policy MLP (Multi-Layer Perceptron) standard. SB3 ha diverse policy </a:t>
            </a:r>
            <a:r>
              <a:rPr lang="en-US" dirty="0" err="1"/>
              <a:t>predefinite</a:t>
            </a:r>
            <a:r>
              <a:rPr lang="en-US" dirty="0"/>
              <a:t>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MlpPolicy</a:t>
            </a:r>
            <a:r>
              <a:rPr lang="en-US" dirty="0"/>
              <a:t> per input </a:t>
            </a:r>
            <a:r>
              <a:rPr lang="en-US" dirty="0" err="1"/>
              <a:t>vettoriali</a:t>
            </a:r>
            <a:r>
              <a:rPr lang="en-US" dirty="0"/>
              <a:t> (</a:t>
            </a:r>
            <a:r>
              <a:rPr lang="en-US" dirty="0" err="1"/>
              <a:t>sensori</a:t>
            </a:r>
            <a:r>
              <a:rPr lang="en-US" dirty="0"/>
              <a:t>),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CnnPolicy</a:t>
            </a:r>
            <a:r>
              <a:rPr lang="en-US" dirty="0"/>
              <a:t> per </a:t>
            </a:r>
            <a:r>
              <a:rPr lang="en-US" dirty="0" err="1"/>
              <a:t>immagini</a:t>
            </a:r>
            <a:r>
              <a:rPr lang="en-US" dirty="0"/>
              <a:t> (frame di </a:t>
            </a:r>
            <a:r>
              <a:rPr lang="en-US" dirty="0" err="1"/>
              <a:t>gioco</a:t>
            </a:r>
            <a:r>
              <a:rPr lang="en-US" dirty="0"/>
              <a:t>),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MultiInputPolicy</a:t>
            </a:r>
            <a:r>
              <a:rPr lang="en-US" dirty="0"/>
              <a:t> per input </a:t>
            </a:r>
            <a:r>
              <a:rPr lang="en-US" dirty="0" err="1"/>
              <a:t>misti</a:t>
            </a:r>
            <a:r>
              <a:rPr lang="en-US" dirty="0"/>
              <a:t>.</a:t>
            </a:r>
          </a:p>
          <a:p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learning_rate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=3e-4</a:t>
            </a:r>
            <a:r>
              <a:rPr lang="en-US" dirty="0"/>
              <a:t> — </a:t>
            </a:r>
            <a:r>
              <a:rPr lang="en-US" dirty="0" err="1"/>
              <a:t>questo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il </a:t>
            </a:r>
            <a:r>
              <a:rPr lang="en-US" dirty="0" err="1"/>
              <a:t>valore</a:t>
            </a:r>
            <a:r>
              <a:rPr lang="en-US" dirty="0"/>
              <a:t> di default di PPO in SB3 ed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generalmente</a:t>
            </a:r>
            <a:r>
              <a:rPr lang="en-US" dirty="0"/>
              <a:t> un buon punto di </a:t>
            </a:r>
            <a:r>
              <a:rPr lang="en-US" dirty="0" err="1"/>
              <a:t>partenza</a:t>
            </a:r>
            <a:r>
              <a:rPr lang="en-US" dirty="0"/>
              <a:t>.</a:t>
            </a:r>
          </a:p>
          <a:p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n_steps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=2048</a:t>
            </a:r>
            <a:r>
              <a:rPr lang="en-US" dirty="0"/>
              <a:t> — </a:t>
            </a:r>
            <a:r>
              <a:rPr lang="en-US" dirty="0" err="1"/>
              <a:t>quanti</a:t>
            </a:r>
            <a:r>
              <a:rPr lang="en-US" dirty="0"/>
              <a:t> step di </a:t>
            </a:r>
            <a:r>
              <a:rPr lang="en-US" dirty="0" err="1"/>
              <a:t>simulazione</a:t>
            </a:r>
            <a:r>
              <a:rPr lang="en-US" dirty="0"/>
              <a:t> </a:t>
            </a:r>
            <a:r>
              <a:rPr lang="en-US" dirty="0" err="1"/>
              <a:t>raccogliete</a:t>
            </a:r>
            <a:r>
              <a:rPr lang="en-US" dirty="0"/>
              <a:t> prima di ogni aggiornamento. Con </a:t>
            </a:r>
            <a:r>
              <a:rPr lang="en-US" dirty="0" err="1"/>
              <a:t>n_steps</a:t>
            </a:r>
            <a:r>
              <a:rPr lang="en-US" dirty="0"/>
              <a:t>=2048 e </a:t>
            </a:r>
            <a:r>
              <a:rPr lang="en-US" dirty="0" err="1"/>
              <a:t>batch_size</a:t>
            </a:r>
            <a:r>
              <a:rPr lang="en-US" dirty="0"/>
              <a:t>=64, </a:t>
            </a:r>
            <a:r>
              <a:rPr lang="en-US" dirty="0" err="1"/>
              <a:t>avrete</a:t>
            </a:r>
            <a:r>
              <a:rPr lang="en-US" dirty="0"/>
              <a:t> 2048/64 = 32 mini-batch per ogni aggiornamento.</a:t>
            </a:r>
          </a:p>
          <a:p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n_epochs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=10</a:t>
            </a:r>
            <a:r>
              <a:rPr lang="en-US" dirty="0"/>
              <a:t> — </a:t>
            </a:r>
            <a:r>
              <a:rPr lang="en-US" dirty="0" err="1"/>
              <a:t>quante</a:t>
            </a:r>
            <a:r>
              <a:rPr lang="en-US" dirty="0"/>
              <a:t> volte </a:t>
            </a:r>
            <a:r>
              <a:rPr lang="en-US" dirty="0" err="1"/>
              <a:t>rielaborate</a:t>
            </a:r>
            <a:r>
              <a:rPr lang="en-US" dirty="0"/>
              <a:t> lo </a:t>
            </a:r>
            <a:r>
              <a:rPr lang="en-US" dirty="0" err="1"/>
              <a:t>stesso</a:t>
            </a:r>
            <a:r>
              <a:rPr lang="en-US" dirty="0"/>
              <a:t> batch. PPO </a:t>
            </a:r>
            <a:r>
              <a:rPr lang="en-US" dirty="0" err="1"/>
              <a:t>può</a:t>
            </a:r>
            <a:r>
              <a:rPr lang="en-US" dirty="0"/>
              <a:t> </a:t>
            </a:r>
            <a:r>
              <a:rPr lang="en-US" dirty="0" err="1"/>
              <a:t>riusare</a:t>
            </a:r>
            <a:r>
              <a:rPr lang="en-US" dirty="0"/>
              <a:t> </a:t>
            </a:r>
            <a:r>
              <a:rPr lang="en-US" dirty="0" err="1"/>
              <a:t>gli</a:t>
            </a:r>
            <a:r>
              <a:rPr lang="en-US" dirty="0"/>
              <a:t> </a:t>
            </a:r>
            <a:r>
              <a:rPr lang="en-US" dirty="0" err="1"/>
              <a:t>stessi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volte (a </a:t>
            </a:r>
            <a:r>
              <a:rPr lang="en-US" dirty="0" err="1"/>
              <a:t>differenza</a:t>
            </a:r>
            <a:r>
              <a:rPr lang="en-US" dirty="0"/>
              <a:t> di </a:t>
            </a:r>
            <a:r>
              <a:rPr lang="en-US" dirty="0" err="1"/>
              <a:t>altri</a:t>
            </a:r>
            <a:r>
              <a:rPr lang="en-US" dirty="0"/>
              <a:t> </a:t>
            </a:r>
            <a:r>
              <a:rPr lang="en-US" dirty="0" err="1"/>
              <a:t>metodi</a:t>
            </a:r>
            <a:r>
              <a:rPr lang="en-US" dirty="0"/>
              <a:t> on-policy) </a:t>
            </a:r>
            <a:r>
              <a:rPr lang="en-US" dirty="0" err="1"/>
              <a:t>grazie</a:t>
            </a:r>
            <a:r>
              <a:rPr lang="en-US" dirty="0"/>
              <a:t> al clipping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garantisce</a:t>
            </a:r>
            <a:r>
              <a:rPr lang="en-US" dirty="0"/>
              <a:t> aggiornamenti </a:t>
            </a:r>
            <a:r>
              <a:rPr lang="en-US" dirty="0" err="1"/>
              <a:t>sicuri</a:t>
            </a:r>
            <a:r>
              <a:rPr lang="en-US" dirty="0"/>
              <a:t>.</a:t>
            </a:r>
          </a:p>
          <a:p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model.learn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total_timesteps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=1_000_000)</a:t>
            </a:r>
            <a:r>
              <a:rPr lang="en-US" dirty="0"/>
              <a:t> — </a:t>
            </a:r>
            <a:r>
              <a:rPr lang="en-US" dirty="0" err="1"/>
              <a:t>lancia</a:t>
            </a:r>
            <a:r>
              <a:rPr lang="en-US" dirty="0"/>
              <a:t> il training per 1 </a:t>
            </a:r>
            <a:r>
              <a:rPr lang="en-US" dirty="0" err="1"/>
              <a:t>milione</a:t>
            </a:r>
            <a:r>
              <a:rPr lang="en-US" dirty="0"/>
              <a:t> di step. Su TORCS un </a:t>
            </a:r>
            <a:r>
              <a:rPr lang="en-US" dirty="0" err="1"/>
              <a:t>milione</a:t>
            </a:r>
            <a:r>
              <a:rPr lang="en-US" dirty="0"/>
              <a:t> di step </a:t>
            </a:r>
            <a:r>
              <a:rPr lang="en-US" dirty="0" err="1"/>
              <a:t>richiedono</a:t>
            </a:r>
            <a:r>
              <a:rPr lang="en-US" dirty="0"/>
              <a:t> </a:t>
            </a:r>
            <a:r>
              <a:rPr lang="en-US" dirty="0" err="1"/>
              <a:t>tipicamente</a:t>
            </a:r>
            <a:r>
              <a:rPr lang="en-US" dirty="0"/>
              <a:t> </a:t>
            </a:r>
            <a:r>
              <a:rPr lang="en-US" dirty="0" err="1"/>
              <a:t>alcune</a:t>
            </a:r>
            <a:r>
              <a:rPr lang="en-US" dirty="0"/>
              <a:t> ore </a:t>
            </a:r>
            <a:r>
              <a:rPr lang="en-US" dirty="0" err="1"/>
              <a:t>su</a:t>
            </a:r>
            <a:r>
              <a:rPr lang="en-US" dirty="0"/>
              <a:t> CPU </a:t>
            </a:r>
            <a:r>
              <a:rPr lang="en-US" dirty="0" err="1"/>
              <a:t>normale</a:t>
            </a:r>
            <a:r>
              <a:rPr lang="en-US" dirty="0"/>
              <a:t> o </a:t>
            </a:r>
            <a:r>
              <a:rPr lang="en-US" dirty="0" err="1"/>
              <a:t>meno</a:t>
            </a:r>
            <a:r>
              <a:rPr lang="en-US" dirty="0"/>
              <a:t> di </a:t>
            </a:r>
            <a:r>
              <a:rPr lang="en-US" dirty="0" err="1"/>
              <a:t>un'ora</a:t>
            </a:r>
            <a:r>
              <a:rPr lang="en-US" dirty="0"/>
              <a:t> con </a:t>
            </a:r>
            <a:r>
              <a:rPr lang="en-US" dirty="0" err="1"/>
              <a:t>una</a:t>
            </a:r>
            <a:r>
              <a:rPr lang="en-US" dirty="0"/>
              <a:t> buona GPU.</a:t>
            </a:r>
          </a:p>
          <a:p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model.save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('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ppo_torcs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')</a:t>
            </a:r>
            <a:r>
              <a:rPr lang="en-US" dirty="0"/>
              <a:t> e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model.load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('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ppo_torcs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')</a:t>
            </a:r>
            <a:r>
              <a:rPr lang="en-US" dirty="0"/>
              <a:t> — </a:t>
            </a:r>
            <a:r>
              <a:rPr lang="en-US" dirty="0" err="1"/>
              <a:t>salvataggio</a:t>
            </a:r>
            <a:r>
              <a:rPr lang="en-US" dirty="0"/>
              <a:t> e </a:t>
            </a:r>
            <a:r>
              <a:rPr lang="en-US" dirty="0" err="1"/>
              <a:t>caricamento</a:t>
            </a:r>
            <a:r>
              <a:rPr lang="en-US" dirty="0"/>
              <a:t> del </a:t>
            </a:r>
            <a:r>
              <a:rPr lang="en-US" dirty="0" err="1"/>
              <a:t>modello</a:t>
            </a:r>
            <a:r>
              <a:rPr lang="en-US" dirty="0"/>
              <a:t>. Fate </a:t>
            </a:r>
            <a:r>
              <a:rPr lang="en-US" dirty="0" err="1"/>
              <a:t>girare</a:t>
            </a:r>
            <a:r>
              <a:rPr lang="en-US" dirty="0"/>
              <a:t> il vostro </a:t>
            </a:r>
            <a:r>
              <a:rPr lang="en-US" dirty="0" err="1"/>
              <a:t>agente</a:t>
            </a:r>
            <a:r>
              <a:rPr lang="en-US" dirty="0"/>
              <a:t> con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action, _ =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model.predict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deterministic=True)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slide </a:t>
            </a:r>
            <a:r>
              <a:rPr lang="en-US" dirty="0" err="1"/>
              <a:t>riassume</a:t>
            </a:r>
            <a:r>
              <a:rPr lang="en-US" dirty="0"/>
              <a:t> il trade-off </a:t>
            </a:r>
            <a:r>
              <a:rPr lang="en-US" dirty="0" err="1"/>
              <a:t>fondamentale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due </a:t>
            </a:r>
            <a:r>
              <a:rPr lang="en-US" dirty="0" err="1"/>
              <a:t>approcci</a:t>
            </a:r>
            <a:r>
              <a:rPr lang="en-US" dirty="0"/>
              <a:t> </a:t>
            </a:r>
            <a:r>
              <a:rPr lang="en-US" dirty="0" err="1"/>
              <a:t>principali</a:t>
            </a:r>
            <a:r>
              <a:rPr lang="en-US" dirty="0"/>
              <a:t>.</a:t>
            </a:r>
          </a:p>
          <a:p>
            <a:r>
              <a:rPr lang="en-US" b="1" dirty="0"/>
              <a:t>DDPG </a:t>
            </a:r>
            <a:r>
              <a:rPr lang="en-US" b="1" dirty="0" err="1"/>
              <a:t>è</a:t>
            </a:r>
            <a:r>
              <a:rPr lang="en-US" b="1" dirty="0"/>
              <a:t> off-policy</a:t>
            </a:r>
            <a:r>
              <a:rPr lang="en-US" dirty="0"/>
              <a:t>, il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significa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riusa</a:t>
            </a:r>
            <a:r>
              <a:rPr lang="en-US" dirty="0"/>
              <a:t> le </a:t>
            </a:r>
            <a:r>
              <a:rPr lang="en-US" dirty="0" err="1"/>
              <a:t>esperienze</a:t>
            </a:r>
            <a:r>
              <a:rPr lang="en-US" dirty="0"/>
              <a:t> </a:t>
            </a:r>
            <a:r>
              <a:rPr lang="en-US" dirty="0" err="1"/>
              <a:t>passate</a:t>
            </a:r>
            <a:r>
              <a:rPr lang="en-US" dirty="0"/>
              <a:t> </a:t>
            </a:r>
            <a:r>
              <a:rPr lang="en-US" dirty="0" err="1"/>
              <a:t>attraverso</a:t>
            </a:r>
            <a:r>
              <a:rPr lang="en-US" dirty="0"/>
              <a:t> il replay buffer. </a:t>
            </a:r>
            <a:r>
              <a:rPr lang="en-US" dirty="0" err="1"/>
              <a:t>Questo</a:t>
            </a:r>
            <a:r>
              <a:rPr lang="en-US" dirty="0"/>
              <a:t> lo </a:t>
            </a:r>
            <a:r>
              <a:rPr lang="en-US" dirty="0" err="1"/>
              <a:t>rende</a:t>
            </a:r>
            <a:r>
              <a:rPr lang="en-US" dirty="0"/>
              <a:t> </a:t>
            </a:r>
            <a:r>
              <a:rPr lang="en-US" i="1" dirty="0"/>
              <a:t>sample efficient</a:t>
            </a:r>
            <a:r>
              <a:rPr lang="en-US" dirty="0"/>
              <a:t> — </a:t>
            </a:r>
            <a:r>
              <a:rPr lang="en-US" dirty="0" err="1"/>
              <a:t>impara</a:t>
            </a:r>
            <a:r>
              <a:rPr lang="en-US" dirty="0"/>
              <a:t> di </a:t>
            </a:r>
            <a:r>
              <a:rPr lang="en-US" dirty="0" err="1"/>
              <a:t>più</a:t>
            </a:r>
            <a:r>
              <a:rPr lang="en-US" dirty="0"/>
              <a:t> da ogni </a:t>
            </a:r>
            <a:r>
              <a:rPr lang="en-US" dirty="0" err="1"/>
              <a:t>interazione</a:t>
            </a:r>
            <a:r>
              <a:rPr lang="en-US" dirty="0"/>
              <a:t> con </a:t>
            </a:r>
            <a:r>
              <a:rPr lang="en-US" dirty="0" err="1"/>
              <a:t>l'ambiente</a:t>
            </a:r>
            <a:r>
              <a:rPr lang="en-US" dirty="0"/>
              <a:t>. In </a:t>
            </a:r>
            <a:r>
              <a:rPr lang="en-US" dirty="0" err="1"/>
              <a:t>teoria</a:t>
            </a:r>
            <a:r>
              <a:rPr lang="en-US" dirty="0"/>
              <a:t> converge con </a:t>
            </a:r>
            <a:r>
              <a:rPr lang="en-US" dirty="0" err="1"/>
              <a:t>meno</a:t>
            </a:r>
            <a:r>
              <a:rPr lang="en-US" dirty="0"/>
              <a:t> </a:t>
            </a:r>
            <a:r>
              <a:rPr lang="en-US" dirty="0" err="1"/>
              <a:t>episodi</a:t>
            </a:r>
            <a:r>
              <a:rPr lang="en-US" dirty="0"/>
              <a:t> </a:t>
            </a:r>
            <a:r>
              <a:rPr lang="en-US" dirty="0" err="1"/>
              <a:t>totali</a:t>
            </a:r>
            <a:r>
              <a:rPr lang="en-US" dirty="0"/>
              <a:t>.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anche</a:t>
            </a:r>
            <a:r>
              <a:rPr lang="en-US" dirty="0"/>
              <a:t> </a:t>
            </a:r>
            <a:r>
              <a:rPr lang="en-US" dirty="0" err="1"/>
              <a:t>l'algoritmo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vicino</a:t>
            </a:r>
            <a:r>
              <a:rPr lang="en-US" dirty="0"/>
              <a:t> al Q-Learning, </a:t>
            </a:r>
            <a:r>
              <a:rPr lang="en-US" dirty="0" err="1"/>
              <a:t>quindi</a:t>
            </a:r>
            <a:r>
              <a:rPr lang="en-US" dirty="0"/>
              <a:t> </a:t>
            </a:r>
            <a:r>
              <a:rPr lang="en-US" dirty="0" err="1"/>
              <a:t>concettualmente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comprensibile</a:t>
            </a:r>
            <a:r>
              <a:rPr lang="en-US" dirty="0"/>
              <a:t> per chi </a:t>
            </a:r>
            <a:r>
              <a:rPr lang="en-US" dirty="0" err="1"/>
              <a:t>viene</a:t>
            </a:r>
            <a:r>
              <a:rPr lang="en-US" dirty="0"/>
              <a:t> da </a:t>
            </a:r>
            <a:r>
              <a:rPr lang="en-US" dirty="0" err="1"/>
              <a:t>quel</a:t>
            </a:r>
            <a:r>
              <a:rPr lang="en-US" dirty="0"/>
              <a:t> background.</a:t>
            </a:r>
          </a:p>
          <a:p>
            <a:r>
              <a:rPr lang="en-US" dirty="0"/>
              <a:t>Il </a:t>
            </a:r>
            <a:r>
              <a:rPr lang="en-US" dirty="0" err="1"/>
              <a:t>prezzo</a:t>
            </a:r>
            <a:r>
              <a:rPr lang="en-US" dirty="0"/>
              <a:t> di DDPG </a:t>
            </a:r>
            <a:r>
              <a:rPr lang="en-US" dirty="0" err="1"/>
              <a:t>è</a:t>
            </a:r>
            <a:r>
              <a:rPr lang="en-US" dirty="0"/>
              <a:t> la </a:t>
            </a:r>
            <a:r>
              <a:rPr lang="en-US" b="1" dirty="0" err="1"/>
              <a:t>fragilità</a:t>
            </a:r>
            <a:r>
              <a:rPr lang="en-US" b="1" dirty="0"/>
              <a:t> </a:t>
            </a:r>
            <a:r>
              <a:rPr lang="en-US" b="1" dirty="0" err="1"/>
              <a:t>agli</a:t>
            </a:r>
            <a:r>
              <a:rPr lang="en-US" b="1" dirty="0"/>
              <a:t> </a:t>
            </a:r>
            <a:r>
              <a:rPr lang="en-US" b="1" dirty="0" err="1"/>
              <a:t>iperparametri</a:t>
            </a:r>
            <a:r>
              <a:rPr lang="en-US" dirty="0"/>
              <a:t>. La </a:t>
            </a:r>
            <a:r>
              <a:rPr lang="en-US" dirty="0" err="1"/>
              <a:t>scelta</a:t>
            </a:r>
            <a:r>
              <a:rPr lang="en-US" dirty="0"/>
              <a:t> del learning rate, della </a:t>
            </a:r>
            <a:r>
              <a:rPr lang="en-US" dirty="0" err="1"/>
              <a:t>dimensione</a:t>
            </a:r>
            <a:r>
              <a:rPr lang="en-US" dirty="0"/>
              <a:t> del buffer, del </a:t>
            </a:r>
            <a:r>
              <a:rPr lang="en-US" dirty="0" err="1"/>
              <a:t>rumore</a:t>
            </a:r>
            <a:r>
              <a:rPr lang="en-US" dirty="0"/>
              <a:t> OU, di </a:t>
            </a:r>
            <a:r>
              <a:rPr lang="el-GR" dirty="0"/>
              <a:t>τ </a:t>
            </a:r>
            <a:r>
              <a:rPr lang="en-US" dirty="0"/>
              <a:t>per il soft update — tutti </a:t>
            </a:r>
            <a:r>
              <a:rPr lang="en-US" dirty="0" err="1"/>
              <a:t>questi</a:t>
            </a:r>
            <a:r>
              <a:rPr lang="en-US" dirty="0"/>
              <a:t> </a:t>
            </a:r>
            <a:r>
              <a:rPr lang="en-US" dirty="0" err="1"/>
              <a:t>parametri</a:t>
            </a:r>
            <a:r>
              <a:rPr lang="en-US" dirty="0"/>
              <a:t> </a:t>
            </a:r>
            <a:r>
              <a:rPr lang="en-US" dirty="0" err="1"/>
              <a:t>devono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 </a:t>
            </a:r>
            <a:r>
              <a:rPr lang="en-US" dirty="0" err="1"/>
              <a:t>calibrati</a:t>
            </a:r>
            <a:r>
              <a:rPr lang="en-US" dirty="0"/>
              <a:t>. Con </a:t>
            </a:r>
            <a:r>
              <a:rPr lang="en-US" dirty="0" err="1"/>
              <a:t>valori</a:t>
            </a:r>
            <a:r>
              <a:rPr lang="en-US" dirty="0"/>
              <a:t> </a:t>
            </a:r>
            <a:r>
              <a:rPr lang="en-US" dirty="0" err="1"/>
              <a:t>sbagliati</a:t>
            </a:r>
            <a:r>
              <a:rPr lang="en-US" dirty="0"/>
              <a:t>, DDPG non converge o diverge. </a:t>
            </a:r>
            <a:r>
              <a:rPr lang="en-US" dirty="0" err="1"/>
              <a:t>C'è</a:t>
            </a:r>
            <a:r>
              <a:rPr lang="en-US" dirty="0"/>
              <a:t> </a:t>
            </a:r>
            <a:r>
              <a:rPr lang="en-US" dirty="0" err="1"/>
              <a:t>anche</a:t>
            </a:r>
            <a:r>
              <a:rPr lang="en-US" dirty="0"/>
              <a:t> il </a:t>
            </a:r>
            <a:r>
              <a:rPr lang="en-US" dirty="0" err="1"/>
              <a:t>problema</a:t>
            </a:r>
            <a:r>
              <a:rPr lang="en-US" dirty="0"/>
              <a:t> </a:t>
            </a:r>
            <a:r>
              <a:rPr lang="en-US" dirty="0" err="1"/>
              <a:t>dell'</a:t>
            </a:r>
            <a:r>
              <a:rPr lang="en-US" b="1" dirty="0" err="1"/>
              <a:t>overestimation</a:t>
            </a:r>
            <a:r>
              <a:rPr lang="en-US" b="1" dirty="0"/>
              <a:t> del Critic</a:t>
            </a:r>
            <a:r>
              <a:rPr lang="en-US" dirty="0"/>
              <a:t>: la rete Q </a:t>
            </a:r>
            <a:r>
              <a:rPr lang="en-US" dirty="0" err="1"/>
              <a:t>tende</a:t>
            </a:r>
            <a:r>
              <a:rPr lang="en-US" dirty="0"/>
              <a:t> a </a:t>
            </a:r>
            <a:r>
              <a:rPr lang="en-US" dirty="0" err="1"/>
              <a:t>sovrastimare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Q-value, il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può</a:t>
            </a:r>
            <a:r>
              <a:rPr lang="en-US" dirty="0"/>
              <a:t> </a:t>
            </a:r>
            <a:r>
              <a:rPr lang="en-US" dirty="0" err="1"/>
              <a:t>portare</a:t>
            </a:r>
            <a:r>
              <a:rPr lang="en-US" dirty="0"/>
              <a:t> a </a:t>
            </a:r>
            <a:r>
              <a:rPr lang="en-US" dirty="0" err="1"/>
              <a:t>comportamenti</a:t>
            </a:r>
            <a:r>
              <a:rPr lang="en-US" dirty="0"/>
              <a:t> </a:t>
            </a:r>
            <a:r>
              <a:rPr lang="en-US" dirty="0" err="1"/>
              <a:t>instabili</a:t>
            </a:r>
            <a:r>
              <a:rPr lang="en-US" dirty="0"/>
              <a:t>.</a:t>
            </a:r>
          </a:p>
          <a:p>
            <a:r>
              <a:rPr lang="en-US" b="1" dirty="0"/>
              <a:t>PPO </a:t>
            </a:r>
            <a:r>
              <a:rPr lang="en-US" b="1" dirty="0" err="1"/>
              <a:t>è</a:t>
            </a:r>
            <a:r>
              <a:rPr lang="en-US" b="1" dirty="0"/>
              <a:t> on-policy</a:t>
            </a:r>
            <a:r>
              <a:rPr lang="en-US" dirty="0"/>
              <a:t>, il </a:t>
            </a:r>
            <a:r>
              <a:rPr lang="en-US" dirty="0" err="1"/>
              <a:t>che</a:t>
            </a:r>
            <a:r>
              <a:rPr lang="en-US" dirty="0"/>
              <a:t> lo </a:t>
            </a:r>
            <a:r>
              <a:rPr lang="en-US" dirty="0" err="1"/>
              <a:t>rende</a:t>
            </a:r>
            <a:r>
              <a:rPr lang="en-US" dirty="0"/>
              <a:t> </a:t>
            </a:r>
            <a:r>
              <a:rPr lang="en-US" dirty="0" err="1"/>
              <a:t>meno</a:t>
            </a:r>
            <a:r>
              <a:rPr lang="en-US" dirty="0"/>
              <a:t> </a:t>
            </a:r>
            <a:r>
              <a:rPr lang="en-US" dirty="0" err="1"/>
              <a:t>efficiente</a:t>
            </a:r>
            <a:r>
              <a:rPr lang="en-US" dirty="0"/>
              <a:t> in termini di sample — ogni </a:t>
            </a:r>
            <a:r>
              <a:rPr lang="en-US" dirty="0" err="1"/>
              <a:t>esperienza</a:t>
            </a:r>
            <a:r>
              <a:rPr lang="en-US" dirty="0"/>
              <a:t>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usata</a:t>
            </a:r>
            <a:r>
              <a:rPr lang="en-US" dirty="0"/>
              <a:t> poche volte e poi </a:t>
            </a:r>
            <a:r>
              <a:rPr lang="en-US" dirty="0" err="1"/>
              <a:t>scartata</a:t>
            </a:r>
            <a:r>
              <a:rPr lang="en-US" dirty="0"/>
              <a:t>. </a:t>
            </a:r>
            <a:r>
              <a:rPr lang="en-US" dirty="0" err="1"/>
              <a:t>Questo</a:t>
            </a:r>
            <a:r>
              <a:rPr lang="en-US" dirty="0"/>
              <a:t> </a:t>
            </a:r>
            <a:r>
              <a:rPr lang="en-US" dirty="0" err="1"/>
              <a:t>significa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in generale </a:t>
            </a:r>
            <a:r>
              <a:rPr lang="en-US" dirty="0" err="1"/>
              <a:t>servono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episodi</a:t>
            </a:r>
            <a:r>
              <a:rPr lang="en-US" dirty="0"/>
              <a:t> per </a:t>
            </a:r>
            <a:r>
              <a:rPr lang="en-US" dirty="0" err="1"/>
              <a:t>raggiungere</a:t>
            </a:r>
            <a:r>
              <a:rPr lang="en-US" dirty="0"/>
              <a:t> lo </a:t>
            </a:r>
            <a:r>
              <a:rPr lang="en-US" dirty="0" err="1"/>
              <a:t>stesso</a:t>
            </a:r>
            <a:r>
              <a:rPr lang="en-US" dirty="0"/>
              <a:t> </a:t>
            </a:r>
            <a:r>
              <a:rPr lang="en-US" dirty="0" err="1"/>
              <a:t>livello</a:t>
            </a:r>
            <a:r>
              <a:rPr lang="en-US" dirty="0"/>
              <a:t> di performance. </a:t>
            </a:r>
            <a:r>
              <a:rPr lang="en-US" dirty="0" err="1"/>
              <a:t>Però</a:t>
            </a:r>
            <a:r>
              <a:rPr lang="en-US" dirty="0"/>
              <a:t> PPO </a:t>
            </a:r>
            <a:r>
              <a:rPr lang="en-US" dirty="0" err="1"/>
              <a:t>è</a:t>
            </a:r>
            <a:r>
              <a:rPr lang="en-US" dirty="0"/>
              <a:t> molto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b="1" dirty="0"/>
              <a:t>stabile</a:t>
            </a:r>
            <a:r>
              <a:rPr lang="en-US" dirty="0"/>
              <a:t>: il </a:t>
            </a:r>
            <a:r>
              <a:rPr lang="en-US" dirty="0" err="1"/>
              <a:t>meccanismo</a:t>
            </a:r>
            <a:r>
              <a:rPr lang="en-US" dirty="0"/>
              <a:t> di clipping </a:t>
            </a:r>
            <a:r>
              <a:rPr lang="en-US" dirty="0" err="1"/>
              <a:t>garantisce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la policy non </a:t>
            </a:r>
            <a:r>
              <a:rPr lang="en-US" dirty="0" err="1"/>
              <a:t>peggiori</a:t>
            </a:r>
            <a:r>
              <a:rPr lang="en-US" dirty="0"/>
              <a:t> </a:t>
            </a:r>
            <a:r>
              <a:rPr lang="en-US" dirty="0" err="1"/>
              <a:t>troppo</a:t>
            </a:r>
            <a:r>
              <a:rPr lang="en-US" dirty="0"/>
              <a:t> in </a:t>
            </a:r>
            <a:r>
              <a:rPr lang="en-US" dirty="0" err="1"/>
              <a:t>nessun</a:t>
            </a:r>
            <a:r>
              <a:rPr lang="en-US" dirty="0"/>
              <a:t> aggiornamento.</a:t>
            </a:r>
          </a:p>
          <a:p>
            <a:r>
              <a:rPr lang="en-US" b="1" dirty="0"/>
              <a:t>Nella </a:t>
            </a:r>
            <a:r>
              <a:rPr lang="en-US" b="1" dirty="0" err="1"/>
              <a:t>pratica</a:t>
            </a:r>
            <a:r>
              <a:rPr lang="en-US" dirty="0"/>
              <a:t>, per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gara</a:t>
            </a:r>
            <a:r>
              <a:rPr lang="en-US" dirty="0"/>
              <a:t> con tempo </a:t>
            </a:r>
            <a:r>
              <a:rPr lang="en-US" dirty="0" err="1"/>
              <a:t>limitato</a:t>
            </a:r>
            <a:r>
              <a:rPr lang="en-US" dirty="0"/>
              <a:t>:</a:t>
            </a:r>
          </a:p>
          <a:p>
            <a:r>
              <a:rPr lang="en-US" dirty="0"/>
              <a:t>Se </a:t>
            </a:r>
            <a:r>
              <a:rPr lang="en-US" dirty="0" err="1"/>
              <a:t>avete</a:t>
            </a:r>
            <a:r>
              <a:rPr lang="en-US" dirty="0"/>
              <a:t> 2–3 </a:t>
            </a:r>
            <a:r>
              <a:rPr lang="en-US" dirty="0" err="1"/>
              <a:t>giorni</a:t>
            </a:r>
            <a:r>
              <a:rPr lang="en-US" dirty="0"/>
              <a:t> di training: SAC o DDPG ben tuned </a:t>
            </a:r>
            <a:r>
              <a:rPr lang="en-US" dirty="0" err="1"/>
              <a:t>probabilmente</a:t>
            </a:r>
            <a:r>
              <a:rPr lang="en-US" dirty="0"/>
              <a:t> </a:t>
            </a:r>
            <a:r>
              <a:rPr lang="en-US" dirty="0" err="1"/>
              <a:t>daranno</a:t>
            </a:r>
            <a:r>
              <a:rPr lang="en-US" dirty="0"/>
              <a:t> le performance </a:t>
            </a:r>
            <a:r>
              <a:rPr lang="en-US" dirty="0" err="1"/>
              <a:t>migliori</a:t>
            </a:r>
            <a:r>
              <a:rPr lang="en-US" dirty="0"/>
              <a:t>.</a:t>
            </a:r>
          </a:p>
          <a:p>
            <a:r>
              <a:rPr lang="en-US" dirty="0"/>
              <a:t>Se </a:t>
            </a:r>
            <a:r>
              <a:rPr lang="en-US" dirty="0" err="1"/>
              <a:t>avete</a:t>
            </a:r>
            <a:r>
              <a:rPr lang="en-US" dirty="0"/>
              <a:t> poche ore: PPO con SB3 vi </a:t>
            </a:r>
            <a:r>
              <a:rPr lang="en-US" dirty="0" err="1"/>
              <a:t>darà</a:t>
            </a:r>
            <a:r>
              <a:rPr lang="en-US" dirty="0"/>
              <a:t> </a:t>
            </a:r>
            <a:r>
              <a:rPr lang="en-US" dirty="0" err="1"/>
              <a:t>risultati</a:t>
            </a:r>
            <a:r>
              <a:rPr lang="en-US" dirty="0"/>
              <a:t> </a:t>
            </a:r>
            <a:r>
              <a:rPr lang="en-US" dirty="0" err="1"/>
              <a:t>decenti</a:t>
            </a:r>
            <a:r>
              <a:rPr lang="en-US" dirty="0"/>
              <a:t> e </a:t>
            </a:r>
            <a:r>
              <a:rPr lang="en-US" dirty="0" err="1"/>
              <a:t>affidabili</a:t>
            </a:r>
            <a:r>
              <a:rPr lang="en-US" dirty="0"/>
              <a:t>.</a:t>
            </a:r>
          </a:p>
          <a:p>
            <a:r>
              <a:rPr lang="en-US" dirty="0"/>
              <a:t>Se </a:t>
            </a:r>
            <a:r>
              <a:rPr lang="en-US" dirty="0" err="1"/>
              <a:t>volete</a:t>
            </a:r>
            <a:r>
              <a:rPr lang="en-US" dirty="0"/>
              <a:t> </a:t>
            </a:r>
            <a:r>
              <a:rPr lang="en-US" dirty="0" err="1"/>
              <a:t>capire</a:t>
            </a:r>
            <a:r>
              <a:rPr lang="en-US" dirty="0"/>
              <a:t> </a:t>
            </a:r>
            <a:r>
              <a:rPr lang="en-US" dirty="0" err="1"/>
              <a:t>cosa</a:t>
            </a:r>
            <a:r>
              <a:rPr lang="en-US" dirty="0"/>
              <a:t> </a:t>
            </a:r>
            <a:r>
              <a:rPr lang="en-US" dirty="0" err="1"/>
              <a:t>sta</a:t>
            </a:r>
            <a:r>
              <a:rPr lang="en-US" dirty="0"/>
              <a:t> </a:t>
            </a:r>
            <a:r>
              <a:rPr lang="en-US" dirty="0" err="1"/>
              <a:t>succedendo</a:t>
            </a:r>
            <a:r>
              <a:rPr lang="en-US" dirty="0"/>
              <a:t> (</a:t>
            </a:r>
            <a:r>
              <a:rPr lang="en-US" dirty="0" err="1"/>
              <a:t>interpretabilità</a:t>
            </a:r>
            <a:r>
              <a:rPr lang="en-US" dirty="0"/>
              <a:t>): Q-Learning + </a:t>
            </a:r>
            <a:r>
              <a:rPr lang="en-US" dirty="0" err="1"/>
              <a:t>visualizzazione</a:t>
            </a:r>
            <a:r>
              <a:rPr lang="en-US" dirty="0"/>
              <a:t> della Q-table.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</a:t>
            </a:r>
            <a:r>
              <a:rPr lang="en-US" dirty="0" err="1"/>
              <a:t>cosa</a:t>
            </a:r>
            <a:r>
              <a:rPr lang="en-US" dirty="0"/>
              <a:t> </a:t>
            </a:r>
            <a:r>
              <a:rPr lang="en-US" dirty="0" err="1"/>
              <a:t>bella</a:t>
            </a:r>
            <a:r>
              <a:rPr lang="en-US" dirty="0"/>
              <a:t> di SB3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cambiare</a:t>
            </a:r>
            <a:r>
              <a:rPr lang="en-US" dirty="0"/>
              <a:t> </a:t>
            </a:r>
            <a:r>
              <a:rPr lang="en-US" dirty="0" err="1"/>
              <a:t>algoritmo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letteralmente</a:t>
            </a:r>
            <a:r>
              <a:rPr lang="en-US" dirty="0"/>
              <a:t> </a:t>
            </a:r>
            <a:r>
              <a:rPr lang="en-US" dirty="0" err="1"/>
              <a:t>cambiare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riga</a:t>
            </a:r>
            <a:r>
              <a:rPr lang="en-US" dirty="0"/>
              <a:t> di </a:t>
            </a:r>
            <a:r>
              <a:rPr lang="en-US" dirty="0" err="1"/>
              <a:t>codice</a:t>
            </a:r>
            <a:r>
              <a:rPr lang="en-US" dirty="0"/>
              <a:t>.</a:t>
            </a:r>
          </a:p>
          <a:p>
            <a:r>
              <a:rPr lang="en-US" b="1" dirty="0"/>
              <a:t>SAC (Soft Actor-Critic, Haarnoja et al., 2018, Berkeley)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probabilmente</a:t>
            </a:r>
            <a:r>
              <a:rPr lang="en-US" dirty="0"/>
              <a:t> </a:t>
            </a:r>
            <a:r>
              <a:rPr lang="en-US" dirty="0" err="1"/>
              <a:t>oggi</a:t>
            </a:r>
            <a:r>
              <a:rPr lang="en-US" dirty="0"/>
              <a:t> </a:t>
            </a:r>
            <a:r>
              <a:rPr lang="en-US" dirty="0" err="1"/>
              <a:t>l'algoritmo</a:t>
            </a:r>
            <a:r>
              <a:rPr lang="en-US" dirty="0"/>
              <a:t> di Deep RL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performante</a:t>
            </a:r>
            <a:r>
              <a:rPr lang="en-US" dirty="0"/>
              <a:t> per </a:t>
            </a:r>
            <a:r>
              <a:rPr lang="en-US" dirty="0" err="1"/>
              <a:t>ambienti</a:t>
            </a:r>
            <a:r>
              <a:rPr lang="en-US" dirty="0"/>
              <a:t> con </a:t>
            </a:r>
            <a:r>
              <a:rPr lang="en-US" dirty="0" err="1"/>
              <a:t>azioni</a:t>
            </a:r>
            <a:r>
              <a:rPr lang="en-US" dirty="0"/>
              <a:t> continue. </a:t>
            </a:r>
            <a:r>
              <a:rPr lang="en-US" dirty="0" err="1"/>
              <a:t>È</a:t>
            </a:r>
            <a:r>
              <a:rPr lang="en-US" dirty="0"/>
              <a:t> off-policy come DDPG (</a:t>
            </a:r>
            <a:r>
              <a:rPr lang="en-US" dirty="0" err="1"/>
              <a:t>quindi</a:t>
            </a:r>
            <a:r>
              <a:rPr lang="en-US" dirty="0"/>
              <a:t> sample efficient con replay buffer), ma </a:t>
            </a:r>
            <a:r>
              <a:rPr lang="en-US" dirty="0" err="1"/>
              <a:t>aggiunge</a:t>
            </a:r>
            <a:r>
              <a:rPr lang="en-US" dirty="0"/>
              <a:t> un </a:t>
            </a:r>
            <a:r>
              <a:rPr lang="en-US" dirty="0" err="1"/>
              <a:t>termine</a:t>
            </a:r>
            <a:r>
              <a:rPr lang="en-US" dirty="0"/>
              <a:t> di </a:t>
            </a:r>
            <a:r>
              <a:rPr lang="en-US" b="1" dirty="0" err="1"/>
              <a:t>entropia</a:t>
            </a:r>
            <a:r>
              <a:rPr lang="en-US" b="1" dirty="0"/>
              <a:t> </a:t>
            </a:r>
            <a:r>
              <a:rPr lang="en-US" b="1" dirty="0" err="1"/>
              <a:t>massima</a:t>
            </a:r>
            <a:r>
              <a:rPr lang="en-US" dirty="0"/>
              <a:t> </a:t>
            </a:r>
            <a:r>
              <a:rPr lang="en-US" dirty="0" err="1"/>
              <a:t>nella</a:t>
            </a:r>
            <a:r>
              <a:rPr lang="en-US" dirty="0"/>
              <a:t> </a:t>
            </a:r>
            <a:r>
              <a:rPr lang="en-US" dirty="0" err="1"/>
              <a:t>funzione</a:t>
            </a:r>
            <a:r>
              <a:rPr lang="en-US" dirty="0"/>
              <a:t> </a:t>
            </a:r>
            <a:r>
              <a:rPr lang="en-US" dirty="0" err="1"/>
              <a:t>obiettivo</a:t>
            </a:r>
            <a:r>
              <a:rPr lang="en-US" dirty="0"/>
              <a:t>:</a:t>
            </a:r>
          </a:p>
          <a:p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π* =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argmax_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π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E[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Σ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r_t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H(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π(·|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s_t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))]</a:t>
            </a:r>
          </a:p>
          <a:p>
            <a:r>
              <a:rPr lang="en-US" dirty="0" err="1"/>
              <a:t>L'agente</a:t>
            </a:r>
            <a:r>
              <a:rPr lang="en-US" dirty="0"/>
              <a:t> </a:t>
            </a:r>
            <a:r>
              <a:rPr lang="en-US" dirty="0" err="1"/>
              <a:t>massimizza</a:t>
            </a:r>
            <a:r>
              <a:rPr lang="en-US" dirty="0"/>
              <a:t> </a:t>
            </a:r>
            <a:r>
              <a:rPr lang="en-US" dirty="0" err="1"/>
              <a:t>sia</a:t>
            </a:r>
            <a:r>
              <a:rPr lang="en-US" dirty="0"/>
              <a:t> la reward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l'entropia</a:t>
            </a:r>
            <a:r>
              <a:rPr lang="en-US" dirty="0"/>
              <a:t> della </a:t>
            </a:r>
            <a:r>
              <a:rPr lang="en-US" dirty="0" err="1"/>
              <a:t>sua</a:t>
            </a:r>
            <a:r>
              <a:rPr lang="en-US" dirty="0"/>
              <a:t> policy. </a:t>
            </a:r>
            <a:r>
              <a:rPr lang="en-US" dirty="0" err="1"/>
              <a:t>Questo</a:t>
            </a:r>
            <a:r>
              <a:rPr lang="en-US" dirty="0"/>
              <a:t> ha </a:t>
            </a:r>
            <a:r>
              <a:rPr lang="en-US" dirty="0" err="1"/>
              <a:t>l'effetto</a:t>
            </a:r>
            <a:r>
              <a:rPr lang="en-US" dirty="0"/>
              <a:t> di </a:t>
            </a:r>
            <a:r>
              <a:rPr lang="en-US" dirty="0" err="1"/>
              <a:t>incoraggiare</a:t>
            </a:r>
            <a:r>
              <a:rPr lang="en-US" dirty="0"/>
              <a:t> </a:t>
            </a:r>
            <a:r>
              <a:rPr lang="en-US" dirty="0" err="1"/>
              <a:t>l'esplorazione</a:t>
            </a:r>
            <a:r>
              <a:rPr lang="en-US" dirty="0"/>
              <a:t> </a:t>
            </a:r>
            <a:r>
              <a:rPr lang="en-US" dirty="0" err="1"/>
              <a:t>automaticamente</a:t>
            </a:r>
            <a:r>
              <a:rPr lang="en-US" dirty="0"/>
              <a:t> — non serve </a:t>
            </a:r>
            <a:r>
              <a:rPr lang="en-US" dirty="0" err="1"/>
              <a:t>più</a:t>
            </a:r>
            <a:r>
              <a:rPr lang="en-US" dirty="0"/>
              <a:t> il </a:t>
            </a:r>
            <a:r>
              <a:rPr lang="en-US" dirty="0" err="1"/>
              <a:t>rumore</a:t>
            </a:r>
            <a:r>
              <a:rPr lang="en-US" dirty="0"/>
              <a:t> OU o l'</a:t>
            </a:r>
            <a:r>
              <a:rPr lang="el-GR" dirty="0"/>
              <a:t>ε-</a:t>
            </a:r>
            <a:r>
              <a:rPr lang="en-US" dirty="0"/>
              <a:t>greedy. Il </a:t>
            </a:r>
            <a:r>
              <a:rPr lang="en-US" dirty="0" err="1"/>
              <a:t>parametro</a:t>
            </a:r>
            <a:r>
              <a:rPr lang="en-US" dirty="0"/>
              <a:t> </a:t>
            </a:r>
            <a:r>
              <a:rPr lang="el-GR" dirty="0"/>
              <a:t>α (</a:t>
            </a:r>
            <a:r>
              <a:rPr lang="en-US" dirty="0" err="1"/>
              <a:t>temperatura</a:t>
            </a:r>
            <a:r>
              <a:rPr lang="en-US" dirty="0"/>
              <a:t>) </a:t>
            </a:r>
            <a:r>
              <a:rPr lang="en-US" dirty="0" err="1"/>
              <a:t>bilancia</a:t>
            </a:r>
            <a:r>
              <a:rPr lang="en-US" dirty="0"/>
              <a:t> </a:t>
            </a:r>
            <a:r>
              <a:rPr lang="en-US" dirty="0" err="1"/>
              <a:t>l'importanza</a:t>
            </a:r>
            <a:r>
              <a:rPr lang="en-US" dirty="0"/>
              <a:t> </a:t>
            </a:r>
            <a:r>
              <a:rPr lang="en-US" dirty="0" err="1"/>
              <a:t>relativa</a:t>
            </a:r>
            <a:r>
              <a:rPr lang="en-US" dirty="0"/>
              <a:t> di reward e </a:t>
            </a:r>
            <a:r>
              <a:rPr lang="en-US" dirty="0" err="1"/>
              <a:t>entropia</a:t>
            </a:r>
            <a:r>
              <a:rPr lang="en-US" dirty="0"/>
              <a:t>, e </a:t>
            </a:r>
            <a:r>
              <a:rPr lang="en-US" dirty="0" err="1"/>
              <a:t>può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 </a:t>
            </a:r>
            <a:r>
              <a:rPr lang="en-US" dirty="0" err="1"/>
              <a:t>aggiornato</a:t>
            </a:r>
            <a:r>
              <a:rPr lang="en-US" dirty="0"/>
              <a:t> </a:t>
            </a:r>
            <a:r>
              <a:rPr lang="en-US" dirty="0" err="1"/>
              <a:t>automaticamente</a:t>
            </a:r>
            <a:r>
              <a:rPr lang="en-US" dirty="0"/>
              <a:t> </a:t>
            </a:r>
            <a:r>
              <a:rPr lang="en-US" dirty="0" err="1"/>
              <a:t>durante</a:t>
            </a:r>
            <a:r>
              <a:rPr lang="en-US" dirty="0"/>
              <a:t> il training. SAC </a:t>
            </a:r>
            <a:r>
              <a:rPr lang="en-US" dirty="0" err="1"/>
              <a:t>tende</a:t>
            </a:r>
            <a:r>
              <a:rPr lang="en-US" dirty="0"/>
              <a:t> a </a:t>
            </a:r>
            <a:r>
              <a:rPr lang="en-US" dirty="0" err="1"/>
              <a:t>essere</a:t>
            </a:r>
            <a:r>
              <a:rPr lang="en-US" dirty="0"/>
              <a:t> molto </a:t>
            </a:r>
            <a:r>
              <a:rPr lang="en-US" dirty="0" err="1"/>
              <a:t>più</a:t>
            </a:r>
            <a:r>
              <a:rPr lang="en-US" dirty="0"/>
              <a:t> stabile di DDPG e </a:t>
            </a:r>
            <a:r>
              <a:rPr lang="en-US" dirty="0" err="1"/>
              <a:t>spesso</a:t>
            </a:r>
            <a:r>
              <a:rPr lang="en-US" dirty="0"/>
              <a:t> </a:t>
            </a:r>
            <a:r>
              <a:rPr lang="en-US" dirty="0" err="1"/>
              <a:t>raggiunge</a:t>
            </a:r>
            <a:r>
              <a:rPr lang="en-US" dirty="0"/>
              <a:t> performance </a:t>
            </a:r>
            <a:r>
              <a:rPr lang="en-US" dirty="0" err="1"/>
              <a:t>migliori</a:t>
            </a:r>
            <a:r>
              <a:rPr lang="en-US" dirty="0"/>
              <a:t>.</a:t>
            </a:r>
          </a:p>
          <a:p>
            <a:r>
              <a:rPr lang="en-US" b="1" dirty="0"/>
              <a:t>TD3 (Twin Delayed DDPG, Fujimoto et al., 2018)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il "DDPG </a:t>
            </a:r>
            <a:r>
              <a:rPr lang="en-US" dirty="0" err="1"/>
              <a:t>migliorato</a:t>
            </a:r>
            <a:r>
              <a:rPr lang="en-US" dirty="0"/>
              <a:t>". </a:t>
            </a:r>
            <a:r>
              <a:rPr lang="en-US" dirty="0" err="1"/>
              <a:t>Risolve</a:t>
            </a:r>
            <a:r>
              <a:rPr lang="en-US" dirty="0"/>
              <a:t> </a:t>
            </a:r>
            <a:r>
              <a:rPr lang="en-US" dirty="0" err="1"/>
              <a:t>tre</a:t>
            </a:r>
            <a:r>
              <a:rPr lang="en-US" dirty="0"/>
              <a:t> </a:t>
            </a:r>
            <a:r>
              <a:rPr lang="en-US" dirty="0" err="1"/>
              <a:t>problemi</a:t>
            </a:r>
            <a:r>
              <a:rPr lang="en-US" dirty="0"/>
              <a:t> di DDPG:</a:t>
            </a:r>
          </a:p>
          <a:p>
            <a:r>
              <a:rPr lang="en-US" b="1" dirty="0"/>
              <a:t>Twin critics</a:t>
            </a:r>
            <a:r>
              <a:rPr lang="en-US" dirty="0"/>
              <a:t>: </a:t>
            </a:r>
            <a:r>
              <a:rPr lang="en-US" dirty="0" err="1"/>
              <a:t>invece</a:t>
            </a:r>
            <a:r>
              <a:rPr lang="en-US" dirty="0"/>
              <a:t> di </a:t>
            </a:r>
            <a:r>
              <a:rPr lang="en-US" dirty="0" err="1"/>
              <a:t>una</a:t>
            </a:r>
            <a:r>
              <a:rPr lang="en-US" dirty="0"/>
              <a:t> rete Q, ne </a:t>
            </a:r>
            <a:r>
              <a:rPr lang="en-US" dirty="0" err="1"/>
              <a:t>usa</a:t>
            </a:r>
            <a:r>
              <a:rPr lang="en-US" dirty="0"/>
              <a:t> due e </a:t>
            </a:r>
            <a:r>
              <a:rPr lang="en-US" dirty="0" err="1"/>
              <a:t>prende</a:t>
            </a:r>
            <a:r>
              <a:rPr lang="en-US" dirty="0"/>
              <a:t> il </a:t>
            </a:r>
            <a:r>
              <a:rPr lang="en-US" dirty="0" err="1"/>
              <a:t>minimo</a:t>
            </a:r>
            <a:r>
              <a:rPr lang="en-US" dirty="0"/>
              <a:t> — </a:t>
            </a:r>
            <a:r>
              <a:rPr lang="en-US" dirty="0" err="1"/>
              <a:t>questo</a:t>
            </a:r>
            <a:r>
              <a:rPr lang="en-US" dirty="0"/>
              <a:t> </a:t>
            </a:r>
            <a:r>
              <a:rPr lang="en-US" dirty="0" err="1"/>
              <a:t>riduce</a:t>
            </a:r>
            <a:r>
              <a:rPr lang="en-US" dirty="0"/>
              <a:t> il </a:t>
            </a:r>
            <a:r>
              <a:rPr lang="en-US" dirty="0" err="1"/>
              <a:t>problema</a:t>
            </a:r>
            <a:r>
              <a:rPr lang="en-US" dirty="0"/>
              <a:t> di overestimation.</a:t>
            </a:r>
          </a:p>
          <a:p>
            <a:r>
              <a:rPr lang="en-US" b="1" dirty="0"/>
              <a:t>Delayed policy updates</a:t>
            </a:r>
            <a:r>
              <a:rPr lang="en-US" dirty="0"/>
              <a:t>: </a:t>
            </a:r>
            <a:r>
              <a:rPr lang="en-US" dirty="0" err="1"/>
              <a:t>l'Actor</a:t>
            </a:r>
            <a:r>
              <a:rPr lang="en-US" dirty="0"/>
              <a:t>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aggiornato</a:t>
            </a:r>
            <a:r>
              <a:rPr lang="en-US" dirty="0"/>
              <a:t> </a:t>
            </a:r>
            <a:r>
              <a:rPr lang="en-US" dirty="0" err="1"/>
              <a:t>meno</a:t>
            </a:r>
            <a:r>
              <a:rPr lang="en-US" dirty="0"/>
              <a:t> </a:t>
            </a:r>
            <a:r>
              <a:rPr lang="en-US" dirty="0" err="1"/>
              <a:t>frequentemente</a:t>
            </a:r>
            <a:r>
              <a:rPr lang="en-US" dirty="0"/>
              <a:t> del Critic (ogni 2 step del Critic), </a:t>
            </a:r>
            <a:r>
              <a:rPr lang="en-US" dirty="0" err="1"/>
              <a:t>dando</a:t>
            </a:r>
            <a:r>
              <a:rPr lang="en-US" dirty="0"/>
              <a:t> tempo al Critic di </a:t>
            </a:r>
            <a:r>
              <a:rPr lang="en-US" dirty="0" err="1"/>
              <a:t>stabilizzarsi</a:t>
            </a:r>
            <a:r>
              <a:rPr lang="en-US" dirty="0"/>
              <a:t> prima di </a:t>
            </a:r>
            <a:r>
              <a:rPr lang="en-US" dirty="0" err="1"/>
              <a:t>aggiornare</a:t>
            </a:r>
            <a:r>
              <a:rPr lang="en-US" dirty="0"/>
              <a:t> la policy.</a:t>
            </a:r>
          </a:p>
          <a:p>
            <a:r>
              <a:rPr lang="en-US" b="1" dirty="0"/>
              <a:t>Target policy smoothing</a:t>
            </a:r>
            <a:r>
              <a:rPr lang="en-US" dirty="0"/>
              <a:t>: </a:t>
            </a:r>
            <a:r>
              <a:rPr lang="en-US" dirty="0" err="1"/>
              <a:t>aggiunge</a:t>
            </a:r>
            <a:r>
              <a:rPr lang="en-US" dirty="0"/>
              <a:t> </a:t>
            </a:r>
            <a:r>
              <a:rPr lang="en-US" dirty="0" err="1"/>
              <a:t>rumore</a:t>
            </a:r>
            <a:r>
              <a:rPr lang="en-US" dirty="0"/>
              <a:t> piccolo </a:t>
            </a:r>
            <a:r>
              <a:rPr lang="en-US" dirty="0" err="1"/>
              <a:t>all'azione</a:t>
            </a:r>
            <a:r>
              <a:rPr lang="en-US" dirty="0"/>
              <a:t> della target network, </a:t>
            </a:r>
            <a:r>
              <a:rPr lang="en-US" dirty="0" err="1"/>
              <a:t>rendendo</a:t>
            </a:r>
            <a:r>
              <a:rPr lang="en-US" dirty="0"/>
              <a:t> il target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robusto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approccio completamente diverso: imparare da un esperto invece che per prove ed errori.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L'Imitation</a:t>
            </a:r>
            <a:r>
              <a:rPr lang="en-US" dirty="0"/>
              <a:t> Learning (IL) </a:t>
            </a:r>
            <a:r>
              <a:rPr lang="en-US" dirty="0" err="1"/>
              <a:t>parte</a:t>
            </a:r>
            <a:r>
              <a:rPr lang="en-US" dirty="0"/>
              <a:t> da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domanda</a:t>
            </a:r>
            <a:r>
              <a:rPr lang="en-US" dirty="0"/>
              <a:t> semplice: se </a:t>
            </a:r>
            <a:r>
              <a:rPr lang="en-US" dirty="0" err="1"/>
              <a:t>avete</a:t>
            </a:r>
            <a:r>
              <a:rPr lang="en-US" dirty="0"/>
              <a:t> </a:t>
            </a:r>
            <a:r>
              <a:rPr lang="en-US" dirty="0" err="1"/>
              <a:t>già</a:t>
            </a:r>
            <a:r>
              <a:rPr lang="en-US" dirty="0"/>
              <a:t> un </a:t>
            </a:r>
            <a:r>
              <a:rPr lang="en-US" dirty="0" err="1"/>
              <a:t>guidatore</a:t>
            </a:r>
            <a:r>
              <a:rPr lang="en-US" dirty="0"/>
              <a:t> bravo (un bot, un </a:t>
            </a:r>
            <a:r>
              <a:rPr lang="en-US" dirty="0" err="1"/>
              <a:t>esperto</a:t>
            </a:r>
            <a:r>
              <a:rPr lang="en-US" dirty="0"/>
              <a:t> </a:t>
            </a:r>
            <a:r>
              <a:rPr lang="en-US" dirty="0" err="1"/>
              <a:t>umano</a:t>
            </a:r>
            <a:r>
              <a:rPr lang="en-US" dirty="0"/>
              <a:t>, il bot </a:t>
            </a:r>
            <a:r>
              <a:rPr lang="en-US" dirty="0" err="1"/>
              <a:t>interno</a:t>
            </a:r>
            <a:r>
              <a:rPr lang="en-US" dirty="0"/>
              <a:t> di TORCS), </a:t>
            </a:r>
            <a:r>
              <a:rPr lang="en-US" dirty="0" err="1"/>
              <a:t>perché</a:t>
            </a:r>
            <a:r>
              <a:rPr lang="en-US" dirty="0"/>
              <a:t> non </a:t>
            </a:r>
            <a:r>
              <a:rPr lang="en-US" dirty="0" err="1"/>
              <a:t>insegnare</a:t>
            </a:r>
            <a:r>
              <a:rPr lang="en-US" dirty="0"/>
              <a:t> </a:t>
            </a:r>
            <a:r>
              <a:rPr lang="en-US" dirty="0" err="1"/>
              <a:t>direttamente</a:t>
            </a:r>
            <a:r>
              <a:rPr lang="en-US" dirty="0"/>
              <a:t> </a:t>
            </a:r>
            <a:r>
              <a:rPr lang="en-US" dirty="0" err="1"/>
              <a:t>all'agente</a:t>
            </a:r>
            <a:r>
              <a:rPr lang="en-US" dirty="0"/>
              <a:t> a </a:t>
            </a:r>
            <a:r>
              <a:rPr lang="en-US" dirty="0" err="1"/>
              <a:t>imitarlo</a:t>
            </a:r>
            <a:r>
              <a:rPr lang="en-US" dirty="0"/>
              <a:t>?</a:t>
            </a:r>
          </a:p>
          <a:p>
            <a:r>
              <a:rPr lang="en-US" dirty="0"/>
              <a:t>In RL, </a:t>
            </a:r>
            <a:r>
              <a:rPr lang="en-US" dirty="0" err="1"/>
              <a:t>l'agente</a:t>
            </a:r>
            <a:r>
              <a:rPr lang="en-US" dirty="0"/>
              <a:t> </a:t>
            </a:r>
            <a:r>
              <a:rPr lang="en-US" dirty="0" err="1"/>
              <a:t>deve</a:t>
            </a:r>
            <a:r>
              <a:rPr lang="en-US" dirty="0"/>
              <a:t> </a:t>
            </a:r>
            <a:r>
              <a:rPr lang="en-US" dirty="0" err="1"/>
              <a:t>scoprire</a:t>
            </a:r>
            <a:r>
              <a:rPr lang="en-US" dirty="0"/>
              <a:t> da solo </a:t>
            </a:r>
            <a:r>
              <a:rPr lang="en-US" dirty="0" err="1"/>
              <a:t>che</a:t>
            </a:r>
            <a:r>
              <a:rPr lang="en-US" dirty="0"/>
              <a:t> "</a:t>
            </a:r>
            <a:r>
              <a:rPr lang="en-US" dirty="0" err="1"/>
              <a:t>andare</a:t>
            </a:r>
            <a:r>
              <a:rPr lang="en-US" dirty="0"/>
              <a:t> </a:t>
            </a:r>
            <a:r>
              <a:rPr lang="en-US" dirty="0" err="1"/>
              <a:t>dritto</a:t>
            </a:r>
            <a:r>
              <a:rPr lang="en-US" dirty="0"/>
              <a:t> alla curva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cattiva</a:t>
            </a:r>
            <a:r>
              <a:rPr lang="en-US" dirty="0"/>
              <a:t> idea" </a:t>
            </a:r>
            <a:r>
              <a:rPr lang="en-US" dirty="0" err="1"/>
              <a:t>facendo</a:t>
            </a:r>
            <a:r>
              <a:rPr lang="en-US" dirty="0"/>
              <a:t> </a:t>
            </a:r>
            <a:r>
              <a:rPr lang="en-US" dirty="0" err="1"/>
              <a:t>centinaia</a:t>
            </a:r>
            <a:r>
              <a:rPr lang="en-US" dirty="0"/>
              <a:t> di </a:t>
            </a:r>
            <a:r>
              <a:rPr lang="en-US" dirty="0" err="1"/>
              <a:t>incidenti</a:t>
            </a:r>
            <a:r>
              <a:rPr lang="en-US" dirty="0"/>
              <a:t>. Con IL, </a:t>
            </a:r>
            <a:r>
              <a:rPr lang="en-US" dirty="0" err="1"/>
              <a:t>l'agente</a:t>
            </a:r>
            <a:r>
              <a:rPr lang="en-US" dirty="0"/>
              <a:t> </a:t>
            </a:r>
            <a:r>
              <a:rPr lang="en-US" dirty="0" err="1"/>
              <a:t>vede</a:t>
            </a:r>
            <a:r>
              <a:rPr lang="en-US" dirty="0"/>
              <a:t> come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comporta</a:t>
            </a:r>
            <a:r>
              <a:rPr lang="en-US" dirty="0"/>
              <a:t> </a:t>
            </a:r>
            <a:r>
              <a:rPr lang="en-US" dirty="0" err="1"/>
              <a:t>l'esperto</a:t>
            </a:r>
            <a:r>
              <a:rPr lang="en-US" dirty="0"/>
              <a:t> e </a:t>
            </a:r>
            <a:r>
              <a:rPr lang="en-US" dirty="0" err="1"/>
              <a:t>impara</a:t>
            </a:r>
            <a:r>
              <a:rPr lang="en-US" dirty="0"/>
              <a:t> </a:t>
            </a:r>
            <a:r>
              <a:rPr lang="en-US" dirty="0" err="1"/>
              <a:t>direttamente</a:t>
            </a:r>
            <a:r>
              <a:rPr lang="en-US" dirty="0"/>
              <a:t> da </a:t>
            </a:r>
            <a:r>
              <a:rPr lang="en-US" dirty="0" err="1"/>
              <a:t>quello</a:t>
            </a:r>
            <a:r>
              <a:rPr lang="en-US" dirty="0"/>
              <a:t>.</a:t>
            </a:r>
          </a:p>
          <a:p>
            <a:r>
              <a:rPr lang="en-US" b="1" dirty="0"/>
              <a:t>I </a:t>
            </a:r>
            <a:r>
              <a:rPr lang="en-US" b="1" dirty="0" err="1"/>
              <a:t>vantaggi</a:t>
            </a:r>
            <a:r>
              <a:rPr lang="en-US" b="1" dirty="0"/>
              <a:t> </a:t>
            </a:r>
            <a:r>
              <a:rPr lang="en-US" b="1" dirty="0" err="1"/>
              <a:t>sono</a:t>
            </a:r>
            <a:r>
              <a:rPr lang="en-US" b="1" dirty="0"/>
              <a:t> </a:t>
            </a:r>
            <a:r>
              <a:rPr lang="en-US" b="1" dirty="0" err="1"/>
              <a:t>chiari</a:t>
            </a:r>
            <a:r>
              <a:rPr lang="en-US" b="1" dirty="0"/>
              <a:t>:</a:t>
            </a:r>
            <a:endParaRPr lang="en-US" dirty="0"/>
          </a:p>
          <a:p>
            <a:r>
              <a:rPr lang="en-US" b="1" dirty="0" err="1"/>
              <a:t>Velocità</a:t>
            </a:r>
            <a:r>
              <a:rPr lang="en-US" dirty="0"/>
              <a:t>: non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parte</a:t>
            </a:r>
            <a:r>
              <a:rPr lang="en-US" dirty="0"/>
              <a:t> da zero. </a:t>
            </a:r>
            <a:r>
              <a:rPr lang="en-US" dirty="0" err="1"/>
              <a:t>L'agente</a:t>
            </a:r>
            <a:r>
              <a:rPr lang="en-US" dirty="0"/>
              <a:t> ha subito un </a:t>
            </a:r>
            <a:r>
              <a:rPr lang="en-US" dirty="0" err="1"/>
              <a:t>comportamento</a:t>
            </a:r>
            <a:r>
              <a:rPr lang="en-US" dirty="0"/>
              <a:t> </a:t>
            </a:r>
            <a:r>
              <a:rPr lang="en-US" dirty="0" err="1"/>
              <a:t>ragionevole</a:t>
            </a:r>
            <a:r>
              <a:rPr lang="en-US" dirty="0"/>
              <a:t>.</a:t>
            </a:r>
          </a:p>
          <a:p>
            <a:r>
              <a:rPr lang="en-US" b="1" dirty="0" err="1"/>
              <a:t>Nessuna</a:t>
            </a:r>
            <a:r>
              <a:rPr lang="en-US" b="1" dirty="0"/>
              <a:t> reward function</a:t>
            </a:r>
            <a:r>
              <a:rPr lang="en-US" dirty="0"/>
              <a:t>: non </a:t>
            </a:r>
            <a:r>
              <a:rPr lang="en-US" dirty="0" err="1"/>
              <a:t>dovete</a:t>
            </a:r>
            <a:r>
              <a:rPr lang="en-US" dirty="0"/>
              <a:t> </a:t>
            </a:r>
            <a:r>
              <a:rPr lang="en-US" dirty="0" err="1"/>
              <a:t>definire</a:t>
            </a:r>
            <a:r>
              <a:rPr lang="en-US" dirty="0"/>
              <a:t> </a:t>
            </a:r>
            <a:r>
              <a:rPr lang="en-US" dirty="0" err="1"/>
              <a:t>cosa</a:t>
            </a:r>
            <a:r>
              <a:rPr lang="en-US" dirty="0"/>
              <a:t> </a:t>
            </a:r>
            <a:r>
              <a:rPr lang="en-US" dirty="0" err="1"/>
              <a:t>premiare</a:t>
            </a:r>
            <a:r>
              <a:rPr lang="en-US" dirty="0"/>
              <a:t> e </a:t>
            </a:r>
            <a:r>
              <a:rPr lang="en-US" dirty="0" err="1"/>
              <a:t>cosa</a:t>
            </a:r>
            <a:r>
              <a:rPr lang="en-US" dirty="0"/>
              <a:t> </a:t>
            </a:r>
            <a:r>
              <a:rPr lang="en-US" dirty="0" err="1"/>
              <a:t>penalizzare</a:t>
            </a:r>
            <a:r>
              <a:rPr lang="en-US" dirty="0"/>
              <a:t>. </a:t>
            </a:r>
            <a:r>
              <a:rPr lang="en-US" dirty="0" err="1"/>
              <a:t>L'esperto</a:t>
            </a:r>
            <a:r>
              <a:rPr lang="en-US" dirty="0"/>
              <a:t> </a:t>
            </a:r>
            <a:r>
              <a:rPr lang="en-US" dirty="0" err="1"/>
              <a:t>mostra</a:t>
            </a:r>
            <a:r>
              <a:rPr lang="en-US" dirty="0"/>
              <a:t> </a:t>
            </a:r>
            <a:r>
              <a:rPr lang="en-US" dirty="0" err="1"/>
              <a:t>implicitamente</a:t>
            </a:r>
            <a:r>
              <a:rPr lang="en-US" dirty="0"/>
              <a:t> il </a:t>
            </a:r>
            <a:r>
              <a:rPr lang="en-US" dirty="0" err="1"/>
              <a:t>comportamento</a:t>
            </a:r>
            <a:r>
              <a:rPr lang="en-US" dirty="0"/>
              <a:t> </a:t>
            </a:r>
            <a:r>
              <a:rPr lang="en-US" dirty="0" err="1"/>
              <a:t>desiderato</a:t>
            </a:r>
            <a:r>
              <a:rPr lang="en-US" dirty="0"/>
              <a:t>.</a:t>
            </a:r>
          </a:p>
          <a:p>
            <a:r>
              <a:rPr lang="en-US" b="1" dirty="0" err="1"/>
              <a:t>Più</a:t>
            </a:r>
            <a:r>
              <a:rPr lang="en-US" b="1" dirty="0"/>
              <a:t> stabile</a:t>
            </a:r>
            <a:r>
              <a:rPr lang="en-US" dirty="0"/>
              <a:t>: non </a:t>
            </a:r>
            <a:r>
              <a:rPr lang="en-US" dirty="0" err="1"/>
              <a:t>c'è</a:t>
            </a:r>
            <a:r>
              <a:rPr lang="en-US" dirty="0"/>
              <a:t> il </a:t>
            </a:r>
            <a:r>
              <a:rPr lang="en-US" dirty="0" err="1"/>
              <a:t>problema</a:t>
            </a:r>
            <a:r>
              <a:rPr lang="en-US" dirty="0"/>
              <a:t> del training </a:t>
            </a:r>
            <a:r>
              <a:rPr lang="en-US" dirty="0" err="1"/>
              <a:t>instabile</a:t>
            </a:r>
            <a:r>
              <a:rPr lang="en-US" dirty="0"/>
              <a:t> </a:t>
            </a:r>
            <a:r>
              <a:rPr lang="en-US" dirty="0" err="1"/>
              <a:t>tipico</a:t>
            </a:r>
            <a:r>
              <a:rPr lang="en-US" dirty="0"/>
              <a:t> di RL.</a:t>
            </a:r>
          </a:p>
          <a:p>
            <a:r>
              <a:rPr lang="en-US" b="1" dirty="0"/>
              <a:t>I </a:t>
            </a:r>
            <a:r>
              <a:rPr lang="en-US" b="1" dirty="0" err="1"/>
              <a:t>problemi</a:t>
            </a:r>
            <a:r>
              <a:rPr lang="en-US" b="1" dirty="0"/>
              <a:t> </a:t>
            </a:r>
            <a:r>
              <a:rPr lang="en-US" b="1" dirty="0" err="1"/>
              <a:t>sono</a:t>
            </a:r>
            <a:r>
              <a:rPr lang="en-US" b="1" dirty="0"/>
              <a:t> </a:t>
            </a:r>
            <a:r>
              <a:rPr lang="en-US" b="1" dirty="0" err="1"/>
              <a:t>altrettanto</a:t>
            </a:r>
            <a:r>
              <a:rPr lang="en-US" b="1" dirty="0"/>
              <a:t> </a:t>
            </a:r>
            <a:r>
              <a:rPr lang="en-US" b="1" dirty="0" err="1"/>
              <a:t>reali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Il </a:t>
            </a:r>
            <a:r>
              <a:rPr lang="en-US" b="1" dirty="0"/>
              <a:t>distributional shift</a:t>
            </a:r>
            <a:r>
              <a:rPr lang="en-US" dirty="0"/>
              <a:t> (o covariate shift) </a:t>
            </a:r>
            <a:r>
              <a:rPr lang="en-US" dirty="0" err="1"/>
              <a:t>è</a:t>
            </a:r>
            <a:r>
              <a:rPr lang="en-US" dirty="0"/>
              <a:t> il </a:t>
            </a:r>
            <a:r>
              <a:rPr lang="en-US" dirty="0" err="1"/>
              <a:t>problema</a:t>
            </a:r>
            <a:r>
              <a:rPr lang="en-US" dirty="0"/>
              <a:t> </a:t>
            </a:r>
            <a:r>
              <a:rPr lang="en-US" dirty="0" err="1"/>
              <a:t>principale</a:t>
            </a:r>
            <a:r>
              <a:rPr lang="en-US" dirty="0"/>
              <a:t>. Durante il training con le demo, </a:t>
            </a:r>
            <a:r>
              <a:rPr lang="en-US" dirty="0" err="1"/>
              <a:t>l'agente</a:t>
            </a:r>
            <a:r>
              <a:rPr lang="en-US" dirty="0"/>
              <a:t> </a:t>
            </a:r>
            <a:r>
              <a:rPr lang="en-US" dirty="0" err="1"/>
              <a:t>vede</a:t>
            </a:r>
            <a:r>
              <a:rPr lang="en-US" dirty="0"/>
              <a:t> solo </a:t>
            </a:r>
            <a:r>
              <a:rPr lang="en-US" dirty="0" err="1"/>
              <a:t>gli</a:t>
            </a:r>
            <a:r>
              <a:rPr lang="en-US" dirty="0"/>
              <a:t> </a:t>
            </a:r>
            <a:r>
              <a:rPr lang="en-US" dirty="0" err="1"/>
              <a:t>stati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visita </a:t>
            </a:r>
            <a:r>
              <a:rPr lang="en-US" dirty="0" err="1"/>
              <a:t>l'esperto</a:t>
            </a:r>
            <a:r>
              <a:rPr lang="en-US" dirty="0"/>
              <a:t> —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sempre in </a:t>
            </a:r>
            <a:r>
              <a:rPr lang="en-US" dirty="0" err="1"/>
              <a:t>pista</a:t>
            </a:r>
            <a:r>
              <a:rPr lang="en-US" dirty="0"/>
              <a:t>, </a:t>
            </a:r>
            <a:r>
              <a:rPr lang="en-US" dirty="0" err="1"/>
              <a:t>mai</a:t>
            </a:r>
            <a:r>
              <a:rPr lang="en-US" dirty="0"/>
              <a:t> al </a:t>
            </a:r>
            <a:r>
              <a:rPr lang="en-US" dirty="0" err="1"/>
              <a:t>bordo</a:t>
            </a:r>
            <a:r>
              <a:rPr lang="en-US" dirty="0"/>
              <a:t>. Ma </a:t>
            </a:r>
            <a:r>
              <a:rPr lang="en-US" dirty="0" err="1"/>
              <a:t>durante</a:t>
            </a:r>
            <a:r>
              <a:rPr lang="en-US" dirty="0"/>
              <a:t> </a:t>
            </a:r>
            <a:r>
              <a:rPr lang="en-US" dirty="0" err="1"/>
              <a:t>l'esecuzione</a:t>
            </a:r>
            <a:r>
              <a:rPr lang="en-US" dirty="0"/>
              <a:t> </a:t>
            </a:r>
            <a:r>
              <a:rPr lang="en-US" dirty="0" err="1"/>
              <a:t>dell'agente</a:t>
            </a:r>
            <a:r>
              <a:rPr lang="en-US" dirty="0"/>
              <a:t>, se </a:t>
            </a:r>
            <a:r>
              <a:rPr lang="en-US" dirty="0" err="1"/>
              <a:t>commette</a:t>
            </a:r>
            <a:r>
              <a:rPr lang="en-US" dirty="0"/>
              <a:t> un piccolo </a:t>
            </a:r>
            <a:r>
              <a:rPr lang="en-US" dirty="0" err="1"/>
              <a:t>errore</a:t>
            </a:r>
            <a:r>
              <a:rPr lang="en-US" dirty="0"/>
              <a:t> e </a:t>
            </a:r>
            <a:r>
              <a:rPr lang="en-US" dirty="0" err="1"/>
              <a:t>si</a:t>
            </a:r>
            <a:r>
              <a:rPr lang="en-US" dirty="0"/>
              <a:t> trova </a:t>
            </a:r>
            <a:r>
              <a:rPr lang="en-US" dirty="0" err="1"/>
              <a:t>leggermente</a:t>
            </a:r>
            <a:r>
              <a:rPr lang="en-US" dirty="0"/>
              <a:t> </a:t>
            </a:r>
            <a:r>
              <a:rPr lang="en-US" dirty="0" err="1"/>
              <a:t>fuori</a:t>
            </a:r>
            <a:r>
              <a:rPr lang="en-US" dirty="0"/>
              <a:t> </a:t>
            </a:r>
            <a:r>
              <a:rPr lang="en-US" dirty="0" err="1"/>
              <a:t>traiettoria</a:t>
            </a:r>
            <a:r>
              <a:rPr lang="en-US" dirty="0"/>
              <a:t>, </a:t>
            </a:r>
            <a:r>
              <a:rPr lang="en-US" dirty="0" err="1"/>
              <a:t>si</a:t>
            </a:r>
            <a:r>
              <a:rPr lang="en-US" dirty="0"/>
              <a:t> trova in uno </a:t>
            </a:r>
            <a:r>
              <a:rPr lang="en-US" dirty="0" err="1"/>
              <a:t>stato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visto </a:t>
            </a:r>
            <a:r>
              <a:rPr lang="en-US" dirty="0" err="1"/>
              <a:t>durante</a:t>
            </a:r>
            <a:r>
              <a:rPr lang="en-US" dirty="0"/>
              <a:t> il training. La rete non </a:t>
            </a:r>
            <a:r>
              <a:rPr lang="en-US" dirty="0" err="1"/>
              <a:t>sa</a:t>
            </a:r>
            <a:r>
              <a:rPr lang="en-US" dirty="0"/>
              <a:t> come </a:t>
            </a:r>
            <a:r>
              <a:rPr lang="en-US" dirty="0" err="1"/>
              <a:t>comportarsi</a:t>
            </a:r>
            <a:r>
              <a:rPr lang="en-US" dirty="0"/>
              <a:t> e </a:t>
            </a:r>
            <a:r>
              <a:rPr lang="en-US" dirty="0" err="1"/>
              <a:t>tipicamente</a:t>
            </a:r>
            <a:r>
              <a:rPr lang="en-US" dirty="0"/>
              <a:t> fa </a:t>
            </a:r>
            <a:r>
              <a:rPr lang="en-US" dirty="0" err="1"/>
              <a:t>cose</a:t>
            </a:r>
            <a:r>
              <a:rPr lang="en-US" dirty="0"/>
              <a:t> </a:t>
            </a:r>
            <a:r>
              <a:rPr lang="en-US" dirty="0" err="1"/>
              <a:t>assurde</a:t>
            </a:r>
            <a:r>
              <a:rPr lang="en-US" dirty="0"/>
              <a:t>,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peggiorano</a:t>
            </a:r>
            <a:r>
              <a:rPr lang="en-US" dirty="0"/>
              <a:t> la </a:t>
            </a:r>
            <a:r>
              <a:rPr lang="en-US" dirty="0" err="1"/>
              <a:t>situazione</a:t>
            </a:r>
            <a:r>
              <a:rPr lang="en-US" dirty="0"/>
              <a:t> in modo </a:t>
            </a:r>
            <a:r>
              <a:rPr lang="en-US" dirty="0" err="1"/>
              <a:t>catastrofico</a:t>
            </a:r>
            <a:r>
              <a:rPr lang="en-US" dirty="0"/>
              <a:t>.</a:t>
            </a:r>
          </a:p>
          <a:p>
            <a:r>
              <a:rPr lang="en-US" dirty="0" err="1"/>
              <a:t>Immaginate</a:t>
            </a:r>
            <a:r>
              <a:rPr lang="en-US" dirty="0"/>
              <a:t> di </a:t>
            </a:r>
            <a:r>
              <a:rPr lang="en-US" dirty="0" err="1"/>
              <a:t>imparare</a:t>
            </a:r>
            <a:r>
              <a:rPr lang="en-US" dirty="0"/>
              <a:t> a </a:t>
            </a:r>
            <a:r>
              <a:rPr lang="en-US" dirty="0" err="1"/>
              <a:t>guidare</a:t>
            </a:r>
            <a:r>
              <a:rPr lang="en-US" dirty="0"/>
              <a:t> solo </a:t>
            </a:r>
            <a:r>
              <a:rPr lang="en-US" dirty="0" err="1"/>
              <a:t>osservando</a:t>
            </a:r>
            <a:r>
              <a:rPr lang="en-US" dirty="0"/>
              <a:t> un </a:t>
            </a:r>
            <a:r>
              <a:rPr lang="en-US" dirty="0" err="1"/>
              <a:t>pilota</a:t>
            </a:r>
            <a:r>
              <a:rPr lang="en-US" dirty="0"/>
              <a:t> </a:t>
            </a:r>
            <a:r>
              <a:rPr lang="en-US" dirty="0" err="1"/>
              <a:t>professionista</a:t>
            </a:r>
            <a:r>
              <a:rPr lang="en-US" dirty="0"/>
              <a:t>. Vi </a:t>
            </a:r>
            <a:r>
              <a:rPr lang="en-US" dirty="0" err="1"/>
              <a:t>insegna</a:t>
            </a:r>
            <a:r>
              <a:rPr lang="en-US" dirty="0"/>
              <a:t> ad </a:t>
            </a:r>
            <a:r>
              <a:rPr lang="en-US" dirty="0" err="1"/>
              <a:t>andare</a:t>
            </a:r>
            <a:r>
              <a:rPr lang="en-US" dirty="0"/>
              <a:t> in </a:t>
            </a:r>
            <a:r>
              <a:rPr lang="en-US" dirty="0" err="1"/>
              <a:t>pista</a:t>
            </a:r>
            <a:r>
              <a:rPr lang="en-US" dirty="0"/>
              <a:t> </a:t>
            </a:r>
            <a:r>
              <a:rPr lang="en-US" dirty="0" err="1"/>
              <a:t>pulita</a:t>
            </a:r>
            <a:r>
              <a:rPr lang="en-US" dirty="0"/>
              <a:t>. Quando per la prima volta vi </a:t>
            </a:r>
            <a:r>
              <a:rPr lang="en-US" dirty="0" err="1"/>
              <a:t>trovate</a:t>
            </a:r>
            <a:r>
              <a:rPr lang="en-US" dirty="0"/>
              <a:t> in un </a:t>
            </a:r>
            <a:r>
              <a:rPr lang="en-US" dirty="0" err="1"/>
              <a:t>acquaplaning</a:t>
            </a:r>
            <a:r>
              <a:rPr lang="en-US" dirty="0"/>
              <a:t>, non </a:t>
            </a:r>
            <a:r>
              <a:rPr lang="en-US" dirty="0" err="1"/>
              <a:t>avete</a:t>
            </a:r>
            <a:r>
              <a:rPr lang="en-US" dirty="0"/>
              <a:t> </a:t>
            </a:r>
            <a:r>
              <a:rPr lang="en-US" dirty="0" err="1"/>
              <a:t>nessuna</a:t>
            </a:r>
            <a:r>
              <a:rPr lang="en-US" dirty="0"/>
              <a:t> </a:t>
            </a:r>
            <a:r>
              <a:rPr lang="en-US" dirty="0" err="1"/>
              <a:t>esperienza</a:t>
            </a:r>
            <a:r>
              <a:rPr lang="en-US" dirty="0"/>
              <a:t> da cui </a:t>
            </a:r>
            <a:r>
              <a:rPr lang="en-US" dirty="0" err="1"/>
              <a:t>attingere</a:t>
            </a:r>
            <a:r>
              <a:rPr lang="en-US" dirty="0"/>
              <a:t>.</a:t>
            </a:r>
          </a:p>
          <a:p>
            <a:r>
              <a:rPr lang="en-US" b="1" dirty="0"/>
              <a:t>La </a:t>
            </a:r>
            <a:r>
              <a:rPr lang="en-US" b="1" dirty="0" err="1"/>
              <a:t>qualità</a:t>
            </a:r>
            <a:r>
              <a:rPr lang="en-US" b="1" dirty="0"/>
              <a:t> delle </a:t>
            </a:r>
            <a:r>
              <a:rPr lang="en-US" b="1" dirty="0" err="1"/>
              <a:t>dimostrazioni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un </a:t>
            </a:r>
            <a:r>
              <a:rPr lang="en-US" dirty="0" err="1"/>
              <a:t>altro</a:t>
            </a:r>
            <a:r>
              <a:rPr lang="en-US" dirty="0"/>
              <a:t> </a:t>
            </a:r>
            <a:r>
              <a:rPr lang="en-US" dirty="0" err="1"/>
              <a:t>limite</a:t>
            </a:r>
            <a:r>
              <a:rPr lang="en-US" dirty="0"/>
              <a:t>: </a:t>
            </a:r>
            <a:r>
              <a:rPr lang="en-US" dirty="0" err="1"/>
              <a:t>l'agente</a:t>
            </a:r>
            <a:r>
              <a:rPr lang="en-US" dirty="0"/>
              <a:t> non </a:t>
            </a:r>
            <a:r>
              <a:rPr lang="en-US" dirty="0" err="1"/>
              <a:t>può</a:t>
            </a:r>
            <a:r>
              <a:rPr lang="en-US" dirty="0"/>
              <a:t> </a:t>
            </a:r>
            <a:r>
              <a:rPr lang="en-US" dirty="0" err="1"/>
              <a:t>superare</a:t>
            </a:r>
            <a:r>
              <a:rPr lang="en-US" dirty="0"/>
              <a:t> </a:t>
            </a:r>
            <a:r>
              <a:rPr lang="en-US" dirty="0" err="1"/>
              <a:t>l'esperto</a:t>
            </a:r>
            <a:r>
              <a:rPr lang="en-US" dirty="0"/>
              <a:t> con IL puro. Per </a:t>
            </a:r>
            <a:r>
              <a:rPr lang="en-US" dirty="0" err="1"/>
              <a:t>superarlo</a:t>
            </a:r>
            <a:r>
              <a:rPr lang="en-US" dirty="0"/>
              <a:t>,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deve</a:t>
            </a:r>
            <a:r>
              <a:rPr lang="en-US" dirty="0"/>
              <a:t> </a:t>
            </a:r>
            <a:r>
              <a:rPr lang="en-US" dirty="0" err="1"/>
              <a:t>combinare</a:t>
            </a:r>
            <a:r>
              <a:rPr lang="en-US" dirty="0"/>
              <a:t> con RL.</a:t>
            </a:r>
          </a:p>
          <a:p>
            <a:r>
              <a:rPr lang="en-US" b="1" dirty="0"/>
              <a:t>In TORCS</a:t>
            </a:r>
            <a:r>
              <a:rPr lang="en-US" dirty="0"/>
              <a:t>, le </a:t>
            </a:r>
            <a:r>
              <a:rPr lang="en-US" dirty="0" err="1"/>
              <a:t>fonti</a:t>
            </a:r>
            <a:r>
              <a:rPr lang="en-US" dirty="0"/>
              <a:t> di </a:t>
            </a:r>
            <a:r>
              <a:rPr lang="en-US" dirty="0" err="1"/>
              <a:t>dimostrazione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utili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bot </a:t>
            </a:r>
            <a:r>
              <a:rPr lang="en-US" dirty="0" err="1"/>
              <a:t>interni</a:t>
            </a:r>
            <a:r>
              <a:rPr lang="en-US" dirty="0"/>
              <a:t> 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scr_server</a:t>
            </a:r>
            <a:r>
              <a:rPr lang="en-US" dirty="0"/>
              <a:t> </a:t>
            </a:r>
            <a:r>
              <a:rPr lang="en-US" dirty="0" err="1"/>
              <a:t>espone</a:t>
            </a:r>
            <a:r>
              <a:rPr lang="en-US" dirty="0"/>
              <a:t> </a:t>
            </a:r>
            <a:r>
              <a:rPr lang="en-US" dirty="0" err="1"/>
              <a:t>alcuni</a:t>
            </a:r>
            <a:r>
              <a:rPr lang="en-US" dirty="0"/>
              <a:t> bot </a:t>
            </a:r>
            <a:r>
              <a:rPr lang="en-US" dirty="0" err="1"/>
              <a:t>predefiniti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guidano</a:t>
            </a:r>
            <a:r>
              <a:rPr lang="en-US" dirty="0"/>
              <a:t> bene </a:t>
            </a:r>
            <a:r>
              <a:rPr lang="en-US" dirty="0" err="1"/>
              <a:t>sul</a:t>
            </a:r>
            <a:r>
              <a:rPr lang="en-US" dirty="0"/>
              <a:t> </a:t>
            </a:r>
            <a:r>
              <a:rPr lang="en-US" dirty="0" err="1"/>
              <a:t>tracciato</a:t>
            </a:r>
            <a:r>
              <a:rPr lang="en-US" dirty="0"/>
              <a:t> di default), </a:t>
            </a:r>
            <a:r>
              <a:rPr lang="en-US" dirty="0" err="1"/>
              <a:t>oppure</a:t>
            </a:r>
            <a:r>
              <a:rPr lang="en-US" dirty="0"/>
              <a:t> </a:t>
            </a:r>
            <a:r>
              <a:rPr lang="en-US" dirty="0" err="1"/>
              <a:t>registrare</a:t>
            </a:r>
            <a:r>
              <a:rPr lang="en-US" dirty="0"/>
              <a:t> </a:t>
            </a:r>
            <a:r>
              <a:rPr lang="en-US" dirty="0" err="1"/>
              <a:t>sessioni</a:t>
            </a:r>
            <a:r>
              <a:rPr lang="en-US" dirty="0"/>
              <a:t> di </a:t>
            </a:r>
            <a:r>
              <a:rPr lang="en-US" dirty="0" err="1"/>
              <a:t>guida</a:t>
            </a:r>
            <a:r>
              <a:rPr lang="en-US" dirty="0"/>
              <a:t> </a:t>
            </a:r>
            <a:r>
              <a:rPr lang="en-US" dirty="0" err="1"/>
              <a:t>manuale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Behavioral Cloning </a:t>
            </a:r>
            <a:r>
              <a:rPr lang="en-US" dirty="0" err="1"/>
              <a:t>è</a:t>
            </a:r>
            <a:r>
              <a:rPr lang="en-US" dirty="0"/>
              <a:t> il </a:t>
            </a:r>
            <a:r>
              <a:rPr lang="en-US" dirty="0" err="1"/>
              <a:t>metodo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semplice di Imitation Learning: </a:t>
            </a:r>
            <a:r>
              <a:rPr lang="en-US" dirty="0" err="1"/>
              <a:t>trattiamo</a:t>
            </a:r>
            <a:r>
              <a:rPr lang="en-US" dirty="0"/>
              <a:t> il </a:t>
            </a:r>
            <a:r>
              <a:rPr lang="en-US" dirty="0" err="1"/>
              <a:t>problema</a:t>
            </a:r>
            <a:r>
              <a:rPr lang="en-US" dirty="0"/>
              <a:t> come un </a:t>
            </a:r>
            <a:r>
              <a:rPr lang="en-US" dirty="0" err="1"/>
              <a:t>problema</a:t>
            </a:r>
            <a:r>
              <a:rPr lang="en-US" dirty="0"/>
              <a:t> di </a:t>
            </a:r>
            <a:r>
              <a:rPr lang="en-US" b="1" dirty="0"/>
              <a:t>supervised learning</a:t>
            </a:r>
            <a:r>
              <a:rPr lang="en-US" dirty="0"/>
              <a:t> classico.</a:t>
            </a:r>
          </a:p>
          <a:p>
            <a:r>
              <a:rPr lang="en-US" dirty="0"/>
              <a:t>Il dataset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raccolta</a:t>
            </a:r>
            <a:r>
              <a:rPr lang="en-US" dirty="0"/>
              <a:t> di </a:t>
            </a:r>
            <a:r>
              <a:rPr lang="en-US" dirty="0" err="1"/>
              <a:t>coppie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stato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azione)</a:t>
            </a:r>
            <a:r>
              <a:rPr lang="en-US" dirty="0"/>
              <a:t>: per ogni </a:t>
            </a:r>
            <a:r>
              <a:rPr lang="en-US" dirty="0" err="1"/>
              <a:t>istante</a:t>
            </a:r>
            <a:r>
              <a:rPr lang="en-US" dirty="0"/>
              <a:t> t delle </a:t>
            </a:r>
            <a:r>
              <a:rPr lang="en-US" dirty="0" err="1"/>
              <a:t>dimostrazioni</a:t>
            </a:r>
            <a:r>
              <a:rPr lang="en-US" dirty="0"/>
              <a:t>, </a:t>
            </a:r>
            <a:r>
              <a:rPr lang="en-US" dirty="0" err="1"/>
              <a:t>registriamo</a:t>
            </a:r>
            <a:r>
              <a:rPr lang="en-US" dirty="0"/>
              <a:t> lo </a:t>
            </a:r>
            <a:r>
              <a:rPr lang="en-US" dirty="0" err="1"/>
              <a:t>stato</a:t>
            </a:r>
            <a:r>
              <a:rPr lang="en-US" dirty="0"/>
              <a:t> </a:t>
            </a:r>
            <a:r>
              <a:rPr lang="en-US" dirty="0" err="1"/>
              <a:t>s_t</a:t>
            </a:r>
            <a:r>
              <a:rPr lang="en-US" dirty="0"/>
              <a:t> e </a:t>
            </a:r>
            <a:r>
              <a:rPr lang="en-US" dirty="0" err="1"/>
              <a:t>l'azione</a:t>
            </a:r>
            <a:r>
              <a:rPr lang="en-US" dirty="0"/>
              <a:t> </a:t>
            </a:r>
            <a:r>
              <a:rPr lang="en-US" dirty="0" err="1"/>
              <a:t>a_t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l'esperto</a:t>
            </a:r>
            <a:r>
              <a:rPr lang="en-US" dirty="0"/>
              <a:t> ha </a:t>
            </a:r>
            <a:r>
              <a:rPr lang="en-US" dirty="0" err="1"/>
              <a:t>eseguito</a:t>
            </a:r>
            <a:r>
              <a:rPr lang="en-US" dirty="0"/>
              <a:t>. Poi </a:t>
            </a:r>
            <a:r>
              <a:rPr lang="en-US" dirty="0" err="1"/>
              <a:t>addestriamo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rete </a:t>
            </a:r>
            <a:r>
              <a:rPr lang="en-US" dirty="0" err="1"/>
              <a:t>neurale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questi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, con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stati</a:t>
            </a:r>
            <a:r>
              <a:rPr lang="en-US" dirty="0"/>
              <a:t> come input e le </a:t>
            </a:r>
            <a:r>
              <a:rPr lang="en-US" dirty="0" err="1"/>
              <a:t>azioni</a:t>
            </a:r>
            <a:r>
              <a:rPr lang="en-US" dirty="0"/>
              <a:t> come output. La loss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tipicamente</a:t>
            </a:r>
            <a:r>
              <a:rPr lang="en-US" dirty="0"/>
              <a:t> MSE (Mean Squared Error)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l'azione</a:t>
            </a:r>
            <a:r>
              <a:rPr lang="en-US" dirty="0"/>
              <a:t> </a:t>
            </a:r>
            <a:r>
              <a:rPr lang="en-US" dirty="0" err="1"/>
              <a:t>prevista</a:t>
            </a:r>
            <a:r>
              <a:rPr lang="en-US" dirty="0"/>
              <a:t> </a:t>
            </a:r>
            <a:r>
              <a:rPr lang="en-US" dirty="0" err="1"/>
              <a:t>dalla</a:t>
            </a:r>
            <a:r>
              <a:rPr lang="en-US" dirty="0"/>
              <a:t> rete e </a:t>
            </a:r>
            <a:r>
              <a:rPr lang="en-US" dirty="0" err="1"/>
              <a:t>quella</a:t>
            </a:r>
            <a:r>
              <a:rPr lang="en-US" dirty="0"/>
              <a:t> </a:t>
            </a:r>
            <a:r>
              <a:rPr lang="en-US" dirty="0" err="1"/>
              <a:t>dell'esperto</a:t>
            </a:r>
            <a:r>
              <a:rPr lang="en-US" dirty="0"/>
              <a:t>.</a:t>
            </a:r>
          </a:p>
          <a:p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esattamente</a:t>
            </a:r>
            <a:r>
              <a:rPr lang="en-US" dirty="0"/>
              <a:t> come </a:t>
            </a:r>
            <a:r>
              <a:rPr lang="en-US" dirty="0" err="1"/>
              <a:t>allenare</a:t>
            </a:r>
            <a:r>
              <a:rPr lang="en-US" dirty="0"/>
              <a:t> un </a:t>
            </a:r>
            <a:r>
              <a:rPr lang="en-US" dirty="0" err="1"/>
              <a:t>classificatore</a:t>
            </a:r>
            <a:r>
              <a:rPr lang="en-US" dirty="0"/>
              <a:t> di </a:t>
            </a:r>
            <a:r>
              <a:rPr lang="en-US" dirty="0" err="1"/>
              <a:t>immagini</a:t>
            </a:r>
            <a:r>
              <a:rPr lang="en-US" dirty="0"/>
              <a:t> — solo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invece</a:t>
            </a:r>
            <a:r>
              <a:rPr lang="en-US" dirty="0"/>
              <a:t> di </a:t>
            </a:r>
            <a:r>
              <a:rPr lang="en-US" dirty="0" err="1"/>
              <a:t>classificare</a:t>
            </a:r>
            <a:r>
              <a:rPr lang="en-US" dirty="0"/>
              <a:t> </a:t>
            </a:r>
            <a:r>
              <a:rPr lang="en-US" dirty="0" err="1"/>
              <a:t>immagini</a:t>
            </a:r>
            <a:r>
              <a:rPr lang="en-US" dirty="0"/>
              <a:t>, "</a:t>
            </a:r>
            <a:r>
              <a:rPr lang="en-US" dirty="0" err="1"/>
              <a:t>classifichiamo</a:t>
            </a:r>
            <a:r>
              <a:rPr lang="en-US" dirty="0"/>
              <a:t>" (o </a:t>
            </a:r>
            <a:r>
              <a:rPr lang="en-US" dirty="0" err="1"/>
              <a:t>meglio</a:t>
            </a:r>
            <a:r>
              <a:rPr lang="en-US" dirty="0"/>
              <a:t>, </a:t>
            </a:r>
            <a:r>
              <a:rPr lang="en-US" i="1" dirty="0" err="1"/>
              <a:t>regreduciamo</a:t>
            </a:r>
            <a:r>
              <a:rPr lang="en-US" dirty="0"/>
              <a:t>) </a:t>
            </a:r>
            <a:r>
              <a:rPr lang="en-US" dirty="0" err="1"/>
              <a:t>azioni</a:t>
            </a:r>
            <a:r>
              <a:rPr lang="en-US" dirty="0"/>
              <a:t> a </a:t>
            </a:r>
            <a:r>
              <a:rPr lang="en-US" dirty="0" err="1"/>
              <a:t>partire</a:t>
            </a:r>
            <a:r>
              <a:rPr lang="en-US" dirty="0"/>
              <a:t> da </a:t>
            </a:r>
            <a:r>
              <a:rPr lang="en-US" dirty="0" err="1"/>
              <a:t>stati</a:t>
            </a:r>
            <a:r>
              <a:rPr lang="en-US" dirty="0"/>
              <a:t>.</a:t>
            </a:r>
          </a:p>
          <a:p>
            <a:r>
              <a:rPr lang="en-US" b="1" dirty="0"/>
              <a:t>Pipeline </a:t>
            </a:r>
            <a:r>
              <a:rPr lang="en-US" b="1" dirty="0" err="1"/>
              <a:t>concreta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 err="1"/>
              <a:t>Avviate</a:t>
            </a:r>
            <a:r>
              <a:rPr lang="en-US" dirty="0"/>
              <a:t> TORCS con un bot </a:t>
            </a:r>
            <a:r>
              <a:rPr lang="en-US" dirty="0" err="1"/>
              <a:t>esperto</a:t>
            </a:r>
            <a:r>
              <a:rPr lang="en-US" dirty="0"/>
              <a:t> e </a:t>
            </a:r>
            <a:r>
              <a:rPr lang="en-US" dirty="0" err="1"/>
              <a:t>registrate</a:t>
            </a:r>
            <a:r>
              <a:rPr lang="en-US" dirty="0"/>
              <a:t> N </a:t>
            </a:r>
            <a:r>
              <a:rPr lang="en-US" dirty="0" err="1"/>
              <a:t>episodi</a:t>
            </a:r>
            <a:r>
              <a:rPr lang="en-US" dirty="0"/>
              <a:t> (</a:t>
            </a:r>
            <a:r>
              <a:rPr lang="en-US" dirty="0" err="1"/>
              <a:t>tipicamente</a:t>
            </a:r>
            <a:r>
              <a:rPr lang="en-US" dirty="0"/>
              <a:t> 10K–50K step).</a:t>
            </a:r>
          </a:p>
          <a:p>
            <a:r>
              <a:rPr lang="en-US" dirty="0"/>
              <a:t>Per ogni step, </a:t>
            </a:r>
            <a:r>
              <a:rPr lang="en-US" dirty="0" err="1"/>
              <a:t>salvate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(features(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obs_t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action_t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en-US" dirty="0"/>
              <a:t> dove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features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la </a:t>
            </a:r>
            <a:r>
              <a:rPr lang="en-US" dirty="0" err="1"/>
              <a:t>funzione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estrae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sensori</a:t>
            </a:r>
            <a:r>
              <a:rPr lang="en-US" dirty="0"/>
              <a:t> </a:t>
            </a:r>
            <a:r>
              <a:rPr lang="en-US" dirty="0" err="1"/>
              <a:t>rilevanti</a:t>
            </a:r>
            <a:r>
              <a:rPr lang="en-US" dirty="0"/>
              <a:t>.</a:t>
            </a:r>
          </a:p>
          <a:p>
            <a:r>
              <a:rPr lang="en-US" dirty="0" err="1"/>
              <a:t>Costruite</a:t>
            </a:r>
            <a:r>
              <a:rPr lang="en-US" dirty="0"/>
              <a:t> un array </a:t>
            </a:r>
            <a:r>
              <a:rPr lang="en-US" dirty="0" err="1"/>
              <a:t>numpy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en-US" dirty="0"/>
              <a:t> (</a:t>
            </a:r>
            <a:r>
              <a:rPr lang="en-US" dirty="0" err="1"/>
              <a:t>stati</a:t>
            </a:r>
            <a:r>
              <a:rPr lang="en-US" dirty="0"/>
              <a:t>) 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</a:t>
            </a:r>
            <a:r>
              <a:rPr lang="en-US" dirty="0"/>
              <a:t> (</a:t>
            </a:r>
            <a:r>
              <a:rPr lang="en-US" dirty="0" err="1"/>
              <a:t>azioni</a:t>
            </a:r>
            <a:r>
              <a:rPr lang="en-US" dirty="0"/>
              <a:t>) e fate fit di </a:t>
            </a:r>
            <a:r>
              <a:rPr lang="en-US" dirty="0" err="1"/>
              <a:t>una</a:t>
            </a:r>
            <a:r>
              <a:rPr lang="en-US" dirty="0"/>
              <a:t> rete </a:t>
            </a:r>
            <a:r>
              <a:rPr lang="en-US" dirty="0" err="1"/>
              <a:t>neurale</a:t>
            </a:r>
            <a:r>
              <a:rPr lang="en-US" dirty="0"/>
              <a:t>.</a:t>
            </a:r>
          </a:p>
          <a:p>
            <a:r>
              <a:rPr lang="en-US" dirty="0"/>
              <a:t>La rete </a:t>
            </a:r>
            <a:r>
              <a:rPr lang="en-US" dirty="0" err="1"/>
              <a:t>addestrata</a:t>
            </a:r>
            <a:r>
              <a:rPr lang="en-US" dirty="0"/>
              <a:t> </a:t>
            </a:r>
            <a:r>
              <a:rPr lang="en-US" dirty="0" err="1"/>
              <a:t>diventa</a:t>
            </a:r>
            <a:r>
              <a:rPr lang="en-US" dirty="0"/>
              <a:t> la </a:t>
            </a:r>
            <a:r>
              <a:rPr lang="en-US" dirty="0" err="1"/>
              <a:t>vostra</a:t>
            </a:r>
            <a:r>
              <a:rPr lang="en-US" dirty="0"/>
              <a:t> policy.</a:t>
            </a:r>
          </a:p>
          <a:p>
            <a:r>
              <a:rPr lang="en-US" b="1" dirty="0" err="1"/>
              <a:t>L'architettura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tipicamente</a:t>
            </a:r>
            <a:r>
              <a:rPr lang="en-US" dirty="0"/>
              <a:t> semplice: 2–3 layer </a:t>
            </a:r>
            <a:r>
              <a:rPr lang="en-US" dirty="0" err="1"/>
              <a:t>densi</a:t>
            </a:r>
            <a:r>
              <a:rPr lang="en-US" dirty="0"/>
              <a:t> con </a:t>
            </a:r>
            <a:r>
              <a:rPr lang="en-US" dirty="0" err="1"/>
              <a:t>attivazione</a:t>
            </a:r>
            <a:r>
              <a:rPr lang="en-US" dirty="0"/>
              <a:t> </a:t>
            </a:r>
            <a:r>
              <a:rPr lang="en-US" dirty="0" err="1"/>
              <a:t>ReLU</a:t>
            </a:r>
            <a:r>
              <a:rPr lang="en-US" dirty="0"/>
              <a:t> e un output con tanh (</a:t>
            </a:r>
            <a:r>
              <a:rPr lang="en-US" dirty="0" err="1"/>
              <a:t>che</a:t>
            </a:r>
            <a:r>
              <a:rPr lang="en-US" dirty="0"/>
              <a:t> produce </a:t>
            </a:r>
            <a:r>
              <a:rPr lang="en-US" dirty="0" err="1"/>
              <a:t>valori</a:t>
            </a:r>
            <a:r>
              <a:rPr lang="en-US" dirty="0"/>
              <a:t> in [−1, 1], </a:t>
            </a:r>
            <a:r>
              <a:rPr lang="en-US" dirty="0" err="1"/>
              <a:t>perfetto</a:t>
            </a:r>
            <a:r>
              <a:rPr lang="en-US" dirty="0"/>
              <a:t> per </a:t>
            </a:r>
            <a:r>
              <a:rPr lang="en-US" dirty="0" err="1"/>
              <a:t>sterzo</a:t>
            </a:r>
            <a:r>
              <a:rPr lang="en-US" dirty="0"/>
              <a:t> e accel).</a:t>
            </a:r>
          </a:p>
          <a:p>
            <a:r>
              <a:rPr lang="en-US" b="1" dirty="0"/>
              <a:t>Il </a:t>
            </a:r>
            <a:r>
              <a:rPr lang="en-US" b="1" dirty="0" err="1"/>
              <a:t>problema</a:t>
            </a:r>
            <a:r>
              <a:rPr lang="en-US" b="1" dirty="0"/>
              <a:t> del covariate shift in </a:t>
            </a:r>
            <a:r>
              <a:rPr lang="en-US" b="1" dirty="0" err="1"/>
              <a:t>pratica</a:t>
            </a:r>
            <a:r>
              <a:rPr lang="en-US" b="1" dirty="0"/>
              <a:t>.</a:t>
            </a:r>
            <a:r>
              <a:rPr lang="en-US" dirty="0"/>
              <a:t> </a:t>
            </a:r>
            <a:r>
              <a:rPr lang="en-US" dirty="0" err="1"/>
              <a:t>Supponiamo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l'agente</a:t>
            </a:r>
            <a:r>
              <a:rPr lang="en-US" dirty="0"/>
              <a:t> BC </a:t>
            </a:r>
            <a:r>
              <a:rPr lang="en-US" dirty="0" err="1"/>
              <a:t>sia</a:t>
            </a:r>
            <a:r>
              <a:rPr lang="en-US" dirty="0"/>
              <a:t> a </a:t>
            </a:r>
            <a:r>
              <a:rPr lang="en-US" dirty="0" err="1"/>
              <a:t>trackPos</a:t>
            </a:r>
            <a:r>
              <a:rPr lang="en-US" dirty="0"/>
              <a:t>=0.1 (</a:t>
            </a:r>
            <a:r>
              <a:rPr lang="en-US" dirty="0" err="1"/>
              <a:t>leggermente</a:t>
            </a:r>
            <a:r>
              <a:rPr lang="en-US" dirty="0"/>
              <a:t> a </a:t>
            </a:r>
            <a:r>
              <a:rPr lang="en-US" dirty="0" err="1"/>
              <a:t>destra</a:t>
            </a:r>
            <a:r>
              <a:rPr lang="en-US" dirty="0"/>
              <a:t>). Nella demo, </a:t>
            </a:r>
            <a:r>
              <a:rPr lang="en-US" dirty="0" err="1"/>
              <a:t>l'esperto</a:t>
            </a:r>
            <a:r>
              <a:rPr lang="en-US" dirty="0"/>
              <a:t> non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stato</a:t>
            </a:r>
            <a:r>
              <a:rPr lang="en-US" dirty="0"/>
              <a:t> </a:t>
            </a:r>
            <a:r>
              <a:rPr lang="en-US" dirty="0" err="1"/>
              <a:t>esattamente</a:t>
            </a:r>
            <a:r>
              <a:rPr lang="en-US" dirty="0"/>
              <a:t> a </a:t>
            </a:r>
            <a:r>
              <a:rPr lang="en-US" dirty="0" err="1"/>
              <a:t>trackPos</a:t>
            </a:r>
            <a:r>
              <a:rPr lang="en-US" dirty="0"/>
              <a:t>=0.1 per via di </a:t>
            </a:r>
            <a:r>
              <a:rPr lang="en-US" dirty="0" err="1"/>
              <a:t>una</a:t>
            </a:r>
            <a:r>
              <a:rPr lang="en-US" dirty="0"/>
              <a:t> curva — era a </a:t>
            </a:r>
            <a:r>
              <a:rPr lang="en-US" dirty="0" err="1"/>
              <a:t>trackPos</a:t>
            </a:r>
            <a:r>
              <a:rPr lang="en-US" dirty="0"/>
              <a:t>=0.0. La rete </a:t>
            </a:r>
            <a:r>
              <a:rPr lang="en-US" dirty="0" err="1"/>
              <a:t>generalizza</a:t>
            </a:r>
            <a:r>
              <a:rPr lang="en-US" dirty="0"/>
              <a:t> e fa </a:t>
            </a:r>
            <a:r>
              <a:rPr lang="en-US" dirty="0" err="1"/>
              <a:t>qualcosa</a:t>
            </a:r>
            <a:r>
              <a:rPr lang="en-US" dirty="0"/>
              <a:t>, ma </a:t>
            </a:r>
            <a:r>
              <a:rPr lang="en-US" dirty="0" err="1"/>
              <a:t>magari</a:t>
            </a:r>
            <a:r>
              <a:rPr lang="en-US" dirty="0"/>
              <a:t> </a:t>
            </a:r>
            <a:r>
              <a:rPr lang="en-US" dirty="0" err="1"/>
              <a:t>sbaglia</a:t>
            </a:r>
            <a:r>
              <a:rPr lang="en-US" dirty="0"/>
              <a:t> </a:t>
            </a:r>
            <a:r>
              <a:rPr lang="en-US" dirty="0" err="1"/>
              <a:t>leggermente</a:t>
            </a:r>
            <a:r>
              <a:rPr lang="en-US" dirty="0"/>
              <a:t>. </a:t>
            </a:r>
            <a:r>
              <a:rPr lang="en-US" dirty="0" err="1"/>
              <a:t>Questo</a:t>
            </a:r>
            <a:r>
              <a:rPr lang="en-US" dirty="0"/>
              <a:t> porta a </a:t>
            </a:r>
            <a:r>
              <a:rPr lang="en-US" dirty="0" err="1"/>
              <a:t>trackPos</a:t>
            </a:r>
            <a:r>
              <a:rPr lang="en-US" dirty="0"/>
              <a:t>=0.15. E </a:t>
            </a:r>
            <a:r>
              <a:rPr lang="en-US" dirty="0" err="1"/>
              <a:t>così</a:t>
            </a:r>
            <a:r>
              <a:rPr lang="en-US" dirty="0"/>
              <a:t> via, </a:t>
            </a:r>
            <a:r>
              <a:rPr lang="en-US" dirty="0" err="1"/>
              <a:t>piccoli</a:t>
            </a:r>
            <a:r>
              <a:rPr lang="en-US" dirty="0"/>
              <a:t> </a:t>
            </a:r>
            <a:r>
              <a:rPr lang="en-US" dirty="0" err="1"/>
              <a:t>errori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accumulano</a:t>
            </a:r>
            <a:r>
              <a:rPr lang="en-US" dirty="0"/>
              <a:t> </a:t>
            </a:r>
            <a:r>
              <a:rPr lang="en-US" dirty="0" err="1"/>
              <a:t>fino</a:t>
            </a:r>
            <a:r>
              <a:rPr lang="en-US" dirty="0"/>
              <a:t> a </a:t>
            </a:r>
            <a:r>
              <a:rPr lang="en-US" dirty="0" err="1"/>
              <a:t>uscire</a:t>
            </a:r>
            <a:r>
              <a:rPr lang="en-US" dirty="0"/>
              <a:t> di </a:t>
            </a:r>
            <a:r>
              <a:rPr lang="en-US" dirty="0" err="1"/>
              <a:t>pista</a:t>
            </a:r>
            <a:r>
              <a:rPr lang="en-US" dirty="0"/>
              <a:t>. </a:t>
            </a:r>
            <a:r>
              <a:rPr lang="en-US" dirty="0" err="1"/>
              <a:t>L'agente</a:t>
            </a:r>
            <a:r>
              <a:rPr lang="en-US" dirty="0"/>
              <a:t> non ha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imparato</a:t>
            </a:r>
            <a:r>
              <a:rPr lang="en-US" dirty="0"/>
              <a:t> come </a:t>
            </a:r>
            <a:r>
              <a:rPr lang="en-US" i="1" dirty="0" err="1"/>
              <a:t>recuperare</a:t>
            </a:r>
            <a:r>
              <a:rPr lang="en-US" dirty="0"/>
              <a:t> da uno </a:t>
            </a:r>
            <a:r>
              <a:rPr lang="en-US" dirty="0" err="1"/>
              <a:t>stato</a:t>
            </a:r>
            <a:r>
              <a:rPr lang="en-US" dirty="0"/>
              <a:t> </a:t>
            </a:r>
            <a:r>
              <a:rPr lang="en-US" dirty="0" err="1"/>
              <a:t>leggermente</a:t>
            </a:r>
            <a:r>
              <a:rPr lang="en-US" dirty="0"/>
              <a:t> off-target.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slide </a:t>
            </a:r>
            <a:r>
              <a:rPr lang="en-US" dirty="0" err="1"/>
              <a:t>mostra</a:t>
            </a:r>
            <a:r>
              <a:rPr lang="en-US" dirty="0"/>
              <a:t> il </a:t>
            </a:r>
            <a:r>
              <a:rPr lang="en-US" dirty="0" err="1"/>
              <a:t>codice</a:t>
            </a:r>
            <a:r>
              <a:rPr lang="en-US" dirty="0"/>
              <a:t> </a:t>
            </a:r>
            <a:r>
              <a:rPr lang="en-US" dirty="0" err="1"/>
              <a:t>concreto</a:t>
            </a:r>
            <a:r>
              <a:rPr lang="en-US" dirty="0"/>
              <a:t>. </a:t>
            </a:r>
            <a:r>
              <a:rPr lang="en-US" dirty="0" err="1"/>
              <a:t>Soffermiamoci</a:t>
            </a:r>
            <a:r>
              <a:rPr lang="en-US" dirty="0"/>
              <a:t> </a:t>
            </a:r>
            <a:r>
              <a:rPr lang="en-US" dirty="0" err="1"/>
              <a:t>sulle</a:t>
            </a:r>
            <a:r>
              <a:rPr lang="en-US" dirty="0"/>
              <a:t> parti </a:t>
            </a:r>
            <a:r>
              <a:rPr lang="en-US" dirty="0" err="1"/>
              <a:t>chiave</a:t>
            </a:r>
            <a:r>
              <a:rPr lang="en-US" dirty="0"/>
              <a:t>.</a:t>
            </a:r>
          </a:p>
          <a:p>
            <a:r>
              <a:rPr lang="en-US" b="1" dirty="0"/>
              <a:t>La </a:t>
            </a:r>
            <a:r>
              <a:rPr lang="en-US" b="1" dirty="0" err="1"/>
              <a:t>raccolta</a:t>
            </a:r>
            <a:r>
              <a:rPr lang="en-US" b="1" dirty="0"/>
              <a:t> </a:t>
            </a:r>
            <a:r>
              <a:rPr lang="en-US" b="1" dirty="0" err="1"/>
              <a:t>dati</a:t>
            </a:r>
            <a:r>
              <a:rPr lang="en-US" dirty="0"/>
              <a:t> </a:t>
            </a:r>
            <a:r>
              <a:rPr lang="en-US" dirty="0" err="1"/>
              <a:t>avviene</a:t>
            </a:r>
            <a:r>
              <a:rPr lang="en-US" dirty="0"/>
              <a:t> </a:t>
            </a:r>
            <a:r>
              <a:rPr lang="en-US" dirty="0" err="1"/>
              <a:t>nel</a:t>
            </a:r>
            <a:r>
              <a:rPr lang="en-US" dirty="0"/>
              <a:t> loop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_ in range(10000)</a:t>
            </a:r>
            <a:r>
              <a:rPr lang="en-US" dirty="0"/>
              <a:t>. </a:t>
            </a:r>
            <a:r>
              <a:rPr lang="en-US" dirty="0" err="1"/>
              <a:t>L'importante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sia</a:t>
            </a:r>
            <a:r>
              <a:rPr lang="en-US" dirty="0"/>
              <a:t> il </a:t>
            </a:r>
            <a:r>
              <a:rPr lang="en-US" i="1" dirty="0"/>
              <a:t>bot</a:t>
            </a:r>
            <a:r>
              <a:rPr lang="en-US" dirty="0"/>
              <a:t> (non il vostro </a:t>
            </a:r>
            <a:r>
              <a:rPr lang="en-US" dirty="0" err="1"/>
              <a:t>agente</a:t>
            </a:r>
            <a:r>
              <a:rPr lang="en-US" dirty="0"/>
              <a:t>) a </a:t>
            </a:r>
            <a:r>
              <a:rPr lang="en-US" dirty="0" err="1"/>
              <a:t>fornire</a:t>
            </a:r>
            <a:r>
              <a:rPr lang="en-US" dirty="0"/>
              <a:t> le </a:t>
            </a:r>
            <a:r>
              <a:rPr lang="en-US" dirty="0" err="1"/>
              <a:t>azioni</a:t>
            </a:r>
            <a:r>
              <a:rPr lang="en-US" dirty="0"/>
              <a:t> — state </a:t>
            </a:r>
            <a:r>
              <a:rPr lang="en-US" dirty="0" err="1"/>
              <a:t>registrando</a:t>
            </a:r>
            <a:r>
              <a:rPr lang="en-US" dirty="0"/>
              <a:t> il </a:t>
            </a:r>
            <a:r>
              <a:rPr lang="en-US" dirty="0" err="1"/>
              <a:t>comportamento</a:t>
            </a:r>
            <a:r>
              <a:rPr lang="en-US" dirty="0"/>
              <a:t> </a:t>
            </a:r>
            <a:r>
              <a:rPr lang="en-US" dirty="0" err="1"/>
              <a:t>dell'esperto</a:t>
            </a:r>
            <a:r>
              <a:rPr lang="en-US" dirty="0"/>
              <a:t>, non del vostro </a:t>
            </a:r>
            <a:r>
              <a:rPr lang="en-US" dirty="0" err="1"/>
              <a:t>agente</a:t>
            </a:r>
            <a:r>
              <a:rPr lang="en-US" dirty="0"/>
              <a:t>.</a:t>
            </a:r>
          </a:p>
          <a:p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bot_policy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obs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en-US" dirty="0"/>
              <a:t> — in </a:t>
            </a:r>
            <a:r>
              <a:rPr lang="en-US" dirty="0" err="1"/>
              <a:t>gym_torcs</a:t>
            </a:r>
            <a:r>
              <a:rPr lang="en-US" dirty="0"/>
              <a:t> e </a:t>
            </a:r>
            <a:r>
              <a:rPr lang="en-US" dirty="0" err="1"/>
              <a:t>pyTORCS</a:t>
            </a:r>
            <a:r>
              <a:rPr lang="en-US" dirty="0"/>
              <a:t>, il bot </a:t>
            </a:r>
            <a:r>
              <a:rPr lang="en-US" dirty="0" err="1"/>
              <a:t>interno</a:t>
            </a:r>
            <a:r>
              <a:rPr lang="en-US" dirty="0"/>
              <a:t> di TORCS </a:t>
            </a:r>
            <a:r>
              <a:rPr lang="en-US" dirty="0" err="1"/>
              <a:t>può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 </a:t>
            </a:r>
            <a:r>
              <a:rPr lang="en-US" dirty="0" err="1"/>
              <a:t>interfacciato</a:t>
            </a:r>
            <a:r>
              <a:rPr lang="en-US" dirty="0"/>
              <a:t> </a:t>
            </a:r>
            <a:r>
              <a:rPr lang="en-US" dirty="0" err="1"/>
              <a:t>direttamente</a:t>
            </a:r>
            <a:r>
              <a:rPr lang="en-US" dirty="0"/>
              <a:t>. In </a:t>
            </a:r>
            <a:r>
              <a:rPr lang="en-US" dirty="0" err="1"/>
              <a:t>alternativa</a:t>
            </a:r>
            <a:r>
              <a:rPr lang="en-US" dirty="0"/>
              <a:t>, </a:t>
            </a:r>
            <a:r>
              <a:rPr lang="en-US" dirty="0" err="1"/>
              <a:t>potete</a:t>
            </a:r>
            <a:r>
              <a:rPr lang="en-US" dirty="0"/>
              <a:t> </a:t>
            </a:r>
            <a:r>
              <a:rPr lang="en-US" dirty="0" err="1"/>
              <a:t>usare</a:t>
            </a:r>
            <a:r>
              <a:rPr lang="en-US" dirty="0"/>
              <a:t> un </a:t>
            </a:r>
            <a:r>
              <a:rPr lang="en-US" dirty="0" err="1"/>
              <a:t>agente</a:t>
            </a:r>
            <a:r>
              <a:rPr lang="en-US" dirty="0"/>
              <a:t> </a:t>
            </a:r>
            <a:r>
              <a:rPr lang="en-US" dirty="0" err="1"/>
              <a:t>manuale</a:t>
            </a:r>
            <a:r>
              <a:rPr lang="en-US" dirty="0"/>
              <a:t> (keyboard) o un </a:t>
            </a:r>
            <a:r>
              <a:rPr lang="en-US" dirty="0" err="1"/>
              <a:t>agente</a:t>
            </a:r>
            <a:r>
              <a:rPr lang="en-US" dirty="0"/>
              <a:t> </a:t>
            </a:r>
            <a:r>
              <a:rPr lang="en-US" dirty="0" err="1"/>
              <a:t>basato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regole</a:t>
            </a:r>
            <a:r>
              <a:rPr lang="en-US" dirty="0"/>
              <a:t> </a:t>
            </a:r>
            <a:r>
              <a:rPr lang="en-US" dirty="0" err="1"/>
              <a:t>semplici</a:t>
            </a:r>
            <a:r>
              <a:rPr lang="en-US" dirty="0"/>
              <a:t> (es. steer = −</a:t>
            </a:r>
            <a:r>
              <a:rPr lang="en-US" dirty="0" err="1"/>
              <a:t>trackPos</a:t>
            </a:r>
            <a:r>
              <a:rPr lang="en-US" dirty="0"/>
              <a:t> * K − angle * K2, </a:t>
            </a:r>
            <a:r>
              <a:rPr lang="en-US" dirty="0" err="1"/>
              <a:t>una</a:t>
            </a:r>
            <a:r>
              <a:rPr lang="en-US" dirty="0"/>
              <a:t> formula </a:t>
            </a:r>
            <a:r>
              <a:rPr lang="en-US" dirty="0" err="1"/>
              <a:t>lineare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funziona</a:t>
            </a:r>
            <a:r>
              <a:rPr lang="en-US" dirty="0"/>
              <a:t> </a:t>
            </a:r>
            <a:r>
              <a:rPr lang="en-US" dirty="0" err="1"/>
              <a:t>decentemente</a:t>
            </a:r>
            <a:r>
              <a:rPr lang="en-US" dirty="0"/>
              <a:t>).</a:t>
            </a:r>
          </a:p>
          <a:p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extract_features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obs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en-US" dirty="0"/>
              <a:t> — </a:t>
            </a:r>
            <a:r>
              <a:rPr lang="en-US" dirty="0" err="1"/>
              <a:t>questa</a:t>
            </a:r>
            <a:r>
              <a:rPr lang="en-US" dirty="0"/>
              <a:t> </a:t>
            </a:r>
            <a:r>
              <a:rPr lang="en-US" dirty="0" err="1"/>
              <a:t>funzione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importante</a:t>
            </a:r>
            <a:r>
              <a:rPr lang="en-US" dirty="0"/>
              <a:t>: non mandate in input alla rete </a:t>
            </a:r>
            <a:r>
              <a:rPr lang="en-US" dirty="0" err="1"/>
              <a:t>tutta</a:t>
            </a:r>
            <a:r>
              <a:rPr lang="en-US" dirty="0"/>
              <a:t> </a:t>
            </a:r>
            <a:r>
              <a:rPr lang="en-US" dirty="0" err="1"/>
              <a:t>l'osservazione</a:t>
            </a:r>
            <a:r>
              <a:rPr lang="en-US" dirty="0"/>
              <a:t> </a:t>
            </a:r>
            <a:r>
              <a:rPr lang="en-US" dirty="0" err="1"/>
              <a:t>grezza</a:t>
            </a:r>
            <a:r>
              <a:rPr lang="en-US" dirty="0"/>
              <a:t> (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può</a:t>
            </a:r>
            <a:r>
              <a:rPr lang="en-US" dirty="0"/>
              <a:t> </a:t>
            </a:r>
            <a:r>
              <a:rPr lang="en-US" dirty="0" err="1"/>
              <a:t>avere</a:t>
            </a:r>
            <a:r>
              <a:rPr lang="en-US" dirty="0"/>
              <a:t> </a:t>
            </a:r>
            <a:r>
              <a:rPr lang="en-US" dirty="0" err="1"/>
              <a:t>campi</a:t>
            </a:r>
            <a:r>
              <a:rPr lang="en-US" dirty="0"/>
              <a:t> </a:t>
            </a:r>
            <a:r>
              <a:rPr lang="en-US" dirty="0" err="1"/>
              <a:t>irrilevanti</a:t>
            </a:r>
            <a:r>
              <a:rPr lang="en-US" dirty="0"/>
              <a:t>), ma solo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sensori</a:t>
            </a:r>
            <a:r>
              <a:rPr lang="en-US" dirty="0"/>
              <a:t> </a:t>
            </a:r>
            <a:r>
              <a:rPr lang="en-US" dirty="0" err="1"/>
              <a:t>utili</a:t>
            </a:r>
            <a:r>
              <a:rPr lang="en-US" dirty="0"/>
              <a:t>. Un buon set </a:t>
            </a:r>
            <a:r>
              <a:rPr lang="en-US" dirty="0" err="1"/>
              <a:t>è</a:t>
            </a:r>
            <a:r>
              <a:rPr lang="en-US" dirty="0"/>
              <a:t>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trackPos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angle,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speedX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track[0], track[4], track[9], track[14], track[18]]</a:t>
            </a:r>
            <a:r>
              <a:rPr lang="en-US" dirty="0"/>
              <a:t> — </a:t>
            </a:r>
            <a:r>
              <a:rPr lang="en-US" dirty="0" err="1"/>
              <a:t>cioè</a:t>
            </a:r>
            <a:r>
              <a:rPr lang="en-US" dirty="0"/>
              <a:t> </a:t>
            </a:r>
            <a:r>
              <a:rPr lang="en-US" dirty="0" err="1"/>
              <a:t>alcuni</a:t>
            </a:r>
            <a:r>
              <a:rPr lang="en-US" dirty="0"/>
              <a:t> </a:t>
            </a:r>
            <a:r>
              <a:rPr lang="en-US" dirty="0" err="1"/>
              <a:t>raggi</a:t>
            </a:r>
            <a:r>
              <a:rPr lang="en-US" dirty="0"/>
              <a:t> track </a:t>
            </a:r>
            <a:r>
              <a:rPr lang="en-US" dirty="0" err="1"/>
              <a:t>campionati</a:t>
            </a:r>
            <a:r>
              <a:rPr lang="en-US" dirty="0"/>
              <a:t> a diverse </a:t>
            </a:r>
            <a:r>
              <a:rPr lang="en-US" dirty="0" err="1"/>
              <a:t>angolazioni</a:t>
            </a:r>
            <a:r>
              <a:rPr lang="en-US" dirty="0"/>
              <a:t>. </a:t>
            </a:r>
            <a:r>
              <a:rPr lang="en-US" dirty="0" err="1"/>
              <a:t>Normalizzate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valori</a:t>
            </a:r>
            <a:r>
              <a:rPr lang="en-US" dirty="0"/>
              <a:t>: </a:t>
            </a:r>
            <a:r>
              <a:rPr lang="en-US" dirty="0" err="1"/>
              <a:t>dividete</a:t>
            </a:r>
            <a:r>
              <a:rPr lang="en-US" dirty="0"/>
              <a:t> </a:t>
            </a:r>
            <a:r>
              <a:rPr lang="en-US" dirty="0" err="1"/>
              <a:t>trackPos</a:t>
            </a:r>
            <a:r>
              <a:rPr lang="en-US" dirty="0"/>
              <a:t> per 1, angle per </a:t>
            </a:r>
            <a:r>
              <a:rPr lang="el-GR" dirty="0"/>
              <a:t>π/2, </a:t>
            </a:r>
            <a:r>
              <a:rPr lang="en-US" dirty="0" err="1"/>
              <a:t>speedX</a:t>
            </a:r>
            <a:r>
              <a:rPr lang="en-US" dirty="0"/>
              <a:t> per la </a:t>
            </a:r>
            <a:r>
              <a:rPr lang="en-US" dirty="0" err="1"/>
              <a:t>velocità</a:t>
            </a:r>
            <a:r>
              <a:rPr lang="en-US" dirty="0"/>
              <a:t> </a:t>
            </a:r>
            <a:r>
              <a:rPr lang="en-US" dirty="0" err="1"/>
              <a:t>massima</a:t>
            </a:r>
            <a:r>
              <a:rPr lang="en-US" dirty="0"/>
              <a:t>, track per la </a:t>
            </a:r>
            <a:r>
              <a:rPr lang="en-US" dirty="0" err="1"/>
              <a:t>distanza</a:t>
            </a:r>
            <a:r>
              <a:rPr lang="en-US" dirty="0"/>
              <a:t> </a:t>
            </a:r>
            <a:r>
              <a:rPr lang="en-US" dirty="0" err="1"/>
              <a:t>massima</a:t>
            </a:r>
            <a:r>
              <a:rPr lang="en-US" dirty="0"/>
              <a:t> del </a:t>
            </a:r>
            <a:r>
              <a:rPr lang="en-US" dirty="0" err="1"/>
              <a:t>sensore</a:t>
            </a:r>
            <a:r>
              <a:rPr lang="en-US" dirty="0"/>
              <a:t>.</a:t>
            </a:r>
          </a:p>
          <a:p>
            <a:r>
              <a:rPr lang="en-US" b="1" dirty="0"/>
              <a:t>Il </a:t>
            </a:r>
            <a:r>
              <a:rPr lang="en-US" b="1" dirty="0" err="1"/>
              <a:t>modello</a:t>
            </a:r>
            <a:r>
              <a:rPr lang="en-US" b="1" dirty="0"/>
              <a:t> Keras</a:t>
            </a:r>
            <a:r>
              <a:rPr lang="en-US" dirty="0"/>
              <a:t> con Dense layers e </a:t>
            </a:r>
            <a:r>
              <a:rPr lang="en-US" dirty="0" err="1"/>
              <a:t>attivazione</a:t>
            </a:r>
            <a:r>
              <a:rPr lang="en-US" dirty="0"/>
              <a:t> tanh </a:t>
            </a:r>
            <a:r>
              <a:rPr lang="en-US" dirty="0" err="1"/>
              <a:t>sull'output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la </a:t>
            </a:r>
            <a:r>
              <a:rPr lang="en-US" dirty="0" err="1"/>
              <a:t>scelta</a:t>
            </a:r>
            <a:r>
              <a:rPr lang="en-US" dirty="0"/>
              <a:t> standard. </a:t>
            </a:r>
            <a:r>
              <a:rPr lang="en-US" dirty="0" err="1"/>
              <a:t>L'output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tanh</a:t>
            </a:r>
            <a:r>
              <a:rPr lang="en-US" dirty="0"/>
              <a:t> </a:t>
            </a:r>
            <a:r>
              <a:rPr lang="en-US" dirty="0" err="1"/>
              <a:t>garantisce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sterzo</a:t>
            </a:r>
            <a:r>
              <a:rPr lang="en-US" dirty="0"/>
              <a:t> e </a:t>
            </a:r>
            <a:r>
              <a:rPr lang="en-US" dirty="0" err="1"/>
              <a:t>acceleratore</a:t>
            </a:r>
            <a:r>
              <a:rPr lang="en-US" dirty="0"/>
              <a:t> </a:t>
            </a:r>
            <a:r>
              <a:rPr lang="en-US" dirty="0" err="1"/>
              <a:t>siano</a:t>
            </a:r>
            <a:r>
              <a:rPr lang="en-US" dirty="0"/>
              <a:t> sempre in [−1, 1].</a:t>
            </a:r>
          </a:p>
          <a:p>
            <a:r>
              <a:rPr lang="en-US" b="1" dirty="0"/>
              <a:t>50 </a:t>
            </a:r>
            <a:r>
              <a:rPr lang="en-US" b="1" dirty="0" err="1"/>
              <a:t>epoche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tipicamente</a:t>
            </a:r>
            <a:r>
              <a:rPr lang="en-US" dirty="0"/>
              <a:t> </a:t>
            </a:r>
            <a:r>
              <a:rPr lang="en-US" dirty="0" err="1"/>
              <a:t>sufficienti</a:t>
            </a:r>
            <a:r>
              <a:rPr lang="en-US" dirty="0"/>
              <a:t>. Se la training loss </a:t>
            </a:r>
            <a:r>
              <a:rPr lang="en-US" dirty="0" err="1"/>
              <a:t>scende</a:t>
            </a:r>
            <a:r>
              <a:rPr lang="en-US" dirty="0"/>
              <a:t> sotto 0.01 </a:t>
            </a:r>
            <a:r>
              <a:rPr lang="en-US" dirty="0" err="1"/>
              <a:t>siete</a:t>
            </a:r>
            <a:r>
              <a:rPr lang="en-US" dirty="0"/>
              <a:t> in un buon range. Fate </a:t>
            </a:r>
            <a:r>
              <a:rPr lang="en-US" dirty="0" err="1"/>
              <a:t>anche</a:t>
            </a:r>
            <a:r>
              <a:rPr lang="en-US" dirty="0"/>
              <a:t> un validation split (es. 20%) per </a:t>
            </a:r>
            <a:r>
              <a:rPr lang="en-US" dirty="0" err="1"/>
              <a:t>verificare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non ci </a:t>
            </a:r>
            <a:r>
              <a:rPr lang="en-US" dirty="0" err="1"/>
              <a:t>sia</a:t>
            </a:r>
            <a:r>
              <a:rPr lang="en-US" dirty="0"/>
              <a:t> overfitting.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DAgger</a:t>
            </a:r>
            <a:r>
              <a:rPr lang="en-US" dirty="0"/>
              <a:t> (Ross et al., 2011) </a:t>
            </a:r>
            <a:r>
              <a:rPr lang="en-US" dirty="0" err="1"/>
              <a:t>è</a:t>
            </a:r>
            <a:r>
              <a:rPr lang="en-US" dirty="0"/>
              <a:t> la </a:t>
            </a:r>
            <a:r>
              <a:rPr lang="en-US" dirty="0" err="1"/>
              <a:t>soluzione</a:t>
            </a:r>
            <a:r>
              <a:rPr lang="en-US" dirty="0"/>
              <a:t> elegante al </a:t>
            </a:r>
            <a:r>
              <a:rPr lang="en-US" dirty="0" err="1"/>
              <a:t>problema</a:t>
            </a:r>
            <a:r>
              <a:rPr lang="en-US" dirty="0"/>
              <a:t> del distributional shift. </a:t>
            </a:r>
            <a:r>
              <a:rPr lang="en-US" dirty="0" err="1"/>
              <a:t>L'idea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: </a:t>
            </a:r>
            <a:r>
              <a:rPr lang="en-US" dirty="0" err="1"/>
              <a:t>invece</a:t>
            </a:r>
            <a:r>
              <a:rPr lang="en-US" dirty="0"/>
              <a:t> di </a:t>
            </a:r>
            <a:r>
              <a:rPr lang="en-US" dirty="0" err="1"/>
              <a:t>raccogliere</a:t>
            </a:r>
            <a:r>
              <a:rPr lang="en-US" dirty="0"/>
              <a:t> demo solo con </a:t>
            </a:r>
            <a:r>
              <a:rPr lang="en-US" dirty="0" err="1"/>
              <a:t>l'esperto</a:t>
            </a:r>
            <a:r>
              <a:rPr lang="en-US" dirty="0"/>
              <a:t>, </a:t>
            </a:r>
            <a:r>
              <a:rPr lang="en-US" dirty="0" err="1"/>
              <a:t>facciamo</a:t>
            </a:r>
            <a:r>
              <a:rPr lang="en-US" dirty="0"/>
              <a:t> </a:t>
            </a:r>
            <a:r>
              <a:rPr lang="en-US" dirty="0" err="1"/>
              <a:t>guidare</a:t>
            </a:r>
            <a:r>
              <a:rPr lang="en-US" dirty="0"/>
              <a:t> il nostro </a:t>
            </a:r>
            <a:r>
              <a:rPr lang="en-US" dirty="0" err="1"/>
              <a:t>agente</a:t>
            </a:r>
            <a:r>
              <a:rPr lang="en-US" dirty="0"/>
              <a:t> e </a:t>
            </a:r>
            <a:r>
              <a:rPr lang="en-US" dirty="0" err="1"/>
              <a:t>raccogliamo</a:t>
            </a:r>
            <a:r>
              <a:rPr lang="en-US" dirty="0"/>
              <a:t> demo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i="1" dirty="0" err="1"/>
              <a:t>quegli</a:t>
            </a:r>
            <a:r>
              <a:rPr lang="en-US" i="1" dirty="0"/>
              <a:t> </a:t>
            </a:r>
            <a:r>
              <a:rPr lang="en-US" i="1" dirty="0" err="1"/>
              <a:t>stati</a:t>
            </a:r>
            <a:r>
              <a:rPr lang="en-US" dirty="0"/>
              <a:t>.</a:t>
            </a:r>
          </a:p>
          <a:p>
            <a:r>
              <a:rPr lang="en-US" b="1" dirty="0" err="1"/>
              <a:t>L'algoritmo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 err="1"/>
              <a:t>Addestrate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policy </a:t>
            </a:r>
            <a:r>
              <a:rPr lang="en-US" dirty="0" err="1"/>
              <a:t>iniziale</a:t>
            </a:r>
            <a:r>
              <a:rPr lang="en-US" dirty="0"/>
              <a:t> </a:t>
            </a:r>
            <a:r>
              <a:rPr lang="el-GR" dirty="0"/>
              <a:t>π₁ </a:t>
            </a:r>
            <a:r>
              <a:rPr lang="en-US" dirty="0"/>
              <a:t>con le demo </a:t>
            </a:r>
            <a:r>
              <a:rPr lang="en-US" dirty="0" err="1"/>
              <a:t>dell'esperto</a:t>
            </a:r>
            <a:r>
              <a:rPr lang="en-US" dirty="0"/>
              <a:t> (es. Behavioral Cloning).</a:t>
            </a:r>
          </a:p>
          <a:p>
            <a:r>
              <a:rPr lang="en-US" dirty="0"/>
              <a:t>Fate </a:t>
            </a:r>
            <a:r>
              <a:rPr lang="en-US" dirty="0" err="1"/>
              <a:t>guidare</a:t>
            </a:r>
            <a:r>
              <a:rPr lang="en-US" dirty="0"/>
              <a:t> </a:t>
            </a:r>
            <a:r>
              <a:rPr lang="el-GR" dirty="0"/>
              <a:t>π₁ </a:t>
            </a:r>
            <a:r>
              <a:rPr lang="en-US" dirty="0" err="1"/>
              <a:t>nell'ambiente</a:t>
            </a:r>
            <a:r>
              <a:rPr lang="en-US" dirty="0"/>
              <a:t>. </a:t>
            </a:r>
            <a:r>
              <a:rPr lang="en-US" dirty="0" err="1"/>
              <a:t>L'agente</a:t>
            </a:r>
            <a:r>
              <a:rPr lang="en-US" dirty="0"/>
              <a:t> </a:t>
            </a:r>
            <a:r>
              <a:rPr lang="en-US" dirty="0" err="1"/>
              <a:t>commette</a:t>
            </a:r>
            <a:r>
              <a:rPr lang="en-US" dirty="0"/>
              <a:t> </a:t>
            </a:r>
            <a:r>
              <a:rPr lang="en-US" dirty="0" err="1"/>
              <a:t>errori</a:t>
            </a:r>
            <a:r>
              <a:rPr lang="en-US" dirty="0"/>
              <a:t>, </a:t>
            </a:r>
            <a:r>
              <a:rPr lang="en-US" dirty="0" err="1"/>
              <a:t>si</a:t>
            </a:r>
            <a:r>
              <a:rPr lang="en-US" dirty="0"/>
              <a:t> trova in </a:t>
            </a:r>
            <a:r>
              <a:rPr lang="en-US" dirty="0" err="1"/>
              <a:t>stati</a:t>
            </a:r>
            <a:r>
              <a:rPr lang="en-US" dirty="0"/>
              <a:t> off-distribution.</a:t>
            </a:r>
          </a:p>
          <a:p>
            <a:r>
              <a:rPr lang="en-US" dirty="0"/>
              <a:t>Per ogni </a:t>
            </a:r>
            <a:r>
              <a:rPr lang="en-US" dirty="0" err="1"/>
              <a:t>stato</a:t>
            </a:r>
            <a:r>
              <a:rPr lang="en-US" dirty="0"/>
              <a:t> s </a:t>
            </a:r>
            <a:r>
              <a:rPr lang="en-US" dirty="0" err="1"/>
              <a:t>visitato</a:t>
            </a:r>
            <a:r>
              <a:rPr lang="en-US" dirty="0"/>
              <a:t> da </a:t>
            </a:r>
            <a:r>
              <a:rPr lang="el-GR" dirty="0"/>
              <a:t>π₁, </a:t>
            </a:r>
            <a:r>
              <a:rPr lang="en-US" dirty="0" err="1"/>
              <a:t>chiedete</a:t>
            </a:r>
            <a:r>
              <a:rPr lang="en-US" dirty="0"/>
              <a:t> </a:t>
            </a:r>
            <a:r>
              <a:rPr lang="en-US" dirty="0" err="1"/>
              <a:t>all'esperto</a:t>
            </a:r>
            <a:r>
              <a:rPr lang="en-US" dirty="0"/>
              <a:t>: "Se </a:t>
            </a:r>
            <a:r>
              <a:rPr lang="en-US" dirty="0" err="1"/>
              <a:t>tu</a:t>
            </a:r>
            <a:r>
              <a:rPr lang="en-US" dirty="0"/>
              <a:t> </a:t>
            </a:r>
            <a:r>
              <a:rPr lang="en-US" dirty="0" err="1"/>
              <a:t>ti</a:t>
            </a:r>
            <a:r>
              <a:rPr lang="en-US" dirty="0"/>
              <a:t> </a:t>
            </a:r>
            <a:r>
              <a:rPr lang="en-US" dirty="0" err="1"/>
              <a:t>trovassi</a:t>
            </a:r>
            <a:r>
              <a:rPr lang="en-US" dirty="0"/>
              <a:t> in </a:t>
            </a:r>
            <a:r>
              <a:rPr lang="en-US" dirty="0" err="1"/>
              <a:t>questo</a:t>
            </a:r>
            <a:r>
              <a:rPr lang="en-US" dirty="0"/>
              <a:t> </a:t>
            </a:r>
            <a:r>
              <a:rPr lang="en-US" dirty="0" err="1"/>
              <a:t>stato</a:t>
            </a:r>
            <a:r>
              <a:rPr lang="en-US" dirty="0"/>
              <a:t>, </a:t>
            </a:r>
            <a:r>
              <a:rPr lang="en-US" dirty="0" err="1"/>
              <a:t>cosa</a:t>
            </a:r>
            <a:r>
              <a:rPr lang="en-US" dirty="0"/>
              <a:t> </a:t>
            </a:r>
            <a:r>
              <a:rPr lang="en-US" dirty="0" err="1"/>
              <a:t>faresti</a:t>
            </a:r>
            <a:r>
              <a:rPr lang="en-US" dirty="0"/>
              <a:t>?". </a:t>
            </a:r>
            <a:r>
              <a:rPr lang="en-US" dirty="0" err="1"/>
              <a:t>Aggiungete</a:t>
            </a:r>
            <a:r>
              <a:rPr lang="en-US" dirty="0"/>
              <a:t> </a:t>
            </a:r>
            <a:r>
              <a:rPr lang="en-US" dirty="0" err="1"/>
              <a:t>queste</a:t>
            </a:r>
            <a:r>
              <a:rPr lang="en-US" dirty="0"/>
              <a:t> </a:t>
            </a:r>
            <a:r>
              <a:rPr lang="en-US" dirty="0" err="1"/>
              <a:t>coppie</a:t>
            </a:r>
            <a:r>
              <a:rPr lang="en-US" dirty="0"/>
              <a:t> (s, </a:t>
            </a:r>
            <a:r>
              <a:rPr lang="en-US" dirty="0" err="1"/>
              <a:t>a_esperto</a:t>
            </a:r>
            <a:r>
              <a:rPr lang="en-US" dirty="0"/>
              <a:t>) al dataset.</a:t>
            </a:r>
          </a:p>
          <a:p>
            <a:r>
              <a:rPr lang="en-US" dirty="0"/>
              <a:t>Ri-</a:t>
            </a:r>
            <a:r>
              <a:rPr lang="en-US" dirty="0" err="1"/>
              <a:t>addestrate</a:t>
            </a:r>
            <a:r>
              <a:rPr lang="en-US" dirty="0"/>
              <a:t> la policy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tutto</a:t>
            </a:r>
            <a:r>
              <a:rPr lang="en-US" dirty="0"/>
              <a:t> il dataset </a:t>
            </a:r>
            <a:r>
              <a:rPr lang="en-US" dirty="0" err="1"/>
              <a:t>aggregato</a:t>
            </a:r>
            <a:r>
              <a:rPr lang="en-US" dirty="0"/>
              <a:t> → </a:t>
            </a:r>
            <a:r>
              <a:rPr lang="en-US" dirty="0" err="1"/>
              <a:t>ottenete</a:t>
            </a:r>
            <a:r>
              <a:rPr lang="en-US" dirty="0"/>
              <a:t> </a:t>
            </a:r>
            <a:r>
              <a:rPr lang="el-GR" dirty="0"/>
              <a:t>π₂.</a:t>
            </a:r>
          </a:p>
          <a:p>
            <a:r>
              <a:rPr lang="en-US" dirty="0" err="1"/>
              <a:t>Ripetete</a:t>
            </a:r>
            <a:r>
              <a:rPr lang="en-US" dirty="0"/>
              <a:t> dal </a:t>
            </a:r>
            <a:r>
              <a:rPr lang="en-US" dirty="0" err="1"/>
              <a:t>passo</a:t>
            </a:r>
            <a:r>
              <a:rPr lang="en-US" dirty="0"/>
              <a:t> 2 con </a:t>
            </a:r>
            <a:r>
              <a:rPr lang="el-GR" dirty="0"/>
              <a:t>π₂.</a:t>
            </a:r>
          </a:p>
          <a:p>
            <a:r>
              <a:rPr lang="en-US" dirty="0"/>
              <a:t>Dopo 3–5 </a:t>
            </a:r>
            <a:r>
              <a:rPr lang="en-US" dirty="0" err="1"/>
              <a:t>iterazioni</a:t>
            </a:r>
            <a:r>
              <a:rPr lang="en-US" dirty="0"/>
              <a:t>, il dataset </a:t>
            </a:r>
            <a:r>
              <a:rPr lang="en-US" dirty="0" err="1"/>
              <a:t>coprirà</a:t>
            </a:r>
            <a:r>
              <a:rPr lang="en-US" dirty="0"/>
              <a:t> </a:t>
            </a:r>
            <a:r>
              <a:rPr lang="en-US" dirty="0" err="1"/>
              <a:t>sia</a:t>
            </a:r>
            <a:r>
              <a:rPr lang="en-US" dirty="0"/>
              <a:t> </a:t>
            </a:r>
            <a:r>
              <a:rPr lang="en-US" dirty="0" err="1"/>
              <a:t>gli</a:t>
            </a:r>
            <a:r>
              <a:rPr lang="en-US" dirty="0"/>
              <a:t> </a:t>
            </a:r>
            <a:r>
              <a:rPr lang="en-US" dirty="0" err="1"/>
              <a:t>stati</a:t>
            </a:r>
            <a:r>
              <a:rPr lang="en-US" dirty="0"/>
              <a:t> "</a:t>
            </a:r>
            <a:r>
              <a:rPr lang="en-US" dirty="0" err="1"/>
              <a:t>facili</a:t>
            </a:r>
            <a:r>
              <a:rPr lang="en-US" dirty="0"/>
              <a:t>" </a:t>
            </a:r>
            <a:r>
              <a:rPr lang="en-US" dirty="0" err="1"/>
              <a:t>dell'esperto</a:t>
            </a:r>
            <a:r>
              <a:rPr lang="en-US" dirty="0"/>
              <a:t> </a:t>
            </a:r>
            <a:r>
              <a:rPr lang="en-US" dirty="0" err="1"/>
              <a:t>sia</a:t>
            </a:r>
            <a:r>
              <a:rPr lang="en-US" dirty="0"/>
              <a:t> </a:t>
            </a:r>
            <a:r>
              <a:rPr lang="en-US" dirty="0" err="1"/>
              <a:t>gli</a:t>
            </a:r>
            <a:r>
              <a:rPr lang="en-US" dirty="0"/>
              <a:t> </a:t>
            </a:r>
            <a:r>
              <a:rPr lang="en-US" dirty="0" err="1"/>
              <a:t>stati</a:t>
            </a:r>
            <a:r>
              <a:rPr lang="en-US" dirty="0"/>
              <a:t> "</a:t>
            </a:r>
            <a:r>
              <a:rPr lang="en-US" dirty="0" err="1"/>
              <a:t>difficili</a:t>
            </a:r>
            <a:r>
              <a:rPr lang="en-US" dirty="0"/>
              <a:t>"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l'agente</a:t>
            </a:r>
            <a:r>
              <a:rPr lang="en-US" dirty="0"/>
              <a:t> </a:t>
            </a:r>
            <a:r>
              <a:rPr lang="en-US" dirty="0" err="1"/>
              <a:t>tende</a:t>
            </a:r>
            <a:r>
              <a:rPr lang="en-US" dirty="0"/>
              <a:t> a </a:t>
            </a:r>
            <a:r>
              <a:rPr lang="en-US" dirty="0" err="1"/>
              <a:t>visitare</a:t>
            </a:r>
            <a:r>
              <a:rPr lang="en-US" dirty="0"/>
              <a:t>. La policy </a:t>
            </a:r>
            <a:r>
              <a:rPr lang="en-US" dirty="0" err="1"/>
              <a:t>impara</a:t>
            </a:r>
            <a:r>
              <a:rPr lang="en-US" dirty="0"/>
              <a:t> a </a:t>
            </a:r>
            <a:r>
              <a:rPr lang="en-US" i="1" dirty="0" err="1"/>
              <a:t>correggere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propri</a:t>
            </a:r>
            <a:r>
              <a:rPr lang="en-US" dirty="0"/>
              <a:t> </a:t>
            </a:r>
            <a:r>
              <a:rPr lang="en-US" dirty="0" err="1"/>
              <a:t>errori</a:t>
            </a:r>
            <a:r>
              <a:rPr lang="en-US" dirty="0"/>
              <a:t>.</a:t>
            </a:r>
          </a:p>
          <a:p>
            <a:r>
              <a:rPr lang="en-US" b="1" dirty="0"/>
              <a:t>In TORCS </a:t>
            </a:r>
            <a:r>
              <a:rPr lang="en-US" b="1" dirty="0" err="1"/>
              <a:t>è</a:t>
            </a:r>
            <a:r>
              <a:rPr lang="en-US" b="1" dirty="0"/>
              <a:t> </a:t>
            </a:r>
            <a:r>
              <a:rPr lang="en-US" b="1" dirty="0" err="1"/>
              <a:t>implementabile</a:t>
            </a:r>
            <a:r>
              <a:rPr lang="en-US" b="1" dirty="0"/>
              <a:t> </a:t>
            </a:r>
            <a:r>
              <a:rPr lang="en-US" b="1" dirty="0" err="1"/>
              <a:t>automaticamente</a:t>
            </a:r>
            <a:r>
              <a:rPr lang="en-US" b="1" dirty="0"/>
              <a:t>.</a:t>
            </a:r>
            <a:r>
              <a:rPr lang="en-US" dirty="0"/>
              <a:t> Ogni </a:t>
            </a:r>
            <a:r>
              <a:rPr lang="en-US" dirty="0" err="1"/>
              <a:t>iterazione</a:t>
            </a:r>
            <a:r>
              <a:rPr lang="en-US" dirty="0"/>
              <a:t>: fate </a:t>
            </a:r>
            <a:r>
              <a:rPr lang="en-US" dirty="0" err="1"/>
              <a:t>guidare</a:t>
            </a:r>
            <a:r>
              <a:rPr lang="en-US" dirty="0"/>
              <a:t> il vostro </a:t>
            </a:r>
            <a:r>
              <a:rPr lang="en-US" dirty="0" err="1"/>
              <a:t>agente</a:t>
            </a:r>
            <a:r>
              <a:rPr lang="en-US" dirty="0"/>
              <a:t> BC per K </a:t>
            </a:r>
            <a:r>
              <a:rPr lang="en-US" dirty="0" err="1"/>
              <a:t>episodi</a:t>
            </a:r>
            <a:r>
              <a:rPr lang="en-US" dirty="0"/>
              <a:t>. Ad ogni step, </a:t>
            </a:r>
            <a:r>
              <a:rPr lang="en-US" dirty="0" err="1"/>
              <a:t>chiedete</a:t>
            </a:r>
            <a:r>
              <a:rPr lang="en-US" dirty="0"/>
              <a:t> al bot TORCS </a:t>
            </a:r>
            <a:r>
              <a:rPr lang="en-US" dirty="0" err="1"/>
              <a:t>l'azione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avrebbe</a:t>
            </a:r>
            <a:r>
              <a:rPr lang="en-US" dirty="0"/>
              <a:t> </a:t>
            </a:r>
            <a:r>
              <a:rPr lang="en-US" dirty="0" err="1"/>
              <a:t>fatto</a:t>
            </a:r>
            <a:r>
              <a:rPr lang="en-US" dirty="0"/>
              <a:t> in </a:t>
            </a:r>
            <a:r>
              <a:rPr lang="en-US" dirty="0" err="1"/>
              <a:t>quello</a:t>
            </a:r>
            <a:r>
              <a:rPr lang="en-US" dirty="0"/>
              <a:t> </a:t>
            </a:r>
            <a:r>
              <a:rPr lang="en-US" dirty="0" err="1"/>
              <a:t>stato</a:t>
            </a:r>
            <a:r>
              <a:rPr lang="en-US" dirty="0"/>
              <a:t>. </a:t>
            </a:r>
            <a:r>
              <a:rPr lang="en-US" dirty="0" err="1"/>
              <a:t>Aggiungete</a:t>
            </a:r>
            <a:r>
              <a:rPr lang="en-US" dirty="0"/>
              <a:t> al dataset e </a:t>
            </a:r>
            <a:r>
              <a:rPr lang="en-US" dirty="0" err="1"/>
              <a:t>riallenate</a:t>
            </a:r>
            <a:r>
              <a:rPr lang="en-US" dirty="0"/>
              <a:t>. Il bot TORCS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già</a:t>
            </a:r>
            <a:r>
              <a:rPr lang="en-US" dirty="0"/>
              <a:t> come </a:t>
            </a:r>
            <a:r>
              <a:rPr lang="en-US" dirty="0" err="1"/>
              <a:t>rispondere</a:t>
            </a:r>
            <a:r>
              <a:rPr lang="en-US" dirty="0"/>
              <a:t> a </a:t>
            </a:r>
            <a:r>
              <a:rPr lang="en-US" dirty="0" err="1"/>
              <a:t>qualsiasi</a:t>
            </a:r>
            <a:r>
              <a:rPr lang="en-US" dirty="0"/>
              <a:t> </a:t>
            </a:r>
            <a:r>
              <a:rPr lang="en-US" dirty="0" err="1"/>
              <a:t>stato</a:t>
            </a:r>
            <a:r>
              <a:rPr lang="en-US" dirty="0"/>
              <a:t> — </a:t>
            </a:r>
            <a:r>
              <a:rPr lang="en-US" dirty="0" err="1"/>
              <a:t>anche</a:t>
            </a:r>
            <a:r>
              <a:rPr lang="en-US" dirty="0"/>
              <a:t> a </a:t>
            </a:r>
            <a:r>
              <a:rPr lang="en-US" dirty="0" err="1"/>
              <a:t>quelli</a:t>
            </a:r>
            <a:r>
              <a:rPr lang="en-US" dirty="0"/>
              <a:t> "</a:t>
            </a:r>
            <a:r>
              <a:rPr lang="en-US" dirty="0" err="1"/>
              <a:t>difficili</a:t>
            </a:r>
            <a:r>
              <a:rPr lang="en-US" dirty="0"/>
              <a:t>" </a:t>
            </a:r>
            <a:r>
              <a:rPr lang="en-US" dirty="0" err="1"/>
              <a:t>vicino</a:t>
            </a:r>
            <a:r>
              <a:rPr lang="en-US" dirty="0"/>
              <a:t> al </a:t>
            </a:r>
            <a:r>
              <a:rPr lang="en-US" dirty="0" err="1"/>
              <a:t>bordo</a:t>
            </a:r>
            <a:r>
              <a:rPr lang="en-US" dirty="0"/>
              <a:t>.</a:t>
            </a:r>
          </a:p>
          <a:p>
            <a:r>
              <a:rPr lang="en-US" b="1" dirty="0" err="1"/>
              <a:t>Perché</a:t>
            </a:r>
            <a:r>
              <a:rPr lang="en-US" b="1" dirty="0"/>
              <a:t> </a:t>
            </a:r>
            <a:r>
              <a:rPr lang="en-US" b="1" dirty="0" err="1"/>
              <a:t>funziona</a:t>
            </a:r>
            <a:r>
              <a:rPr lang="en-US" b="1" dirty="0"/>
              <a:t>.</a:t>
            </a:r>
            <a:r>
              <a:rPr lang="en-US" dirty="0"/>
              <a:t> </a:t>
            </a:r>
            <a:r>
              <a:rPr lang="en-US" dirty="0" err="1"/>
              <a:t>DAgger</a:t>
            </a:r>
            <a:r>
              <a:rPr lang="en-US" dirty="0"/>
              <a:t> </a:t>
            </a:r>
            <a:r>
              <a:rPr lang="en-US" dirty="0" err="1"/>
              <a:t>garantisce</a:t>
            </a:r>
            <a:r>
              <a:rPr lang="en-US" dirty="0"/>
              <a:t> </a:t>
            </a:r>
            <a:r>
              <a:rPr lang="en-US" dirty="0" err="1"/>
              <a:t>teoricamente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la policy </a:t>
            </a:r>
            <a:r>
              <a:rPr lang="en-US" dirty="0" err="1"/>
              <a:t>converga</a:t>
            </a:r>
            <a:r>
              <a:rPr lang="en-US" dirty="0"/>
              <a:t> a </a:t>
            </a:r>
            <a:r>
              <a:rPr lang="en-US" dirty="0" err="1"/>
              <a:t>una</a:t>
            </a:r>
            <a:r>
              <a:rPr lang="en-US" dirty="0"/>
              <a:t> policy con </a:t>
            </a:r>
            <a:r>
              <a:rPr lang="en-US" dirty="0" err="1"/>
              <a:t>errori</a:t>
            </a:r>
            <a:r>
              <a:rPr lang="en-US" dirty="0"/>
              <a:t> </a:t>
            </a:r>
            <a:r>
              <a:rPr lang="en-US" dirty="0" err="1"/>
              <a:t>comparabili</a:t>
            </a:r>
            <a:r>
              <a:rPr lang="en-US" dirty="0"/>
              <a:t> </a:t>
            </a:r>
            <a:r>
              <a:rPr lang="en-US" dirty="0" err="1"/>
              <a:t>all'esperto</a:t>
            </a:r>
            <a:r>
              <a:rPr lang="en-US" dirty="0"/>
              <a:t> (con </a:t>
            </a:r>
            <a:r>
              <a:rPr lang="en-US" dirty="0" err="1"/>
              <a:t>abbastanza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). BC non ha </a:t>
            </a:r>
            <a:r>
              <a:rPr lang="en-US" dirty="0" err="1"/>
              <a:t>questa</a:t>
            </a:r>
            <a:r>
              <a:rPr lang="en-US" dirty="0"/>
              <a:t> </a:t>
            </a:r>
            <a:r>
              <a:rPr lang="en-US" dirty="0" err="1"/>
              <a:t>garanzia</a:t>
            </a:r>
            <a:r>
              <a:rPr lang="en-US" dirty="0"/>
              <a:t> </a:t>
            </a:r>
            <a:r>
              <a:rPr lang="en-US" dirty="0" err="1"/>
              <a:t>perché</a:t>
            </a:r>
            <a:r>
              <a:rPr lang="en-US" dirty="0"/>
              <a:t> il distributional shift </a:t>
            </a:r>
            <a:r>
              <a:rPr lang="en-US" dirty="0" err="1"/>
              <a:t>può</a:t>
            </a:r>
            <a:r>
              <a:rPr lang="en-US" dirty="0"/>
              <a:t> </a:t>
            </a:r>
            <a:r>
              <a:rPr lang="en-US" dirty="0" err="1"/>
              <a:t>causare</a:t>
            </a:r>
            <a:r>
              <a:rPr lang="en-US" dirty="0"/>
              <a:t> </a:t>
            </a:r>
            <a:r>
              <a:rPr lang="en-US" dirty="0" err="1"/>
              <a:t>errori</a:t>
            </a:r>
            <a:r>
              <a:rPr lang="en-US" dirty="0"/>
              <a:t> </a:t>
            </a:r>
            <a:r>
              <a:rPr lang="en-US" dirty="0" err="1"/>
              <a:t>cumulativi</a:t>
            </a:r>
            <a:r>
              <a:rPr lang="en-US" dirty="0"/>
              <a:t> </a:t>
            </a:r>
            <a:r>
              <a:rPr lang="en-US" dirty="0" err="1"/>
              <a:t>arbitrariamente</a:t>
            </a:r>
            <a:r>
              <a:rPr lang="en-US" dirty="0"/>
              <a:t> </a:t>
            </a:r>
            <a:r>
              <a:rPr lang="en-US" dirty="0" err="1"/>
              <a:t>grandi</a:t>
            </a:r>
            <a:r>
              <a:rPr lang="en-US" dirty="0"/>
              <a:t>.</a:t>
            </a:r>
          </a:p>
          <a:p>
            <a:r>
              <a:rPr lang="en-US" b="1" dirty="0"/>
              <a:t>Il </a:t>
            </a:r>
            <a:r>
              <a:rPr lang="en-US" b="1" dirty="0" err="1"/>
              <a:t>costo</a:t>
            </a:r>
            <a:r>
              <a:rPr lang="en-US" b="1" dirty="0"/>
              <a:t>.</a:t>
            </a:r>
            <a:r>
              <a:rPr lang="en-US" dirty="0"/>
              <a:t> Ogni </a:t>
            </a:r>
            <a:r>
              <a:rPr lang="en-US" dirty="0" err="1"/>
              <a:t>iterazione</a:t>
            </a:r>
            <a:r>
              <a:rPr lang="en-US" dirty="0"/>
              <a:t> </a:t>
            </a:r>
            <a:r>
              <a:rPr lang="en-US" dirty="0" err="1"/>
              <a:t>DAgger</a:t>
            </a:r>
            <a:r>
              <a:rPr lang="en-US" dirty="0"/>
              <a:t> </a:t>
            </a:r>
            <a:r>
              <a:rPr lang="en-US" dirty="0" err="1"/>
              <a:t>richiede</a:t>
            </a:r>
            <a:r>
              <a:rPr lang="en-US" dirty="0"/>
              <a:t> di </a:t>
            </a:r>
            <a:r>
              <a:rPr lang="en-US" dirty="0" err="1"/>
              <a:t>raccogliere</a:t>
            </a:r>
            <a:r>
              <a:rPr lang="en-US" dirty="0"/>
              <a:t> </a:t>
            </a:r>
            <a:r>
              <a:rPr lang="en-US" dirty="0" err="1"/>
              <a:t>nuovi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e </a:t>
            </a:r>
            <a:r>
              <a:rPr lang="en-US" dirty="0" err="1"/>
              <a:t>ri-addestrare</a:t>
            </a:r>
            <a:r>
              <a:rPr lang="en-US" dirty="0"/>
              <a:t>. </a:t>
            </a:r>
            <a:r>
              <a:rPr lang="en-US" dirty="0" err="1"/>
              <a:t>Questo</a:t>
            </a:r>
            <a:r>
              <a:rPr lang="en-US" dirty="0"/>
              <a:t> </a:t>
            </a:r>
            <a:r>
              <a:rPr lang="en-US" dirty="0" err="1"/>
              <a:t>aggiunge</a:t>
            </a:r>
            <a:r>
              <a:rPr lang="en-US" dirty="0"/>
              <a:t> tempo al </a:t>
            </a:r>
            <a:r>
              <a:rPr lang="en-US" dirty="0" err="1"/>
              <a:t>processo</a:t>
            </a:r>
            <a:r>
              <a:rPr lang="en-US" dirty="0"/>
              <a:t> di </a:t>
            </a:r>
            <a:r>
              <a:rPr lang="en-US" dirty="0" err="1"/>
              <a:t>sviluppo</a:t>
            </a:r>
            <a:r>
              <a:rPr lang="en-US" dirty="0"/>
              <a:t>, ma 3–5 </a:t>
            </a:r>
            <a:r>
              <a:rPr lang="en-US" dirty="0" err="1"/>
              <a:t>iterazioni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spesso</a:t>
            </a:r>
            <a:r>
              <a:rPr lang="en-US" dirty="0"/>
              <a:t> </a:t>
            </a:r>
            <a:r>
              <a:rPr lang="en-US" dirty="0" err="1"/>
              <a:t>sufficienti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</a:t>
            </a:r>
            <a:r>
              <a:rPr lang="en-US" dirty="0" err="1"/>
              <a:t>è</a:t>
            </a:r>
            <a:r>
              <a:rPr lang="en-US" dirty="0"/>
              <a:t> la </a:t>
            </a:r>
            <a:r>
              <a:rPr lang="en-US" dirty="0" err="1"/>
              <a:t>strategia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tipicamente</a:t>
            </a:r>
            <a:r>
              <a:rPr lang="en-US" dirty="0"/>
              <a:t> </a:t>
            </a:r>
            <a:r>
              <a:rPr lang="en-US" dirty="0" err="1"/>
              <a:t>dà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risultati</a:t>
            </a:r>
            <a:r>
              <a:rPr lang="en-US" dirty="0"/>
              <a:t> </a:t>
            </a:r>
            <a:r>
              <a:rPr lang="en-US" dirty="0" err="1"/>
              <a:t>migliori</a:t>
            </a:r>
            <a:r>
              <a:rPr lang="en-US" dirty="0"/>
              <a:t> in </a:t>
            </a:r>
            <a:r>
              <a:rPr lang="en-US" dirty="0" err="1"/>
              <a:t>competizioni</a:t>
            </a:r>
            <a:r>
              <a:rPr lang="en-US" dirty="0"/>
              <a:t> come TORCS.</a:t>
            </a:r>
          </a:p>
          <a:p>
            <a:r>
              <a:rPr lang="en-US" b="1" dirty="0"/>
              <a:t>Fase 1 — Pre-training con BC.</a:t>
            </a:r>
            <a:r>
              <a:rPr lang="en-US" dirty="0"/>
              <a:t> </a:t>
            </a:r>
            <a:r>
              <a:rPr lang="en-US" dirty="0" err="1"/>
              <a:t>Addestrate</a:t>
            </a:r>
            <a:r>
              <a:rPr lang="en-US" dirty="0"/>
              <a:t> </a:t>
            </a:r>
            <a:r>
              <a:rPr lang="en-US" dirty="0" err="1"/>
              <a:t>l'Actor</a:t>
            </a:r>
            <a:r>
              <a:rPr lang="en-US" dirty="0"/>
              <a:t> di DDPG o SAC </a:t>
            </a:r>
            <a:r>
              <a:rPr lang="en-US" dirty="0" err="1"/>
              <a:t>usando</a:t>
            </a:r>
            <a:r>
              <a:rPr lang="en-US" dirty="0"/>
              <a:t> Behavioral Cloning, </a:t>
            </a:r>
            <a:r>
              <a:rPr lang="en-US" dirty="0" err="1"/>
              <a:t>esattamente</a:t>
            </a:r>
            <a:r>
              <a:rPr lang="en-US" dirty="0"/>
              <a:t> come </a:t>
            </a:r>
            <a:r>
              <a:rPr lang="en-US" dirty="0" err="1"/>
              <a:t>descritto</a:t>
            </a:r>
            <a:r>
              <a:rPr lang="en-US" dirty="0"/>
              <a:t> prima. </a:t>
            </a:r>
            <a:r>
              <a:rPr lang="en-US" dirty="0" err="1"/>
              <a:t>Questo</a:t>
            </a:r>
            <a:r>
              <a:rPr lang="en-US" dirty="0"/>
              <a:t> </a:t>
            </a:r>
            <a:r>
              <a:rPr lang="en-US" dirty="0" err="1"/>
              <a:t>inizializza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pesi</a:t>
            </a:r>
            <a:r>
              <a:rPr lang="en-US" dirty="0"/>
              <a:t> della rete con un </a:t>
            </a:r>
            <a:r>
              <a:rPr lang="en-US" dirty="0" err="1"/>
              <a:t>comportamento</a:t>
            </a:r>
            <a:r>
              <a:rPr lang="en-US" dirty="0"/>
              <a:t> </a:t>
            </a:r>
            <a:r>
              <a:rPr lang="en-US" dirty="0" err="1"/>
              <a:t>ragionevole</a:t>
            </a:r>
            <a:r>
              <a:rPr lang="en-US" dirty="0"/>
              <a:t> — </a:t>
            </a:r>
            <a:r>
              <a:rPr lang="en-US" dirty="0" err="1"/>
              <a:t>l'auto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già</a:t>
            </a:r>
            <a:r>
              <a:rPr lang="en-US" dirty="0"/>
              <a:t> </a:t>
            </a:r>
            <a:r>
              <a:rPr lang="en-US" dirty="0" err="1"/>
              <a:t>basicamente</a:t>
            </a:r>
            <a:r>
              <a:rPr lang="en-US" dirty="0"/>
              <a:t> come </a:t>
            </a:r>
            <a:r>
              <a:rPr lang="en-US" dirty="0" err="1"/>
              <a:t>restare</a:t>
            </a:r>
            <a:r>
              <a:rPr lang="en-US" dirty="0"/>
              <a:t> in </a:t>
            </a:r>
            <a:r>
              <a:rPr lang="en-US" dirty="0" err="1"/>
              <a:t>pista</a:t>
            </a:r>
            <a:r>
              <a:rPr lang="en-US" dirty="0"/>
              <a:t>.</a:t>
            </a:r>
          </a:p>
          <a:p>
            <a:r>
              <a:rPr lang="en-US" b="1" dirty="0"/>
              <a:t>Fase 2 — Fine-tuning con RL.</a:t>
            </a:r>
            <a:r>
              <a:rPr lang="en-US" dirty="0"/>
              <a:t> Continuate il training con RL </a:t>
            </a:r>
            <a:r>
              <a:rPr lang="en-US" dirty="0" err="1"/>
              <a:t>normale</a:t>
            </a:r>
            <a:r>
              <a:rPr lang="en-US" dirty="0"/>
              <a:t>. </a:t>
            </a:r>
            <a:r>
              <a:rPr lang="en-US" dirty="0" err="1"/>
              <a:t>L'agente</a:t>
            </a:r>
            <a:r>
              <a:rPr lang="en-US" dirty="0"/>
              <a:t> ora </a:t>
            </a:r>
            <a:r>
              <a:rPr lang="en-US" dirty="0" err="1"/>
              <a:t>parte</a:t>
            </a:r>
            <a:r>
              <a:rPr lang="en-US" dirty="0"/>
              <a:t> da </a:t>
            </a:r>
            <a:r>
              <a:rPr lang="en-US" dirty="0" err="1"/>
              <a:t>una</a:t>
            </a:r>
            <a:r>
              <a:rPr lang="en-US" dirty="0"/>
              <a:t> policy </a:t>
            </a:r>
            <a:r>
              <a:rPr lang="en-US" dirty="0" err="1"/>
              <a:t>decente</a:t>
            </a:r>
            <a:r>
              <a:rPr lang="en-US" dirty="0"/>
              <a:t> </a:t>
            </a:r>
            <a:r>
              <a:rPr lang="en-US" dirty="0" err="1"/>
              <a:t>invece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da </a:t>
            </a:r>
            <a:r>
              <a:rPr lang="en-US" dirty="0" err="1"/>
              <a:t>una</a:t>
            </a:r>
            <a:r>
              <a:rPr lang="en-US" dirty="0"/>
              <a:t> policy </a:t>
            </a:r>
            <a:r>
              <a:rPr lang="en-US" dirty="0" err="1"/>
              <a:t>casuale</a:t>
            </a:r>
            <a:r>
              <a:rPr lang="en-US" dirty="0"/>
              <a:t>, </a:t>
            </a:r>
            <a:r>
              <a:rPr lang="en-US" dirty="0" err="1"/>
              <a:t>quindi</a:t>
            </a:r>
            <a:r>
              <a:rPr lang="en-US" dirty="0"/>
              <a:t>:</a:t>
            </a:r>
          </a:p>
          <a:p>
            <a:r>
              <a:rPr lang="en-US" dirty="0" err="1"/>
              <a:t>L'esplorazione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efficiente</a:t>
            </a:r>
            <a:r>
              <a:rPr lang="en-US" dirty="0"/>
              <a:t> (</a:t>
            </a:r>
            <a:r>
              <a:rPr lang="en-US" dirty="0" err="1"/>
              <a:t>l'auto</a:t>
            </a:r>
            <a:r>
              <a:rPr lang="en-US" dirty="0"/>
              <a:t> </a:t>
            </a:r>
            <a:r>
              <a:rPr lang="en-US" dirty="0" err="1"/>
              <a:t>rimane</a:t>
            </a:r>
            <a:r>
              <a:rPr lang="en-US" dirty="0"/>
              <a:t> in </a:t>
            </a:r>
            <a:r>
              <a:rPr lang="en-US" dirty="0" err="1"/>
              <a:t>pista</a:t>
            </a:r>
            <a:r>
              <a:rPr lang="en-US" dirty="0"/>
              <a:t> e </a:t>
            </a:r>
            <a:r>
              <a:rPr lang="en-US" dirty="0" err="1"/>
              <a:t>accumula</a:t>
            </a:r>
            <a:r>
              <a:rPr lang="en-US" dirty="0"/>
              <a:t> reward </a:t>
            </a:r>
            <a:r>
              <a:rPr lang="en-US" dirty="0" err="1"/>
              <a:t>positivi</a:t>
            </a:r>
            <a:r>
              <a:rPr lang="en-US" dirty="0"/>
              <a:t> fin </a:t>
            </a:r>
            <a:r>
              <a:rPr lang="en-US" dirty="0" err="1"/>
              <a:t>dai</a:t>
            </a:r>
            <a:r>
              <a:rPr lang="en-US" dirty="0"/>
              <a:t> </a:t>
            </a:r>
            <a:r>
              <a:rPr lang="en-US" dirty="0" err="1"/>
              <a:t>primi</a:t>
            </a:r>
            <a:r>
              <a:rPr lang="en-US" dirty="0"/>
              <a:t> </a:t>
            </a:r>
            <a:r>
              <a:rPr lang="en-US" dirty="0" err="1"/>
              <a:t>episodi</a:t>
            </a:r>
            <a:r>
              <a:rPr lang="en-US" dirty="0"/>
              <a:t>)</a:t>
            </a:r>
          </a:p>
          <a:p>
            <a:r>
              <a:rPr lang="en-US" dirty="0"/>
              <a:t>Non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perde</a:t>
            </a:r>
            <a:r>
              <a:rPr lang="en-US" dirty="0"/>
              <a:t> tempo </a:t>
            </a:r>
            <a:r>
              <a:rPr lang="en-US" dirty="0" err="1"/>
              <a:t>nelle</a:t>
            </a:r>
            <a:r>
              <a:rPr lang="en-US" dirty="0"/>
              <a:t> prime </a:t>
            </a:r>
            <a:r>
              <a:rPr lang="en-US" dirty="0" err="1"/>
              <a:t>centinaia</a:t>
            </a:r>
            <a:r>
              <a:rPr lang="en-US" dirty="0"/>
              <a:t> di </a:t>
            </a:r>
            <a:r>
              <a:rPr lang="en-US" dirty="0" err="1"/>
              <a:t>episodi</a:t>
            </a:r>
            <a:r>
              <a:rPr lang="en-US" dirty="0"/>
              <a:t> dove </a:t>
            </a:r>
            <a:r>
              <a:rPr lang="en-US" dirty="0" err="1"/>
              <a:t>l'agente</a:t>
            </a:r>
            <a:r>
              <a:rPr lang="en-US" dirty="0"/>
              <a:t> fa </a:t>
            </a:r>
            <a:r>
              <a:rPr lang="en-US" dirty="0" err="1"/>
              <a:t>cose</a:t>
            </a:r>
            <a:r>
              <a:rPr lang="en-US" dirty="0"/>
              <a:t> </a:t>
            </a:r>
            <a:r>
              <a:rPr lang="en-US" dirty="0" err="1"/>
              <a:t>completamente</a:t>
            </a:r>
            <a:r>
              <a:rPr lang="en-US" dirty="0"/>
              <a:t> </a:t>
            </a:r>
            <a:r>
              <a:rPr lang="en-US" dirty="0" err="1"/>
              <a:t>casuali</a:t>
            </a:r>
            <a:endParaRPr lang="en-US" dirty="0"/>
          </a:p>
          <a:p>
            <a:r>
              <a:rPr lang="en-US" dirty="0"/>
              <a:t>Si </a:t>
            </a:r>
            <a:r>
              <a:rPr lang="en-US" dirty="0" err="1"/>
              <a:t>evita</a:t>
            </a:r>
            <a:r>
              <a:rPr lang="en-US" dirty="0"/>
              <a:t> il </a:t>
            </a:r>
            <a:r>
              <a:rPr lang="en-US" dirty="0" err="1"/>
              <a:t>problema</a:t>
            </a:r>
            <a:r>
              <a:rPr lang="en-US" dirty="0"/>
              <a:t> del "reward </a:t>
            </a:r>
            <a:r>
              <a:rPr lang="en-US" dirty="0" err="1"/>
              <a:t>estremamente</a:t>
            </a:r>
            <a:r>
              <a:rPr lang="en-US" dirty="0"/>
              <a:t> </a:t>
            </a:r>
            <a:r>
              <a:rPr lang="en-US" dirty="0" err="1"/>
              <a:t>sparso</a:t>
            </a:r>
            <a:r>
              <a:rPr lang="en-US" dirty="0"/>
              <a:t>" </a:t>
            </a:r>
            <a:r>
              <a:rPr lang="en-US" dirty="0" err="1"/>
              <a:t>all'inizio</a:t>
            </a:r>
            <a:endParaRPr lang="en-US" dirty="0"/>
          </a:p>
          <a:p>
            <a:r>
              <a:rPr lang="en-US" dirty="0" err="1"/>
              <a:t>Questo</a:t>
            </a:r>
            <a:r>
              <a:rPr lang="en-US" dirty="0"/>
              <a:t> </a:t>
            </a:r>
            <a:r>
              <a:rPr lang="en-US" dirty="0" err="1"/>
              <a:t>approccio</a:t>
            </a:r>
            <a:r>
              <a:rPr lang="en-US" dirty="0"/>
              <a:t> </a:t>
            </a:r>
            <a:r>
              <a:rPr lang="en-US" dirty="0" err="1"/>
              <a:t>ibrido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analogo</a:t>
            </a:r>
            <a:r>
              <a:rPr lang="en-US" dirty="0"/>
              <a:t> a </a:t>
            </a:r>
            <a:r>
              <a:rPr lang="en-US" dirty="0" err="1"/>
              <a:t>quello</a:t>
            </a:r>
            <a:r>
              <a:rPr lang="en-US" dirty="0"/>
              <a:t> </a:t>
            </a:r>
            <a:r>
              <a:rPr lang="en-US" dirty="0" err="1"/>
              <a:t>usato</a:t>
            </a:r>
            <a:r>
              <a:rPr lang="en-US" dirty="0"/>
              <a:t> da AlphaGo: prima </a:t>
            </a:r>
            <a:r>
              <a:rPr lang="en-US" dirty="0" err="1"/>
              <a:t>imparare</a:t>
            </a:r>
            <a:r>
              <a:rPr lang="en-US" dirty="0"/>
              <a:t> </a:t>
            </a:r>
            <a:r>
              <a:rPr lang="en-US" dirty="0" err="1"/>
              <a:t>dalle</a:t>
            </a:r>
            <a:r>
              <a:rPr lang="en-US" dirty="0"/>
              <a:t> partite </a:t>
            </a:r>
            <a:r>
              <a:rPr lang="en-US" dirty="0" err="1"/>
              <a:t>umane</a:t>
            </a:r>
            <a:r>
              <a:rPr lang="en-US" dirty="0"/>
              <a:t> (Imitation Learning </a:t>
            </a:r>
            <a:r>
              <a:rPr lang="en-US" dirty="0" err="1"/>
              <a:t>su</a:t>
            </a:r>
            <a:r>
              <a:rPr lang="en-US" dirty="0"/>
              <a:t> 100K partite di </a:t>
            </a:r>
            <a:r>
              <a:rPr lang="en-US" dirty="0" err="1"/>
              <a:t>giocatori</a:t>
            </a:r>
            <a:r>
              <a:rPr lang="en-US" dirty="0"/>
              <a:t> </a:t>
            </a:r>
            <a:r>
              <a:rPr lang="en-US" dirty="0" err="1"/>
              <a:t>professionisti</a:t>
            </a:r>
            <a:r>
              <a:rPr lang="en-US" dirty="0"/>
              <a:t>), poi </a:t>
            </a:r>
            <a:r>
              <a:rPr lang="en-US" dirty="0" err="1"/>
              <a:t>migliorare</a:t>
            </a:r>
            <a:r>
              <a:rPr lang="en-US" dirty="0"/>
              <a:t> con self-play RL </a:t>
            </a:r>
            <a:r>
              <a:rPr lang="en-US" dirty="0" err="1"/>
              <a:t>fino</a:t>
            </a:r>
            <a:r>
              <a:rPr lang="en-US" dirty="0"/>
              <a:t> a </a:t>
            </a:r>
            <a:r>
              <a:rPr lang="en-US" dirty="0" err="1"/>
              <a:t>superare</a:t>
            </a:r>
            <a:r>
              <a:rPr lang="en-US" dirty="0"/>
              <a:t> </a:t>
            </a:r>
            <a:r>
              <a:rPr lang="en-US" dirty="0" err="1"/>
              <a:t>qualsiasi</a:t>
            </a:r>
            <a:r>
              <a:rPr lang="en-US" dirty="0"/>
              <a:t> </a:t>
            </a:r>
            <a:r>
              <a:rPr lang="en-US" dirty="0" err="1"/>
              <a:t>umano</a:t>
            </a:r>
            <a:r>
              <a:rPr lang="en-US" dirty="0"/>
              <a:t>.</a:t>
            </a:r>
          </a:p>
          <a:p>
            <a:r>
              <a:rPr lang="en-US" b="1" dirty="0"/>
              <a:t>GAIL (Generative Adversarial Imitation Learning)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un </a:t>
            </a:r>
            <a:r>
              <a:rPr lang="en-US" dirty="0" err="1"/>
              <a:t>approccio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sofisticato</a:t>
            </a:r>
            <a:r>
              <a:rPr lang="en-US" dirty="0"/>
              <a:t>. </a:t>
            </a:r>
            <a:r>
              <a:rPr lang="en-US" dirty="0" err="1"/>
              <a:t>Ispirato</a:t>
            </a:r>
            <a:r>
              <a:rPr lang="en-US" dirty="0"/>
              <a:t> alle GAN, </a:t>
            </a:r>
            <a:r>
              <a:rPr lang="en-US" dirty="0" err="1"/>
              <a:t>addestra</a:t>
            </a:r>
            <a:r>
              <a:rPr lang="en-US" dirty="0"/>
              <a:t> </a:t>
            </a:r>
            <a:r>
              <a:rPr lang="en-US" dirty="0" err="1"/>
              <a:t>simultaneamente</a:t>
            </a:r>
            <a:r>
              <a:rPr lang="en-US" dirty="0"/>
              <a:t> un </a:t>
            </a:r>
            <a:r>
              <a:rPr lang="en-US" b="1" dirty="0" err="1"/>
              <a:t>discriminatore</a:t>
            </a:r>
            <a:r>
              <a:rPr lang="en-US" dirty="0"/>
              <a:t> D(</a:t>
            </a:r>
            <a:r>
              <a:rPr lang="en-US" dirty="0" err="1"/>
              <a:t>s,a</a:t>
            </a:r>
            <a:r>
              <a:rPr lang="en-US" dirty="0"/>
              <a:t>)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cerca</a:t>
            </a:r>
            <a:r>
              <a:rPr lang="en-US" dirty="0"/>
              <a:t> di </a:t>
            </a:r>
            <a:r>
              <a:rPr lang="en-US" dirty="0" err="1"/>
              <a:t>distinguere</a:t>
            </a:r>
            <a:r>
              <a:rPr lang="en-US" dirty="0"/>
              <a:t> le </a:t>
            </a:r>
            <a:r>
              <a:rPr lang="en-US" dirty="0" err="1"/>
              <a:t>traiettorie</a:t>
            </a:r>
            <a:r>
              <a:rPr lang="en-US" dirty="0"/>
              <a:t> del vostro </a:t>
            </a:r>
            <a:r>
              <a:rPr lang="en-US" dirty="0" err="1"/>
              <a:t>agente</a:t>
            </a:r>
            <a:r>
              <a:rPr lang="en-US" dirty="0"/>
              <a:t> da quelle </a:t>
            </a:r>
            <a:r>
              <a:rPr lang="en-US" dirty="0" err="1"/>
              <a:t>dell'esperto</a:t>
            </a:r>
            <a:r>
              <a:rPr lang="en-US" dirty="0"/>
              <a:t>, e un </a:t>
            </a:r>
            <a:r>
              <a:rPr lang="en-US" b="1" dirty="0" err="1"/>
              <a:t>generatore</a:t>
            </a:r>
            <a:r>
              <a:rPr lang="en-US" dirty="0"/>
              <a:t> (la policy)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cerca</a:t>
            </a:r>
            <a:r>
              <a:rPr lang="en-US" dirty="0"/>
              <a:t> di </a:t>
            </a:r>
            <a:r>
              <a:rPr lang="en-US" dirty="0" err="1"/>
              <a:t>ingannare</a:t>
            </a:r>
            <a:r>
              <a:rPr lang="en-US" dirty="0"/>
              <a:t> il </a:t>
            </a:r>
            <a:r>
              <a:rPr lang="en-US" dirty="0" err="1"/>
              <a:t>discriminatore</a:t>
            </a:r>
            <a:r>
              <a:rPr lang="en-US" dirty="0"/>
              <a:t>. </a:t>
            </a:r>
            <a:r>
              <a:rPr lang="en-US" dirty="0" err="1"/>
              <a:t>L'agente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premiato</a:t>
            </a:r>
            <a:r>
              <a:rPr lang="en-US" dirty="0"/>
              <a:t> </a:t>
            </a:r>
            <a:r>
              <a:rPr lang="en-US" dirty="0" err="1"/>
              <a:t>quando</a:t>
            </a:r>
            <a:r>
              <a:rPr lang="en-US" dirty="0"/>
              <a:t> il </a:t>
            </a:r>
            <a:r>
              <a:rPr lang="en-US" dirty="0" err="1"/>
              <a:t>discriminatore</a:t>
            </a:r>
            <a:r>
              <a:rPr lang="en-US" dirty="0"/>
              <a:t> non </a:t>
            </a:r>
            <a:r>
              <a:rPr lang="en-US" dirty="0" err="1"/>
              <a:t>riesce</a:t>
            </a:r>
            <a:r>
              <a:rPr lang="en-US" dirty="0"/>
              <a:t> a </a:t>
            </a:r>
            <a:r>
              <a:rPr lang="en-US" dirty="0" err="1"/>
              <a:t>distinguerlo</a:t>
            </a:r>
            <a:r>
              <a:rPr lang="en-US" dirty="0"/>
              <a:t> </a:t>
            </a:r>
            <a:r>
              <a:rPr lang="en-US" dirty="0" err="1"/>
              <a:t>dall'esperto</a:t>
            </a:r>
            <a:r>
              <a:rPr lang="en-US" dirty="0"/>
              <a:t>. Il </a:t>
            </a:r>
            <a:r>
              <a:rPr lang="en-US" dirty="0" err="1"/>
              <a:t>vantaggio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non serve </a:t>
            </a:r>
            <a:r>
              <a:rPr lang="en-US" dirty="0" err="1"/>
              <a:t>definire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reward function — il </a:t>
            </a:r>
            <a:r>
              <a:rPr lang="en-US" dirty="0" err="1"/>
              <a:t>discriminatore</a:t>
            </a:r>
            <a:r>
              <a:rPr lang="en-US" dirty="0"/>
              <a:t> la </a:t>
            </a:r>
            <a:r>
              <a:rPr lang="en-US" dirty="0" err="1"/>
              <a:t>impara</a:t>
            </a:r>
            <a:r>
              <a:rPr lang="en-US" dirty="0"/>
              <a:t> </a:t>
            </a:r>
            <a:r>
              <a:rPr lang="en-US" dirty="0" err="1"/>
              <a:t>automaticamente</a:t>
            </a:r>
            <a:r>
              <a:rPr lang="en-US" dirty="0"/>
              <a:t> </a:t>
            </a:r>
            <a:r>
              <a:rPr lang="en-US" dirty="0" err="1"/>
              <a:t>dall'osservazione</a:t>
            </a:r>
            <a:r>
              <a:rPr lang="en-US" dirty="0"/>
              <a:t> delle demo.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implementato</a:t>
            </a:r>
            <a:r>
              <a:rPr lang="en-US" dirty="0"/>
              <a:t> in SB3-Zoo e in imitation learning libraries come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imitation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insidie che incontrerete e come affrontarle.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Queste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le quattro </a:t>
            </a:r>
            <a:r>
              <a:rPr lang="en-US" dirty="0" err="1"/>
              <a:t>sfide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comuni</a:t>
            </a:r>
            <a:r>
              <a:rPr lang="en-US" dirty="0"/>
              <a:t>. </a:t>
            </a:r>
            <a:r>
              <a:rPr lang="en-US" dirty="0" err="1"/>
              <a:t>Capirle</a:t>
            </a:r>
            <a:r>
              <a:rPr lang="en-US" dirty="0"/>
              <a:t> in </a:t>
            </a:r>
            <a:r>
              <a:rPr lang="en-US" dirty="0" err="1"/>
              <a:t>anticipo</a:t>
            </a:r>
            <a:r>
              <a:rPr lang="en-US" dirty="0"/>
              <a:t> vi </a:t>
            </a:r>
            <a:r>
              <a:rPr lang="en-US" dirty="0" err="1"/>
              <a:t>salverà</a:t>
            </a:r>
            <a:r>
              <a:rPr lang="en-US" dirty="0"/>
              <a:t> </a:t>
            </a:r>
            <a:r>
              <a:rPr lang="en-US" dirty="0" err="1"/>
              <a:t>molte</a:t>
            </a:r>
            <a:r>
              <a:rPr lang="en-US" dirty="0"/>
              <a:t> ore di debugging.</a:t>
            </a:r>
          </a:p>
          <a:p>
            <a:r>
              <a:rPr lang="en-US" b="1" dirty="0"/>
              <a:t>Reward Hacking.</a:t>
            </a:r>
            <a:r>
              <a:rPr lang="en-US" dirty="0"/>
              <a:t> </a:t>
            </a:r>
            <a:r>
              <a:rPr lang="en-US" dirty="0" err="1"/>
              <a:t>L'agente</a:t>
            </a:r>
            <a:r>
              <a:rPr lang="en-US" dirty="0"/>
              <a:t> trova </a:t>
            </a:r>
            <a:r>
              <a:rPr lang="en-US" dirty="0" err="1"/>
              <a:t>comportamenti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massimizzano</a:t>
            </a:r>
            <a:r>
              <a:rPr lang="en-US" dirty="0"/>
              <a:t> la reward </a:t>
            </a:r>
            <a:r>
              <a:rPr lang="en-US" dirty="0" err="1"/>
              <a:t>matematica</a:t>
            </a:r>
            <a:r>
              <a:rPr lang="en-US" dirty="0"/>
              <a:t> ma non </a:t>
            </a:r>
            <a:r>
              <a:rPr lang="en-US" dirty="0" err="1"/>
              <a:t>corrispondono</a:t>
            </a:r>
            <a:r>
              <a:rPr lang="en-US" dirty="0"/>
              <a:t> al </a:t>
            </a:r>
            <a:r>
              <a:rPr lang="en-US" dirty="0" err="1"/>
              <a:t>comportamento</a:t>
            </a:r>
            <a:r>
              <a:rPr lang="en-US" dirty="0"/>
              <a:t> </a:t>
            </a:r>
            <a:r>
              <a:rPr lang="en-US" dirty="0" err="1"/>
              <a:t>desiderato</a:t>
            </a:r>
            <a:r>
              <a:rPr lang="en-US" dirty="0"/>
              <a:t>. </a:t>
            </a:r>
            <a:r>
              <a:rPr lang="en-US" dirty="0" err="1"/>
              <a:t>Esempi</a:t>
            </a:r>
            <a:r>
              <a:rPr lang="en-US" dirty="0"/>
              <a:t> </a:t>
            </a:r>
            <a:r>
              <a:rPr lang="en-US" dirty="0" err="1"/>
              <a:t>reali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TORCS:</a:t>
            </a:r>
          </a:p>
          <a:p>
            <a:r>
              <a:rPr lang="en-US" dirty="0"/>
              <a:t>Se reward =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v_x</a:t>
            </a:r>
            <a:r>
              <a:rPr lang="en-US" dirty="0"/>
              <a:t>, </a:t>
            </a:r>
            <a:r>
              <a:rPr lang="en-US" dirty="0" err="1"/>
              <a:t>l'agente</a:t>
            </a:r>
            <a:r>
              <a:rPr lang="en-US" dirty="0"/>
              <a:t> </a:t>
            </a:r>
            <a:r>
              <a:rPr lang="en-US" dirty="0" err="1"/>
              <a:t>accelera</a:t>
            </a:r>
            <a:r>
              <a:rPr lang="en-US" dirty="0"/>
              <a:t> al </a:t>
            </a:r>
            <a:r>
              <a:rPr lang="en-US" dirty="0" err="1"/>
              <a:t>massimo</a:t>
            </a:r>
            <a:r>
              <a:rPr lang="en-US" dirty="0"/>
              <a:t> in </a:t>
            </a:r>
            <a:r>
              <a:rPr lang="en-US" dirty="0" err="1"/>
              <a:t>rettilineo</a:t>
            </a:r>
            <a:r>
              <a:rPr lang="en-US" dirty="0"/>
              <a:t> e </a:t>
            </a:r>
            <a:r>
              <a:rPr lang="en-US" dirty="0" err="1"/>
              <a:t>crashella</a:t>
            </a:r>
            <a:r>
              <a:rPr lang="en-US" dirty="0"/>
              <a:t> alla prima curva.</a:t>
            </a:r>
          </a:p>
          <a:p>
            <a:r>
              <a:rPr lang="en-US" dirty="0"/>
              <a:t>Se reward =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−|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trackPos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|</a:t>
            </a:r>
            <a:r>
              <a:rPr lang="en-US" dirty="0"/>
              <a:t>, </a:t>
            </a:r>
            <a:r>
              <a:rPr lang="en-US" dirty="0" err="1"/>
              <a:t>l'agente</a:t>
            </a:r>
            <a:r>
              <a:rPr lang="en-US" dirty="0"/>
              <a:t> </a:t>
            </a:r>
            <a:r>
              <a:rPr lang="en-US" dirty="0" err="1"/>
              <a:t>rimane</a:t>
            </a:r>
            <a:r>
              <a:rPr lang="en-US" dirty="0"/>
              <a:t> immobile al </a:t>
            </a:r>
            <a:r>
              <a:rPr lang="en-US" dirty="0" err="1"/>
              <a:t>centro</a:t>
            </a:r>
            <a:r>
              <a:rPr lang="en-US" dirty="0"/>
              <a:t> </a:t>
            </a:r>
            <a:r>
              <a:rPr lang="en-US" dirty="0" err="1"/>
              <a:t>pista</a:t>
            </a:r>
            <a:r>
              <a:rPr lang="en-US" dirty="0"/>
              <a:t> (reward = 0, senza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uscire</a:t>
            </a:r>
            <a:r>
              <a:rPr lang="en-US" dirty="0"/>
              <a:t>).</a:t>
            </a:r>
          </a:p>
          <a:p>
            <a:r>
              <a:rPr lang="en-US" dirty="0"/>
              <a:t>Con la reward standard, </a:t>
            </a:r>
            <a:r>
              <a:rPr lang="en-US" dirty="0" err="1"/>
              <a:t>alcuni</a:t>
            </a:r>
            <a:r>
              <a:rPr lang="en-US" dirty="0"/>
              <a:t> </a:t>
            </a:r>
            <a:r>
              <a:rPr lang="en-US" dirty="0" err="1"/>
              <a:t>agenti</a:t>
            </a:r>
            <a:r>
              <a:rPr lang="en-US" dirty="0"/>
              <a:t> </a:t>
            </a:r>
            <a:r>
              <a:rPr lang="en-US" dirty="0" err="1"/>
              <a:t>imparano</a:t>
            </a:r>
            <a:r>
              <a:rPr lang="en-US" dirty="0"/>
              <a:t> a fare </a:t>
            </a:r>
            <a:r>
              <a:rPr lang="en-US" dirty="0" err="1"/>
              <a:t>cerchi</a:t>
            </a:r>
            <a:r>
              <a:rPr lang="en-US" dirty="0"/>
              <a:t> stretti </a:t>
            </a:r>
            <a:r>
              <a:rPr lang="en-US" dirty="0" err="1"/>
              <a:t>sul</a:t>
            </a:r>
            <a:r>
              <a:rPr lang="en-US" dirty="0"/>
              <a:t> </a:t>
            </a:r>
            <a:r>
              <a:rPr lang="en-US" dirty="0" err="1"/>
              <a:t>posto</a:t>
            </a:r>
            <a:r>
              <a:rPr lang="en-US" dirty="0"/>
              <a:t>.</a:t>
            </a:r>
          </a:p>
          <a:p>
            <a:r>
              <a:rPr lang="en-US" dirty="0"/>
              <a:t>La </a:t>
            </a:r>
            <a:r>
              <a:rPr lang="en-US" dirty="0" err="1"/>
              <a:t>soluzione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iterare</a:t>
            </a:r>
            <a:r>
              <a:rPr lang="en-US" dirty="0"/>
              <a:t> </a:t>
            </a:r>
            <a:r>
              <a:rPr lang="en-US" dirty="0" err="1"/>
              <a:t>sulla</a:t>
            </a:r>
            <a:r>
              <a:rPr lang="en-US" dirty="0"/>
              <a:t> reward function </a:t>
            </a:r>
            <a:r>
              <a:rPr lang="en-US" dirty="0" err="1"/>
              <a:t>aggiungendo</a:t>
            </a:r>
            <a:r>
              <a:rPr lang="en-US" dirty="0"/>
              <a:t> </a:t>
            </a:r>
            <a:r>
              <a:rPr lang="en-US" dirty="0" err="1"/>
              <a:t>penalità</a:t>
            </a:r>
            <a:r>
              <a:rPr lang="en-US" dirty="0"/>
              <a:t> e </a:t>
            </a:r>
            <a:r>
              <a:rPr lang="en-US" dirty="0" err="1"/>
              <a:t>vincoli</a:t>
            </a:r>
            <a:r>
              <a:rPr lang="en-US" dirty="0"/>
              <a:t> </a:t>
            </a:r>
            <a:r>
              <a:rPr lang="en-US" dirty="0" err="1"/>
              <a:t>finché</a:t>
            </a:r>
            <a:r>
              <a:rPr lang="en-US" dirty="0"/>
              <a:t> il </a:t>
            </a:r>
            <a:r>
              <a:rPr lang="en-US" dirty="0" err="1"/>
              <a:t>comportamento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emerge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quello</a:t>
            </a:r>
            <a:r>
              <a:rPr lang="en-US" dirty="0"/>
              <a:t> </a:t>
            </a:r>
            <a:r>
              <a:rPr lang="en-US" dirty="0" err="1"/>
              <a:t>desiderato</a:t>
            </a:r>
            <a:r>
              <a:rPr lang="en-US" dirty="0"/>
              <a:t>. </a:t>
            </a:r>
            <a:r>
              <a:rPr lang="en-US" dirty="0" err="1"/>
              <a:t>È</a:t>
            </a:r>
            <a:r>
              <a:rPr lang="en-US" dirty="0"/>
              <a:t> un </a:t>
            </a:r>
            <a:r>
              <a:rPr lang="en-US" dirty="0" err="1"/>
              <a:t>processo</a:t>
            </a:r>
            <a:r>
              <a:rPr lang="en-US" dirty="0"/>
              <a:t> </a:t>
            </a:r>
            <a:r>
              <a:rPr lang="en-US" dirty="0" err="1"/>
              <a:t>empirico</a:t>
            </a:r>
            <a:r>
              <a:rPr lang="en-US" dirty="0"/>
              <a:t> — non </a:t>
            </a:r>
            <a:r>
              <a:rPr lang="en-US" dirty="0" err="1"/>
              <a:t>c'è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formula </a:t>
            </a:r>
            <a:r>
              <a:rPr lang="en-US" dirty="0" err="1"/>
              <a:t>magica</a:t>
            </a:r>
            <a:r>
              <a:rPr lang="en-US" dirty="0"/>
              <a:t>.</a:t>
            </a:r>
          </a:p>
          <a:p>
            <a:r>
              <a:rPr lang="en-US" b="1" dirty="0"/>
              <a:t>Catastrophic Forgetting.</a:t>
            </a:r>
            <a:r>
              <a:rPr lang="en-US" dirty="0"/>
              <a:t> Se un </a:t>
            </a:r>
            <a:r>
              <a:rPr lang="en-US" dirty="0" err="1"/>
              <a:t>agente</a:t>
            </a:r>
            <a:r>
              <a:rPr lang="en-US" dirty="0"/>
              <a:t> </a:t>
            </a:r>
            <a:r>
              <a:rPr lang="en-US" dirty="0" err="1"/>
              <a:t>impara</a:t>
            </a:r>
            <a:r>
              <a:rPr lang="en-US" dirty="0"/>
              <a:t> a </a:t>
            </a:r>
            <a:r>
              <a:rPr lang="en-US" dirty="0" err="1"/>
              <a:t>guidare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un </a:t>
            </a:r>
            <a:r>
              <a:rPr lang="en-US" dirty="0" err="1"/>
              <a:t>tracciato</a:t>
            </a:r>
            <a:r>
              <a:rPr lang="en-US" dirty="0"/>
              <a:t> A e poi lo </a:t>
            </a:r>
            <a:r>
              <a:rPr lang="en-US" dirty="0" err="1"/>
              <a:t>riaddestate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un </a:t>
            </a:r>
            <a:r>
              <a:rPr lang="en-US" dirty="0" err="1"/>
              <a:t>tracciato</a:t>
            </a:r>
            <a:r>
              <a:rPr lang="en-US" dirty="0"/>
              <a:t> B, </a:t>
            </a:r>
            <a:r>
              <a:rPr lang="en-US" dirty="0" err="1"/>
              <a:t>spesso</a:t>
            </a:r>
            <a:r>
              <a:rPr lang="en-US" dirty="0"/>
              <a:t> "</a:t>
            </a:r>
            <a:r>
              <a:rPr lang="en-US" dirty="0" err="1"/>
              <a:t>dimentica</a:t>
            </a:r>
            <a:r>
              <a:rPr lang="en-US" dirty="0"/>
              <a:t>" </a:t>
            </a:r>
            <a:r>
              <a:rPr lang="en-US" dirty="0" err="1"/>
              <a:t>completamente</a:t>
            </a:r>
            <a:r>
              <a:rPr lang="en-US" dirty="0"/>
              <a:t> il </a:t>
            </a:r>
            <a:r>
              <a:rPr lang="en-US" dirty="0" err="1"/>
              <a:t>tracciato</a:t>
            </a:r>
            <a:r>
              <a:rPr lang="en-US" dirty="0"/>
              <a:t> A. </a:t>
            </a:r>
            <a:r>
              <a:rPr lang="en-US" dirty="0" err="1"/>
              <a:t>Questo</a:t>
            </a:r>
            <a:r>
              <a:rPr lang="en-US" dirty="0"/>
              <a:t> </a:t>
            </a:r>
            <a:r>
              <a:rPr lang="en-US" dirty="0" err="1"/>
              <a:t>avviene</a:t>
            </a:r>
            <a:r>
              <a:rPr lang="en-US" dirty="0"/>
              <a:t> </a:t>
            </a:r>
            <a:r>
              <a:rPr lang="en-US" dirty="0" err="1"/>
              <a:t>perché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pesi</a:t>
            </a:r>
            <a:r>
              <a:rPr lang="en-US" dirty="0"/>
              <a:t> della rete </a:t>
            </a:r>
            <a:r>
              <a:rPr lang="en-US" dirty="0" err="1"/>
              <a:t>vengono</a:t>
            </a:r>
            <a:r>
              <a:rPr lang="en-US" dirty="0"/>
              <a:t> </a:t>
            </a:r>
            <a:r>
              <a:rPr lang="en-US" dirty="0" err="1"/>
              <a:t>sovrascritti</a:t>
            </a:r>
            <a:r>
              <a:rPr lang="en-US" dirty="0"/>
              <a:t> </a:t>
            </a:r>
            <a:r>
              <a:rPr lang="en-US" dirty="0" err="1"/>
              <a:t>dalle</a:t>
            </a:r>
            <a:r>
              <a:rPr lang="en-US" dirty="0"/>
              <a:t> </a:t>
            </a:r>
            <a:r>
              <a:rPr lang="en-US" dirty="0" err="1"/>
              <a:t>nuove</a:t>
            </a:r>
            <a:r>
              <a:rPr lang="en-US" dirty="0"/>
              <a:t> </a:t>
            </a:r>
            <a:r>
              <a:rPr lang="en-US" dirty="0" err="1"/>
              <a:t>esperienze</a:t>
            </a:r>
            <a:r>
              <a:rPr lang="en-US" dirty="0"/>
              <a:t>. La </a:t>
            </a:r>
            <a:r>
              <a:rPr lang="en-US" dirty="0" err="1"/>
              <a:t>soluzione</a:t>
            </a:r>
            <a:r>
              <a:rPr lang="en-US" dirty="0"/>
              <a:t> </a:t>
            </a:r>
            <a:r>
              <a:rPr lang="en-US" dirty="0" err="1"/>
              <a:t>principale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il </a:t>
            </a:r>
            <a:r>
              <a:rPr lang="en-US" b="1" dirty="0"/>
              <a:t>replay buffer con </a:t>
            </a:r>
            <a:r>
              <a:rPr lang="en-US" b="1" dirty="0" err="1"/>
              <a:t>dati</a:t>
            </a:r>
            <a:r>
              <a:rPr lang="en-US" b="1" dirty="0"/>
              <a:t> di </a:t>
            </a:r>
            <a:r>
              <a:rPr lang="en-US" b="1" dirty="0" err="1"/>
              <a:t>tracciati</a:t>
            </a:r>
            <a:r>
              <a:rPr lang="en-US" b="1" dirty="0"/>
              <a:t> </a:t>
            </a:r>
            <a:r>
              <a:rPr lang="en-US" b="1" dirty="0" err="1"/>
              <a:t>diversi</a:t>
            </a:r>
            <a:r>
              <a:rPr lang="en-US" dirty="0"/>
              <a:t>: </a:t>
            </a:r>
            <a:r>
              <a:rPr lang="en-US" dirty="0" err="1"/>
              <a:t>mescolando</a:t>
            </a:r>
            <a:r>
              <a:rPr lang="en-US" dirty="0"/>
              <a:t> </a:t>
            </a:r>
            <a:r>
              <a:rPr lang="en-US" dirty="0" err="1"/>
              <a:t>esperienze</a:t>
            </a:r>
            <a:r>
              <a:rPr lang="en-US" dirty="0"/>
              <a:t> di </a:t>
            </a:r>
            <a:r>
              <a:rPr lang="en-US" dirty="0" err="1"/>
              <a:t>tracciati</a:t>
            </a:r>
            <a:r>
              <a:rPr lang="en-US" dirty="0"/>
              <a:t> A e B </a:t>
            </a:r>
            <a:r>
              <a:rPr lang="en-US" dirty="0" err="1"/>
              <a:t>nel</a:t>
            </a:r>
            <a:r>
              <a:rPr lang="en-US" dirty="0"/>
              <a:t> replay buffer, la rete </a:t>
            </a:r>
            <a:r>
              <a:rPr lang="en-US" dirty="0" err="1"/>
              <a:t>impara</a:t>
            </a:r>
            <a:r>
              <a:rPr lang="en-US" dirty="0"/>
              <a:t> </a:t>
            </a:r>
            <a:r>
              <a:rPr lang="en-US" dirty="0" err="1"/>
              <a:t>comportamenti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generali</a:t>
            </a:r>
            <a:r>
              <a:rPr lang="en-US" dirty="0"/>
              <a:t>.</a:t>
            </a:r>
          </a:p>
          <a:p>
            <a:r>
              <a:rPr lang="en-US" b="1" dirty="0" err="1"/>
              <a:t>Minimi</a:t>
            </a:r>
            <a:r>
              <a:rPr lang="en-US" b="1" dirty="0"/>
              <a:t> </a:t>
            </a:r>
            <a:r>
              <a:rPr lang="en-US" b="1" dirty="0" err="1"/>
              <a:t>locali</a:t>
            </a:r>
            <a:r>
              <a:rPr lang="en-US" b="1" dirty="0"/>
              <a:t>.</a:t>
            </a:r>
            <a:r>
              <a:rPr lang="en-US" dirty="0"/>
              <a:t> </a:t>
            </a:r>
            <a:r>
              <a:rPr lang="en-US" dirty="0" err="1"/>
              <a:t>L'agente</a:t>
            </a:r>
            <a:r>
              <a:rPr lang="en-US" dirty="0"/>
              <a:t> trova un </a:t>
            </a:r>
            <a:r>
              <a:rPr lang="en-US" dirty="0" err="1"/>
              <a:t>comportamento</a:t>
            </a:r>
            <a:r>
              <a:rPr lang="en-US" dirty="0"/>
              <a:t> </a:t>
            </a:r>
            <a:r>
              <a:rPr lang="en-US" dirty="0" err="1"/>
              <a:t>subottimale</a:t>
            </a:r>
            <a:r>
              <a:rPr lang="en-US" dirty="0"/>
              <a:t> da cui non </a:t>
            </a:r>
            <a:r>
              <a:rPr lang="en-US" dirty="0" err="1"/>
              <a:t>riesce</a:t>
            </a:r>
            <a:r>
              <a:rPr lang="en-US" dirty="0"/>
              <a:t> a </a:t>
            </a:r>
            <a:r>
              <a:rPr lang="en-US" dirty="0" err="1"/>
              <a:t>uscire</a:t>
            </a:r>
            <a:r>
              <a:rPr lang="en-US" dirty="0"/>
              <a:t>. </a:t>
            </a:r>
            <a:r>
              <a:rPr lang="en-US" dirty="0" err="1"/>
              <a:t>Esempi</a:t>
            </a:r>
            <a:r>
              <a:rPr lang="en-US" dirty="0"/>
              <a:t>: </a:t>
            </a:r>
            <a:r>
              <a:rPr lang="en-US" dirty="0" err="1"/>
              <a:t>andare</a:t>
            </a:r>
            <a:r>
              <a:rPr lang="en-US" dirty="0"/>
              <a:t> lentissimo (reward = </a:t>
            </a:r>
            <a:r>
              <a:rPr lang="en-US" dirty="0" err="1"/>
              <a:t>bassa</a:t>
            </a:r>
            <a:r>
              <a:rPr lang="en-US" dirty="0"/>
              <a:t> ma non </a:t>
            </a:r>
            <a:r>
              <a:rPr lang="en-US" dirty="0" err="1"/>
              <a:t>negativa</a:t>
            </a:r>
            <a:r>
              <a:rPr lang="en-US" dirty="0"/>
              <a:t>, </a:t>
            </a:r>
            <a:r>
              <a:rPr lang="en-US" dirty="0" err="1"/>
              <a:t>quindi</a:t>
            </a:r>
            <a:r>
              <a:rPr lang="en-US" dirty="0"/>
              <a:t> "stabile"), </a:t>
            </a:r>
            <a:r>
              <a:rPr lang="en-US" dirty="0" err="1"/>
              <a:t>oscillare</a:t>
            </a:r>
            <a:r>
              <a:rPr lang="en-US" dirty="0"/>
              <a:t> </a:t>
            </a:r>
            <a:r>
              <a:rPr lang="en-US" dirty="0" err="1"/>
              <a:t>sul</a:t>
            </a:r>
            <a:r>
              <a:rPr lang="en-US" dirty="0"/>
              <a:t> </a:t>
            </a:r>
            <a:r>
              <a:rPr lang="en-US" dirty="0" err="1"/>
              <a:t>bordo</a:t>
            </a:r>
            <a:r>
              <a:rPr lang="en-US" dirty="0"/>
              <a:t> </a:t>
            </a:r>
            <a:r>
              <a:rPr lang="en-US" dirty="0" err="1"/>
              <a:t>sinistro</a:t>
            </a:r>
            <a:r>
              <a:rPr lang="en-US" dirty="0"/>
              <a:t> (reward media ma </a:t>
            </a:r>
            <a:r>
              <a:rPr lang="en-US" dirty="0" err="1"/>
              <a:t>costante</a:t>
            </a:r>
            <a:r>
              <a:rPr lang="en-US" dirty="0"/>
              <a:t>). La </a:t>
            </a:r>
            <a:r>
              <a:rPr lang="en-US" dirty="0" err="1"/>
              <a:t>soluzione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aumentare</a:t>
            </a:r>
            <a:r>
              <a:rPr lang="en-US" dirty="0"/>
              <a:t> </a:t>
            </a:r>
            <a:r>
              <a:rPr lang="en-US" dirty="0" err="1"/>
              <a:t>l'esplorazione</a:t>
            </a:r>
            <a:r>
              <a:rPr lang="en-US" dirty="0"/>
              <a:t> (</a:t>
            </a:r>
            <a:r>
              <a:rPr lang="el-GR" dirty="0"/>
              <a:t>ε </a:t>
            </a:r>
            <a:r>
              <a:rPr lang="en-US" dirty="0" err="1"/>
              <a:t>più</a:t>
            </a:r>
            <a:r>
              <a:rPr lang="en-US" dirty="0"/>
              <a:t> alto, entropy bonus in PPO) o </a:t>
            </a:r>
            <a:r>
              <a:rPr lang="en-US" dirty="0" err="1"/>
              <a:t>cambiare</a:t>
            </a:r>
            <a:r>
              <a:rPr lang="en-US" dirty="0"/>
              <a:t> la reward per </a:t>
            </a:r>
            <a:r>
              <a:rPr lang="en-US" dirty="0" err="1"/>
              <a:t>penalizzare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pesantemente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comportamenti</a:t>
            </a:r>
            <a:r>
              <a:rPr lang="en-US" dirty="0"/>
              <a:t> </a:t>
            </a:r>
            <a:r>
              <a:rPr lang="en-US" dirty="0" err="1"/>
              <a:t>cattivi</a:t>
            </a:r>
            <a:r>
              <a:rPr lang="en-US" dirty="0"/>
              <a:t>.</a:t>
            </a:r>
          </a:p>
          <a:p>
            <a:r>
              <a:rPr lang="en-US" b="1" dirty="0"/>
              <a:t>Moving target.</a:t>
            </a:r>
            <a:r>
              <a:rPr lang="en-US" dirty="0"/>
              <a:t> Durante il training del Critic, il target Q cambia ad ogni aggiornamento. </a:t>
            </a:r>
            <a:r>
              <a:rPr lang="en-US" dirty="0" err="1"/>
              <a:t>Questo</a:t>
            </a:r>
            <a:r>
              <a:rPr lang="en-US" dirty="0"/>
              <a:t> </a:t>
            </a:r>
            <a:r>
              <a:rPr lang="en-US" dirty="0" err="1"/>
              <a:t>crea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spirale</a:t>
            </a:r>
            <a:r>
              <a:rPr lang="en-US" dirty="0"/>
              <a:t> </a:t>
            </a:r>
            <a:r>
              <a:rPr lang="en-US" dirty="0" err="1"/>
              <a:t>instabile</a:t>
            </a:r>
            <a:r>
              <a:rPr lang="en-US" dirty="0"/>
              <a:t>: la rete Q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aggiorna</a:t>
            </a:r>
            <a:r>
              <a:rPr lang="en-US" dirty="0"/>
              <a:t> verso un target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a </a:t>
            </a:r>
            <a:r>
              <a:rPr lang="en-US" dirty="0" err="1"/>
              <a:t>sua</a:t>
            </a:r>
            <a:r>
              <a:rPr lang="en-US" dirty="0"/>
              <a:t> volta in </a:t>
            </a:r>
            <a:r>
              <a:rPr lang="en-US" dirty="0" err="1"/>
              <a:t>movimento</a:t>
            </a:r>
            <a:r>
              <a:rPr lang="en-US" dirty="0"/>
              <a:t>, </a:t>
            </a:r>
            <a:r>
              <a:rPr lang="en-US" dirty="0" err="1"/>
              <a:t>causando</a:t>
            </a:r>
            <a:r>
              <a:rPr lang="en-US" dirty="0"/>
              <a:t> </a:t>
            </a:r>
            <a:r>
              <a:rPr lang="en-US" dirty="0" err="1"/>
              <a:t>oscillazioni</a:t>
            </a:r>
            <a:r>
              <a:rPr lang="en-US" dirty="0"/>
              <a:t> o </a:t>
            </a:r>
            <a:r>
              <a:rPr lang="en-US" dirty="0" err="1"/>
              <a:t>divergenza</a:t>
            </a:r>
            <a:r>
              <a:rPr lang="en-US" dirty="0"/>
              <a:t>. Le target networks (DDPG, TD3, SAC) </a:t>
            </a:r>
            <a:r>
              <a:rPr lang="en-US" dirty="0" err="1"/>
              <a:t>risolvono</a:t>
            </a:r>
            <a:r>
              <a:rPr lang="en-US" dirty="0"/>
              <a:t> </a:t>
            </a:r>
            <a:r>
              <a:rPr lang="en-US" dirty="0" err="1"/>
              <a:t>questo</a:t>
            </a:r>
            <a:r>
              <a:rPr lang="en-US" dirty="0"/>
              <a:t> </a:t>
            </a:r>
            <a:r>
              <a:rPr lang="en-US" dirty="0" err="1"/>
              <a:t>mantenendo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copia</a:t>
            </a:r>
            <a:r>
              <a:rPr lang="en-US" dirty="0"/>
              <a:t> stabile delle </a:t>
            </a:r>
            <a:r>
              <a:rPr lang="en-US" dirty="0" err="1"/>
              <a:t>reti</a:t>
            </a:r>
            <a:r>
              <a:rPr lang="en-US" dirty="0"/>
              <a:t>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Sul training:</a:t>
            </a:r>
            <a:endParaRPr lang="en-US" dirty="0"/>
          </a:p>
          <a:p>
            <a:r>
              <a:rPr lang="en-US" i="1" dirty="0" err="1"/>
              <a:t>Iniziate</a:t>
            </a:r>
            <a:r>
              <a:rPr lang="en-US" i="1" dirty="0"/>
              <a:t> con un solo </a:t>
            </a:r>
            <a:r>
              <a:rPr lang="en-US" i="1" dirty="0" err="1"/>
              <a:t>tracciato</a:t>
            </a:r>
            <a:r>
              <a:rPr lang="en-US" i="1" dirty="0"/>
              <a:t> semplice</a:t>
            </a:r>
            <a:r>
              <a:rPr lang="en-US" dirty="0"/>
              <a:t> — </a:t>
            </a:r>
            <a:r>
              <a:rPr lang="en-US" dirty="0" err="1"/>
              <a:t>preferibilmente</a:t>
            </a:r>
            <a:r>
              <a:rPr lang="en-US" dirty="0"/>
              <a:t> il </a:t>
            </a:r>
            <a:r>
              <a:rPr lang="en-US" dirty="0" err="1"/>
              <a:t>tracciato</a:t>
            </a:r>
            <a:r>
              <a:rPr lang="en-US" dirty="0"/>
              <a:t> </a:t>
            </a:r>
            <a:r>
              <a:rPr lang="en-US" dirty="0" err="1"/>
              <a:t>ovale</a:t>
            </a:r>
            <a:r>
              <a:rPr lang="en-US" dirty="0"/>
              <a:t> di default di TORCS 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g-track-1</a:t>
            </a:r>
            <a:r>
              <a:rPr lang="en-US" dirty="0"/>
              <a:t>). </a:t>
            </a:r>
            <a:r>
              <a:rPr lang="en-US" dirty="0" err="1"/>
              <a:t>Evitate</a:t>
            </a:r>
            <a:r>
              <a:rPr lang="en-US" dirty="0"/>
              <a:t> </a:t>
            </a:r>
            <a:r>
              <a:rPr lang="en-US" dirty="0" err="1"/>
              <a:t>tracciati</a:t>
            </a:r>
            <a:r>
              <a:rPr lang="en-US" dirty="0"/>
              <a:t> con </a:t>
            </a:r>
            <a:r>
              <a:rPr lang="en-US" dirty="0" err="1"/>
              <a:t>molte</a:t>
            </a:r>
            <a:r>
              <a:rPr lang="en-US" dirty="0"/>
              <a:t> curve strette </a:t>
            </a:r>
            <a:r>
              <a:rPr lang="en-US" dirty="0" err="1"/>
              <a:t>all'inizio</a:t>
            </a:r>
            <a:r>
              <a:rPr lang="en-US" dirty="0"/>
              <a:t>: </a:t>
            </a:r>
            <a:r>
              <a:rPr lang="en-US" dirty="0" err="1"/>
              <a:t>volete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l'agente</a:t>
            </a:r>
            <a:r>
              <a:rPr lang="en-US" dirty="0"/>
              <a:t> </a:t>
            </a:r>
            <a:r>
              <a:rPr lang="en-US" dirty="0" err="1"/>
              <a:t>riesca</a:t>
            </a:r>
            <a:r>
              <a:rPr lang="en-US" dirty="0"/>
              <a:t> a </a:t>
            </a:r>
            <a:r>
              <a:rPr lang="en-US" dirty="0" err="1"/>
              <a:t>raccogliere</a:t>
            </a:r>
            <a:r>
              <a:rPr lang="en-US" dirty="0"/>
              <a:t> </a:t>
            </a:r>
            <a:r>
              <a:rPr lang="en-US" dirty="0" err="1"/>
              <a:t>episodi</a:t>
            </a:r>
            <a:r>
              <a:rPr lang="en-US" dirty="0"/>
              <a:t> con reward </a:t>
            </a:r>
            <a:r>
              <a:rPr lang="en-US" dirty="0" err="1"/>
              <a:t>positiva</a:t>
            </a:r>
            <a:r>
              <a:rPr lang="en-US" dirty="0"/>
              <a:t>. Se il </a:t>
            </a:r>
            <a:r>
              <a:rPr lang="en-US" dirty="0" err="1"/>
              <a:t>tracciato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troppo</a:t>
            </a:r>
            <a:r>
              <a:rPr lang="en-US" dirty="0"/>
              <a:t> difficile, </a:t>
            </a:r>
            <a:r>
              <a:rPr lang="en-US" dirty="0" err="1"/>
              <a:t>l'agente</a:t>
            </a:r>
            <a:r>
              <a:rPr lang="en-US" dirty="0"/>
              <a:t> </a:t>
            </a:r>
            <a:r>
              <a:rPr lang="en-US" dirty="0" err="1"/>
              <a:t>esce</a:t>
            </a:r>
            <a:r>
              <a:rPr lang="en-US" dirty="0"/>
              <a:t> sempre subito e non </a:t>
            </a:r>
            <a:r>
              <a:rPr lang="en-US" dirty="0" err="1"/>
              <a:t>impara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.</a:t>
            </a:r>
          </a:p>
          <a:p>
            <a:r>
              <a:rPr lang="en-US" i="1" dirty="0" err="1"/>
              <a:t>Usate</a:t>
            </a:r>
            <a:r>
              <a:rPr lang="en-US" i="1" dirty="0"/>
              <a:t> termination </a:t>
            </a:r>
            <a:r>
              <a:rPr lang="en-US" i="1" dirty="0" err="1"/>
              <a:t>aggressiva</a:t>
            </a:r>
            <a:r>
              <a:rPr lang="en-US" i="1" dirty="0"/>
              <a:t>.</a:t>
            </a:r>
            <a:r>
              <a:rPr lang="en-US" dirty="0"/>
              <a:t> Se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|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trackPos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| &gt; 1</a:t>
            </a:r>
            <a:r>
              <a:rPr lang="en-US" dirty="0"/>
              <a:t> (</a:t>
            </a:r>
            <a:r>
              <a:rPr lang="en-US" dirty="0" err="1"/>
              <a:t>fuori</a:t>
            </a:r>
            <a:r>
              <a:rPr lang="en-US" dirty="0"/>
              <a:t> </a:t>
            </a:r>
            <a:r>
              <a:rPr lang="en-US" dirty="0" err="1"/>
              <a:t>pista</a:t>
            </a:r>
            <a:r>
              <a:rPr lang="en-US" dirty="0"/>
              <a:t>), terminate </a:t>
            </a:r>
            <a:r>
              <a:rPr lang="en-US" dirty="0" err="1"/>
              <a:t>immediatamente</a:t>
            </a:r>
            <a:r>
              <a:rPr lang="en-US" dirty="0"/>
              <a:t> </a:t>
            </a:r>
            <a:r>
              <a:rPr lang="en-US" dirty="0" err="1"/>
              <a:t>l'episodio</a:t>
            </a:r>
            <a:r>
              <a:rPr lang="en-US" dirty="0"/>
              <a:t>. Non </a:t>
            </a:r>
            <a:r>
              <a:rPr lang="en-US" dirty="0" err="1"/>
              <a:t>aspettate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l'auto</a:t>
            </a:r>
            <a:r>
              <a:rPr lang="en-US" dirty="0"/>
              <a:t> </a:t>
            </a:r>
            <a:r>
              <a:rPr lang="en-US" dirty="0" err="1"/>
              <a:t>stia</a:t>
            </a:r>
            <a:r>
              <a:rPr lang="en-US" dirty="0"/>
              <a:t> </a:t>
            </a:r>
            <a:r>
              <a:rPr lang="en-US" dirty="0" err="1"/>
              <a:t>ferma</a:t>
            </a:r>
            <a:r>
              <a:rPr lang="en-US" dirty="0"/>
              <a:t> </a:t>
            </a:r>
            <a:r>
              <a:rPr lang="en-US" dirty="0" err="1"/>
              <a:t>fuori</a:t>
            </a:r>
            <a:r>
              <a:rPr lang="en-US" dirty="0"/>
              <a:t> </a:t>
            </a:r>
            <a:r>
              <a:rPr lang="en-US" dirty="0" err="1"/>
              <a:t>pista</a:t>
            </a:r>
            <a:r>
              <a:rPr lang="en-US" dirty="0"/>
              <a:t> per 30 secondi. Ogni secondo </a:t>
            </a:r>
            <a:r>
              <a:rPr lang="en-US" dirty="0" err="1"/>
              <a:t>sprecato</a:t>
            </a:r>
            <a:r>
              <a:rPr lang="en-US" dirty="0"/>
              <a:t> </a:t>
            </a:r>
            <a:r>
              <a:rPr lang="en-US" dirty="0" err="1"/>
              <a:t>fuori</a:t>
            </a:r>
            <a:r>
              <a:rPr lang="en-US" dirty="0"/>
              <a:t> </a:t>
            </a:r>
            <a:r>
              <a:rPr lang="en-US" dirty="0" err="1"/>
              <a:t>pista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un secondo di training </a:t>
            </a:r>
            <a:r>
              <a:rPr lang="en-US" dirty="0" err="1"/>
              <a:t>perso</a:t>
            </a:r>
            <a:r>
              <a:rPr lang="en-US" dirty="0"/>
              <a:t>.</a:t>
            </a:r>
          </a:p>
          <a:p>
            <a:r>
              <a:rPr lang="en-US" i="1" dirty="0" err="1"/>
              <a:t>Salvate</a:t>
            </a:r>
            <a:r>
              <a:rPr lang="en-US" i="1" dirty="0"/>
              <a:t> checkpoint </a:t>
            </a:r>
            <a:r>
              <a:rPr lang="en-US" i="1" dirty="0" err="1"/>
              <a:t>frequenti</a:t>
            </a:r>
            <a:r>
              <a:rPr lang="en-US" i="1" dirty="0"/>
              <a:t>.</a:t>
            </a:r>
            <a:r>
              <a:rPr lang="en-US" dirty="0"/>
              <a:t> Ogni 50–100 </a:t>
            </a:r>
            <a:r>
              <a:rPr lang="en-US" dirty="0" err="1"/>
              <a:t>episodi</a:t>
            </a:r>
            <a:r>
              <a:rPr lang="en-US" dirty="0"/>
              <a:t>, </a:t>
            </a:r>
            <a:r>
              <a:rPr lang="en-US" dirty="0" err="1"/>
              <a:t>salvate</a:t>
            </a:r>
            <a:r>
              <a:rPr lang="en-US" dirty="0"/>
              <a:t> il </a:t>
            </a:r>
            <a:r>
              <a:rPr lang="en-US" dirty="0" err="1"/>
              <a:t>modello</a:t>
            </a:r>
            <a:r>
              <a:rPr lang="en-US" dirty="0"/>
              <a:t>. Il training di RL </a:t>
            </a:r>
            <a:r>
              <a:rPr lang="en-US" dirty="0" err="1"/>
              <a:t>può</a:t>
            </a:r>
            <a:r>
              <a:rPr lang="en-US" dirty="0"/>
              <a:t> </a:t>
            </a:r>
            <a:r>
              <a:rPr lang="en-US" dirty="0" err="1"/>
              <a:t>divergere</a:t>
            </a:r>
            <a:r>
              <a:rPr lang="en-US" dirty="0"/>
              <a:t> </a:t>
            </a:r>
            <a:r>
              <a:rPr lang="en-US" dirty="0" err="1"/>
              <a:t>improvvisamente</a:t>
            </a:r>
            <a:r>
              <a:rPr lang="en-US" dirty="0"/>
              <a:t> — </a:t>
            </a:r>
            <a:r>
              <a:rPr lang="en-US" dirty="0" err="1"/>
              <a:t>volete</a:t>
            </a:r>
            <a:r>
              <a:rPr lang="en-US" dirty="0"/>
              <a:t> sempre </a:t>
            </a:r>
            <a:r>
              <a:rPr lang="en-US" dirty="0" err="1"/>
              <a:t>poter</a:t>
            </a:r>
            <a:r>
              <a:rPr lang="en-US" dirty="0"/>
              <a:t> </a:t>
            </a:r>
            <a:r>
              <a:rPr lang="en-US" dirty="0" err="1"/>
              <a:t>tornare</a:t>
            </a:r>
            <a:r>
              <a:rPr lang="en-US" dirty="0"/>
              <a:t> </a:t>
            </a:r>
            <a:r>
              <a:rPr lang="en-US" dirty="0" err="1"/>
              <a:t>all'ultimo</a:t>
            </a:r>
            <a:r>
              <a:rPr lang="en-US" dirty="0"/>
              <a:t> checkpoint stabile.</a:t>
            </a:r>
          </a:p>
          <a:p>
            <a:r>
              <a:rPr lang="en-US" i="1" dirty="0" err="1"/>
              <a:t>Monitorate</a:t>
            </a:r>
            <a:r>
              <a:rPr lang="en-US" i="1" dirty="0"/>
              <a:t> reward media e </a:t>
            </a:r>
            <a:r>
              <a:rPr lang="en-US" i="1" dirty="0" err="1"/>
              <a:t>deviazione</a:t>
            </a:r>
            <a:r>
              <a:rPr lang="en-US" i="1" dirty="0"/>
              <a:t> standard per </a:t>
            </a:r>
            <a:r>
              <a:rPr lang="en-US" i="1" dirty="0" err="1"/>
              <a:t>episodio</a:t>
            </a:r>
            <a:r>
              <a:rPr lang="en-US" i="1" dirty="0"/>
              <a:t>.</a:t>
            </a:r>
            <a:r>
              <a:rPr lang="en-US" dirty="0"/>
              <a:t> Se la media sale, state </a:t>
            </a:r>
            <a:r>
              <a:rPr lang="en-US" dirty="0" err="1"/>
              <a:t>imparando</a:t>
            </a:r>
            <a:r>
              <a:rPr lang="en-US" dirty="0"/>
              <a:t>. Se la </a:t>
            </a:r>
            <a:r>
              <a:rPr lang="en-US" dirty="0" err="1"/>
              <a:t>deviazione</a:t>
            </a:r>
            <a:r>
              <a:rPr lang="en-US" dirty="0"/>
              <a:t> standard </a:t>
            </a:r>
            <a:r>
              <a:rPr lang="en-US" dirty="0" err="1"/>
              <a:t>è</a:t>
            </a:r>
            <a:r>
              <a:rPr lang="en-US" dirty="0"/>
              <a:t> altissima, il </a:t>
            </a:r>
            <a:r>
              <a:rPr lang="en-US" dirty="0" err="1"/>
              <a:t>comportamento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instabile</a:t>
            </a:r>
            <a:r>
              <a:rPr lang="en-US" dirty="0"/>
              <a:t>. Se la media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piatta</a:t>
            </a:r>
            <a:r>
              <a:rPr lang="en-US" dirty="0"/>
              <a:t> per 200 </a:t>
            </a:r>
            <a:r>
              <a:rPr lang="en-US" dirty="0" err="1"/>
              <a:t>episodi</a:t>
            </a:r>
            <a:r>
              <a:rPr lang="en-US" dirty="0"/>
              <a:t>, </a:t>
            </a:r>
            <a:r>
              <a:rPr lang="en-US" dirty="0" err="1"/>
              <a:t>cambiate</a:t>
            </a:r>
            <a:r>
              <a:rPr lang="en-US" dirty="0"/>
              <a:t> </a:t>
            </a:r>
            <a:r>
              <a:rPr lang="en-US" dirty="0" err="1"/>
              <a:t>qualcosa</a:t>
            </a:r>
            <a:r>
              <a:rPr lang="en-US" dirty="0"/>
              <a:t>.</a:t>
            </a:r>
          </a:p>
          <a:p>
            <a:r>
              <a:rPr lang="en-US" b="1" dirty="0"/>
              <a:t>Sul feature engineering:</a:t>
            </a:r>
            <a:endParaRPr lang="en-US" dirty="0"/>
          </a:p>
          <a:p>
            <a:r>
              <a:rPr lang="en-US" i="1" dirty="0" err="1"/>
              <a:t>Normalizzate</a:t>
            </a:r>
            <a:r>
              <a:rPr lang="en-US" i="1" dirty="0"/>
              <a:t> tutti </a:t>
            </a:r>
            <a:r>
              <a:rPr lang="en-US" i="1" dirty="0" err="1"/>
              <a:t>gli</a:t>
            </a:r>
            <a:r>
              <a:rPr lang="en-US" i="1" dirty="0"/>
              <a:t> input.</a:t>
            </a:r>
            <a:r>
              <a:rPr lang="en-US" dirty="0"/>
              <a:t> Le </a:t>
            </a:r>
            <a:r>
              <a:rPr lang="en-US" dirty="0" err="1"/>
              <a:t>reti</a:t>
            </a:r>
            <a:r>
              <a:rPr lang="en-US" dirty="0"/>
              <a:t> </a:t>
            </a:r>
            <a:r>
              <a:rPr lang="en-US" dirty="0" err="1"/>
              <a:t>neurali</a:t>
            </a:r>
            <a:r>
              <a:rPr lang="en-US" dirty="0"/>
              <a:t> </a:t>
            </a:r>
            <a:r>
              <a:rPr lang="en-US" dirty="0" err="1"/>
              <a:t>funzionano</a:t>
            </a:r>
            <a:r>
              <a:rPr lang="en-US" dirty="0"/>
              <a:t> </a:t>
            </a:r>
            <a:r>
              <a:rPr lang="en-US" dirty="0" err="1"/>
              <a:t>meglio</a:t>
            </a:r>
            <a:r>
              <a:rPr lang="en-US" dirty="0"/>
              <a:t> </a:t>
            </a:r>
            <a:r>
              <a:rPr lang="en-US" dirty="0" err="1"/>
              <a:t>quando</a:t>
            </a:r>
            <a:r>
              <a:rPr lang="en-US" dirty="0"/>
              <a:t> tutti </a:t>
            </a:r>
            <a:r>
              <a:rPr lang="en-US" dirty="0" err="1"/>
              <a:t>gli</a:t>
            </a:r>
            <a:r>
              <a:rPr lang="en-US" dirty="0"/>
              <a:t> input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nella</a:t>
            </a:r>
            <a:r>
              <a:rPr lang="en-US" dirty="0"/>
              <a:t> </a:t>
            </a:r>
            <a:r>
              <a:rPr lang="en-US" dirty="0" err="1"/>
              <a:t>stessa</a:t>
            </a:r>
            <a:r>
              <a:rPr lang="en-US" dirty="0"/>
              <a:t> scala, </a:t>
            </a:r>
            <a:r>
              <a:rPr lang="en-US" dirty="0" err="1"/>
              <a:t>tipicamente</a:t>
            </a:r>
            <a:r>
              <a:rPr lang="en-US" dirty="0"/>
              <a:t> [−1, 1] o [0, 1]. Se date in input </a:t>
            </a:r>
            <a:r>
              <a:rPr lang="en-US" dirty="0" err="1"/>
              <a:t>trackPos</a:t>
            </a:r>
            <a:r>
              <a:rPr lang="en-US" dirty="0"/>
              <a:t> (−1 a +1), angle (−</a:t>
            </a:r>
            <a:r>
              <a:rPr lang="el-GR" dirty="0"/>
              <a:t>π </a:t>
            </a:r>
            <a:r>
              <a:rPr lang="en-US" dirty="0"/>
              <a:t>a +</a:t>
            </a:r>
            <a:r>
              <a:rPr lang="el-GR" dirty="0"/>
              <a:t>π), </a:t>
            </a:r>
            <a:r>
              <a:rPr lang="en-US" dirty="0" err="1"/>
              <a:t>speedX</a:t>
            </a:r>
            <a:r>
              <a:rPr lang="en-US" dirty="0"/>
              <a:t> (0 a 300 km/h) e track[19] (0 a 200m), la rete </a:t>
            </a:r>
            <a:r>
              <a:rPr lang="en-US" dirty="0" err="1"/>
              <a:t>fatica</a:t>
            </a:r>
            <a:r>
              <a:rPr lang="en-US" dirty="0"/>
              <a:t> </a:t>
            </a:r>
            <a:r>
              <a:rPr lang="en-US" dirty="0" err="1"/>
              <a:t>perché</a:t>
            </a:r>
            <a:r>
              <a:rPr lang="en-US" dirty="0"/>
              <a:t> le scale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completamente</a:t>
            </a:r>
            <a:r>
              <a:rPr lang="en-US" dirty="0"/>
              <a:t> diverse. </a:t>
            </a:r>
            <a:r>
              <a:rPr lang="en-US" dirty="0" err="1"/>
              <a:t>Dividete</a:t>
            </a:r>
            <a:r>
              <a:rPr lang="en-US" dirty="0"/>
              <a:t> </a:t>
            </a:r>
            <a:r>
              <a:rPr lang="en-US" dirty="0" err="1"/>
              <a:t>speedX</a:t>
            </a:r>
            <a:r>
              <a:rPr lang="en-US" dirty="0"/>
              <a:t> per 200 e track per 200.</a:t>
            </a:r>
          </a:p>
          <a:p>
            <a:r>
              <a:rPr lang="en-US" i="1" dirty="0"/>
              <a:t>I 19 </a:t>
            </a:r>
            <a:r>
              <a:rPr lang="en-US" i="1" dirty="0" err="1"/>
              <a:t>raggi</a:t>
            </a:r>
            <a:r>
              <a:rPr lang="en-US" i="1" dirty="0"/>
              <a:t> track </a:t>
            </a:r>
            <a:r>
              <a:rPr lang="en-US" i="1" dirty="0" err="1"/>
              <a:t>sono</a:t>
            </a:r>
            <a:r>
              <a:rPr lang="en-US" i="1" dirty="0"/>
              <a:t> </a:t>
            </a:r>
            <a:r>
              <a:rPr lang="en-US" i="1" dirty="0" err="1"/>
              <a:t>oro</a:t>
            </a:r>
            <a:r>
              <a:rPr lang="en-US" i="1" dirty="0"/>
              <a:t>.</a:t>
            </a:r>
            <a:r>
              <a:rPr lang="en-US" dirty="0"/>
              <a:t> Sono il </a:t>
            </a:r>
            <a:r>
              <a:rPr lang="en-US" dirty="0" err="1"/>
              <a:t>sensore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informativo</a:t>
            </a:r>
            <a:r>
              <a:rPr lang="en-US" dirty="0"/>
              <a:t> per </a:t>
            </a:r>
            <a:r>
              <a:rPr lang="en-US" dirty="0" err="1"/>
              <a:t>anticipare</a:t>
            </a:r>
            <a:r>
              <a:rPr lang="en-US" dirty="0"/>
              <a:t> le curve. Se il </a:t>
            </a:r>
            <a:r>
              <a:rPr lang="en-US" dirty="0" err="1"/>
              <a:t>raggio</a:t>
            </a:r>
            <a:r>
              <a:rPr lang="en-US" dirty="0"/>
              <a:t> a 0° (</a:t>
            </a:r>
            <a:r>
              <a:rPr lang="en-US" dirty="0" err="1"/>
              <a:t>dritto</a:t>
            </a:r>
            <a:r>
              <a:rPr lang="en-US" dirty="0"/>
              <a:t> </a:t>
            </a:r>
            <a:r>
              <a:rPr lang="en-US" dirty="0" err="1"/>
              <a:t>davanti</a:t>
            </a:r>
            <a:r>
              <a:rPr lang="en-US" dirty="0"/>
              <a:t>)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lungo</a:t>
            </a:r>
            <a:r>
              <a:rPr lang="en-US" dirty="0"/>
              <a:t> ma </a:t>
            </a:r>
            <a:r>
              <a:rPr lang="en-US" dirty="0" err="1"/>
              <a:t>quelli</a:t>
            </a:r>
            <a:r>
              <a:rPr lang="en-US" dirty="0"/>
              <a:t> a 20° e 30°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accorciano</a:t>
            </a:r>
            <a:r>
              <a:rPr lang="en-US" dirty="0"/>
              <a:t>, </a:t>
            </a:r>
            <a:r>
              <a:rPr lang="en-US" dirty="0" err="1"/>
              <a:t>c'è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curva a </a:t>
            </a:r>
            <a:r>
              <a:rPr lang="en-US" dirty="0" err="1"/>
              <a:t>destra</a:t>
            </a:r>
            <a:r>
              <a:rPr lang="en-US" dirty="0"/>
              <a:t>. La rete, se </a:t>
            </a:r>
            <a:r>
              <a:rPr lang="en-US" dirty="0" err="1"/>
              <a:t>addestrata</a:t>
            </a:r>
            <a:r>
              <a:rPr lang="en-US" dirty="0"/>
              <a:t> </a:t>
            </a:r>
            <a:r>
              <a:rPr lang="en-US" dirty="0" err="1"/>
              <a:t>abbastanza</a:t>
            </a:r>
            <a:r>
              <a:rPr lang="en-US" dirty="0"/>
              <a:t>, </a:t>
            </a:r>
            <a:r>
              <a:rPr lang="en-US" dirty="0" err="1"/>
              <a:t>impara</a:t>
            </a:r>
            <a:r>
              <a:rPr lang="en-US" dirty="0"/>
              <a:t> da sola a </a:t>
            </a:r>
            <a:r>
              <a:rPr lang="en-US" dirty="0" err="1"/>
              <a:t>interpretarli</a:t>
            </a:r>
            <a:r>
              <a:rPr lang="en-US" dirty="0"/>
              <a:t>.</a:t>
            </a:r>
          </a:p>
          <a:p>
            <a:r>
              <a:rPr lang="en-US" b="1" dirty="0"/>
              <a:t>Sul debugging:</a:t>
            </a:r>
            <a:endParaRPr lang="en-US" dirty="0"/>
          </a:p>
          <a:p>
            <a:r>
              <a:rPr lang="en-US" i="1" dirty="0" err="1"/>
              <a:t>Renderate</a:t>
            </a:r>
            <a:r>
              <a:rPr lang="en-US" i="1" dirty="0"/>
              <a:t> </a:t>
            </a:r>
            <a:r>
              <a:rPr lang="en-US" i="1" dirty="0" err="1"/>
              <a:t>qualche</a:t>
            </a:r>
            <a:r>
              <a:rPr lang="en-US" i="1" dirty="0"/>
              <a:t> </a:t>
            </a:r>
            <a:r>
              <a:rPr lang="en-US" i="1" dirty="0" err="1"/>
              <a:t>episodio</a:t>
            </a:r>
            <a:r>
              <a:rPr lang="en-US" i="1" dirty="0"/>
              <a:t> </a:t>
            </a:r>
            <a:r>
              <a:rPr lang="en-US" i="1" dirty="0" err="1"/>
              <a:t>periodicamente</a:t>
            </a:r>
            <a:r>
              <a:rPr lang="en-US" i="1" dirty="0"/>
              <a:t>.</a:t>
            </a:r>
            <a:r>
              <a:rPr lang="en-US" dirty="0"/>
              <a:t> </a:t>
            </a:r>
            <a:r>
              <a:rPr lang="en-US" dirty="0" err="1"/>
              <a:t>Aprire</a:t>
            </a:r>
            <a:r>
              <a:rPr lang="en-US" dirty="0"/>
              <a:t> TORCS in </a:t>
            </a:r>
            <a:r>
              <a:rPr lang="en-US" dirty="0" err="1"/>
              <a:t>modalità</a:t>
            </a:r>
            <a:r>
              <a:rPr lang="en-US" dirty="0"/>
              <a:t> </a:t>
            </a:r>
            <a:r>
              <a:rPr lang="en-US" dirty="0" err="1"/>
              <a:t>visuale</a:t>
            </a:r>
            <a:r>
              <a:rPr lang="en-US" dirty="0"/>
              <a:t> e </a:t>
            </a:r>
            <a:r>
              <a:rPr lang="en-US" dirty="0" err="1"/>
              <a:t>guardare</a:t>
            </a:r>
            <a:r>
              <a:rPr lang="en-US" dirty="0"/>
              <a:t> </a:t>
            </a:r>
            <a:r>
              <a:rPr lang="en-US" dirty="0" err="1"/>
              <a:t>cosa</a:t>
            </a:r>
            <a:r>
              <a:rPr lang="en-US" dirty="0"/>
              <a:t> </a:t>
            </a:r>
            <a:r>
              <a:rPr lang="en-US" dirty="0" err="1"/>
              <a:t>sta</a:t>
            </a:r>
            <a:r>
              <a:rPr lang="en-US" dirty="0"/>
              <a:t> </a:t>
            </a:r>
            <a:r>
              <a:rPr lang="en-US" dirty="0" err="1"/>
              <a:t>facendo</a:t>
            </a:r>
            <a:r>
              <a:rPr lang="en-US" dirty="0"/>
              <a:t> </a:t>
            </a:r>
            <a:r>
              <a:rPr lang="en-US" dirty="0" err="1"/>
              <a:t>l'agente</a:t>
            </a:r>
            <a:r>
              <a:rPr lang="en-US" dirty="0"/>
              <a:t> vale </a:t>
            </a:r>
            <a:r>
              <a:rPr lang="en-US" dirty="0" err="1"/>
              <a:t>più</a:t>
            </a:r>
            <a:r>
              <a:rPr lang="en-US" dirty="0"/>
              <a:t> di </a:t>
            </a:r>
            <a:r>
              <a:rPr lang="en-US" dirty="0" err="1"/>
              <a:t>mille</a:t>
            </a:r>
            <a:r>
              <a:rPr lang="en-US" dirty="0"/>
              <a:t> </a:t>
            </a:r>
            <a:r>
              <a:rPr lang="en-US" dirty="0" err="1"/>
              <a:t>grafici</a:t>
            </a:r>
            <a:r>
              <a:rPr lang="en-US" dirty="0"/>
              <a:t>. </a:t>
            </a:r>
            <a:r>
              <a:rPr lang="en-US" dirty="0" err="1"/>
              <a:t>Spesso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vede</a:t>
            </a:r>
            <a:r>
              <a:rPr lang="en-US" dirty="0"/>
              <a:t> </a:t>
            </a:r>
            <a:r>
              <a:rPr lang="en-US" dirty="0" err="1"/>
              <a:t>immediatamente</a:t>
            </a:r>
            <a:r>
              <a:rPr lang="en-US" dirty="0"/>
              <a:t> se </a:t>
            </a:r>
            <a:r>
              <a:rPr lang="en-US" dirty="0" err="1"/>
              <a:t>l'auto</a:t>
            </a:r>
            <a:r>
              <a:rPr lang="en-US" dirty="0"/>
              <a:t> fa </a:t>
            </a:r>
            <a:r>
              <a:rPr lang="en-US" dirty="0" err="1"/>
              <a:t>cose</a:t>
            </a:r>
            <a:r>
              <a:rPr lang="en-US" dirty="0"/>
              <a:t> </a:t>
            </a:r>
            <a:r>
              <a:rPr lang="en-US" dirty="0" err="1"/>
              <a:t>strane</a:t>
            </a:r>
            <a:r>
              <a:rPr lang="en-US" dirty="0"/>
              <a:t>.</a:t>
            </a:r>
          </a:p>
          <a:p>
            <a:r>
              <a:rPr lang="en-US" i="1" dirty="0"/>
              <a:t>Se la reward non sale dopo 200 </a:t>
            </a:r>
            <a:r>
              <a:rPr lang="en-US" i="1" dirty="0" err="1"/>
              <a:t>episodi</a:t>
            </a:r>
            <a:r>
              <a:rPr lang="en-US" dirty="0"/>
              <a:t>, non </a:t>
            </a:r>
            <a:r>
              <a:rPr lang="en-US" dirty="0" err="1"/>
              <a:t>aspettate</a:t>
            </a:r>
            <a:r>
              <a:rPr lang="en-US" dirty="0"/>
              <a:t> — </a:t>
            </a:r>
            <a:r>
              <a:rPr lang="en-US" dirty="0" err="1"/>
              <a:t>cambiate</a:t>
            </a:r>
            <a:r>
              <a:rPr lang="en-US" dirty="0"/>
              <a:t> </a:t>
            </a:r>
            <a:r>
              <a:rPr lang="en-US" dirty="0" err="1"/>
              <a:t>qualcosa</a:t>
            </a:r>
            <a:r>
              <a:rPr lang="en-US" dirty="0"/>
              <a:t>. Debugging order: prima la reward function, poi </a:t>
            </a:r>
            <a:r>
              <a:rPr lang="en-US" dirty="0" err="1"/>
              <a:t>gli</a:t>
            </a:r>
            <a:r>
              <a:rPr lang="en-US" dirty="0"/>
              <a:t> </a:t>
            </a:r>
            <a:r>
              <a:rPr lang="en-US" dirty="0" err="1"/>
              <a:t>iperparametri</a:t>
            </a:r>
            <a:r>
              <a:rPr lang="en-US" dirty="0"/>
              <a:t>, poi </a:t>
            </a:r>
            <a:r>
              <a:rPr lang="en-US" dirty="0" err="1"/>
              <a:t>l'architettura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Q-Learning </a:t>
            </a:r>
            <a:r>
              <a:rPr lang="en-US" b="1" dirty="0" err="1"/>
              <a:t>tabellare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la </a:t>
            </a:r>
            <a:r>
              <a:rPr lang="en-US" dirty="0" err="1"/>
              <a:t>scelta</a:t>
            </a:r>
            <a:r>
              <a:rPr lang="en-US" dirty="0"/>
              <a:t> </a:t>
            </a:r>
            <a:r>
              <a:rPr lang="en-US" dirty="0" err="1"/>
              <a:t>giusta</a:t>
            </a:r>
            <a:r>
              <a:rPr lang="en-US" dirty="0"/>
              <a:t> se </a:t>
            </a:r>
            <a:r>
              <a:rPr lang="en-US" dirty="0" err="1"/>
              <a:t>volete</a:t>
            </a:r>
            <a:r>
              <a:rPr lang="en-US" dirty="0"/>
              <a:t> </a:t>
            </a:r>
            <a:r>
              <a:rPr lang="en-US" dirty="0" err="1"/>
              <a:t>capire</a:t>
            </a:r>
            <a:r>
              <a:rPr lang="en-US" dirty="0"/>
              <a:t> </a:t>
            </a:r>
            <a:r>
              <a:rPr lang="en-US" dirty="0" err="1"/>
              <a:t>cosa</a:t>
            </a:r>
            <a:r>
              <a:rPr lang="en-US" dirty="0"/>
              <a:t> </a:t>
            </a:r>
            <a:r>
              <a:rPr lang="en-US" dirty="0" err="1"/>
              <a:t>sta</a:t>
            </a:r>
            <a:r>
              <a:rPr lang="en-US" dirty="0"/>
              <a:t> </a:t>
            </a:r>
            <a:r>
              <a:rPr lang="en-US" dirty="0" err="1"/>
              <a:t>succedendo</a:t>
            </a:r>
            <a:r>
              <a:rPr lang="en-US" dirty="0"/>
              <a:t>.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completamente</a:t>
            </a:r>
            <a:r>
              <a:rPr lang="en-US" dirty="0"/>
              <a:t> </a:t>
            </a:r>
            <a:r>
              <a:rPr lang="en-US" dirty="0" err="1"/>
              <a:t>trasparente</a:t>
            </a:r>
            <a:r>
              <a:rPr lang="en-US" dirty="0"/>
              <a:t>: </a:t>
            </a:r>
            <a:r>
              <a:rPr lang="en-US" dirty="0" err="1"/>
              <a:t>potete</a:t>
            </a:r>
            <a:r>
              <a:rPr lang="en-US" dirty="0"/>
              <a:t> </a:t>
            </a:r>
            <a:r>
              <a:rPr lang="en-US" dirty="0" err="1"/>
              <a:t>stampare</a:t>
            </a:r>
            <a:r>
              <a:rPr lang="en-US" dirty="0"/>
              <a:t> la Q-table, </a:t>
            </a:r>
            <a:r>
              <a:rPr lang="en-US" dirty="0" err="1"/>
              <a:t>visualizzarla</a:t>
            </a:r>
            <a:r>
              <a:rPr lang="en-US" dirty="0"/>
              <a:t> come heatmap, </a:t>
            </a:r>
            <a:r>
              <a:rPr lang="en-US" dirty="0" err="1"/>
              <a:t>capire</a:t>
            </a:r>
            <a:r>
              <a:rPr lang="en-US" dirty="0"/>
              <a:t> </a:t>
            </a:r>
            <a:r>
              <a:rPr lang="en-US" dirty="0" err="1"/>
              <a:t>esattamente</a:t>
            </a:r>
            <a:r>
              <a:rPr lang="en-US" dirty="0"/>
              <a:t> </a:t>
            </a:r>
            <a:r>
              <a:rPr lang="en-US" dirty="0" err="1"/>
              <a:t>perché</a:t>
            </a:r>
            <a:r>
              <a:rPr lang="en-US" dirty="0"/>
              <a:t> </a:t>
            </a:r>
            <a:r>
              <a:rPr lang="en-US" dirty="0" err="1"/>
              <a:t>l'agente</a:t>
            </a:r>
            <a:r>
              <a:rPr lang="en-US" dirty="0"/>
              <a:t> </a:t>
            </a:r>
            <a:r>
              <a:rPr lang="en-US" dirty="0" err="1"/>
              <a:t>sceglie</a:t>
            </a:r>
            <a:r>
              <a:rPr lang="en-US" dirty="0"/>
              <a:t> </a:t>
            </a:r>
            <a:r>
              <a:rPr lang="en-US" dirty="0" err="1"/>
              <a:t>un'azione</a:t>
            </a:r>
            <a:r>
              <a:rPr lang="en-US" dirty="0"/>
              <a:t>. Non ha </a:t>
            </a:r>
            <a:r>
              <a:rPr lang="en-US" dirty="0" err="1"/>
              <a:t>librerie</a:t>
            </a:r>
            <a:r>
              <a:rPr lang="en-US" dirty="0"/>
              <a:t> </a:t>
            </a:r>
            <a:r>
              <a:rPr lang="en-US" dirty="0" err="1"/>
              <a:t>esterne</a:t>
            </a:r>
            <a:r>
              <a:rPr lang="en-US" dirty="0"/>
              <a:t> </a:t>
            </a:r>
            <a:r>
              <a:rPr lang="en-US" dirty="0" err="1"/>
              <a:t>complesse</a:t>
            </a:r>
            <a:r>
              <a:rPr lang="en-US" dirty="0"/>
              <a:t>, non </a:t>
            </a:r>
            <a:r>
              <a:rPr lang="en-US" dirty="0" err="1"/>
              <a:t>richiede</a:t>
            </a:r>
            <a:r>
              <a:rPr lang="en-US" dirty="0"/>
              <a:t> GPU. Il </a:t>
            </a:r>
            <a:r>
              <a:rPr lang="en-US" dirty="0" err="1"/>
              <a:t>limite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con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rappresentazione</a:t>
            </a:r>
            <a:r>
              <a:rPr lang="en-US" dirty="0"/>
              <a:t> </a:t>
            </a:r>
            <a:r>
              <a:rPr lang="en-US" dirty="0" err="1"/>
              <a:t>dello</a:t>
            </a:r>
            <a:r>
              <a:rPr lang="en-US" dirty="0"/>
              <a:t> </a:t>
            </a:r>
            <a:r>
              <a:rPr lang="en-US" dirty="0" err="1"/>
              <a:t>stato</a:t>
            </a:r>
            <a:r>
              <a:rPr lang="en-US" dirty="0"/>
              <a:t> </a:t>
            </a:r>
            <a:r>
              <a:rPr lang="en-US" dirty="0" err="1"/>
              <a:t>ridotta</a:t>
            </a:r>
            <a:r>
              <a:rPr lang="en-US" dirty="0"/>
              <a:t> non </a:t>
            </a:r>
            <a:r>
              <a:rPr lang="en-US" dirty="0" err="1"/>
              <a:t>può</a:t>
            </a:r>
            <a:r>
              <a:rPr lang="en-US" dirty="0"/>
              <a:t> </a:t>
            </a:r>
            <a:r>
              <a:rPr lang="en-US" dirty="0" err="1"/>
              <a:t>imparare</a:t>
            </a:r>
            <a:r>
              <a:rPr lang="en-US" dirty="0"/>
              <a:t> </a:t>
            </a:r>
            <a:r>
              <a:rPr lang="en-US" dirty="0" err="1"/>
              <a:t>comportamenti</a:t>
            </a:r>
            <a:r>
              <a:rPr lang="en-US" dirty="0"/>
              <a:t> molto </a:t>
            </a:r>
            <a:r>
              <a:rPr lang="en-US" dirty="0" err="1"/>
              <a:t>sofisticati</a:t>
            </a:r>
            <a:r>
              <a:rPr lang="en-US" dirty="0"/>
              <a:t>. </a:t>
            </a:r>
            <a:r>
              <a:rPr lang="en-US" dirty="0" err="1"/>
              <a:t>Difficilmente</a:t>
            </a:r>
            <a:r>
              <a:rPr lang="en-US" dirty="0"/>
              <a:t> </a:t>
            </a:r>
            <a:r>
              <a:rPr lang="en-US" dirty="0" err="1"/>
              <a:t>farà</a:t>
            </a:r>
            <a:r>
              <a:rPr lang="en-US" dirty="0"/>
              <a:t> tempi </a:t>
            </a:r>
            <a:r>
              <a:rPr lang="en-US" dirty="0" err="1"/>
              <a:t>competitivi</a:t>
            </a:r>
            <a:r>
              <a:rPr lang="en-US" dirty="0"/>
              <a:t>, ma </a:t>
            </a:r>
            <a:r>
              <a:rPr lang="en-US" dirty="0" err="1"/>
              <a:t>è</a:t>
            </a:r>
            <a:r>
              <a:rPr lang="en-US" dirty="0"/>
              <a:t> un </a:t>
            </a:r>
            <a:r>
              <a:rPr lang="en-US" dirty="0" err="1"/>
              <a:t>ottimo</a:t>
            </a:r>
            <a:r>
              <a:rPr lang="en-US" dirty="0"/>
              <a:t> modo per </a:t>
            </a:r>
            <a:r>
              <a:rPr lang="en-US" dirty="0" err="1"/>
              <a:t>capire</a:t>
            </a:r>
            <a:r>
              <a:rPr lang="en-US" dirty="0"/>
              <a:t> RL.</a:t>
            </a:r>
          </a:p>
          <a:p>
            <a:r>
              <a:rPr lang="en-US" b="1" dirty="0"/>
              <a:t>Behavioral Cloning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la </a:t>
            </a:r>
            <a:r>
              <a:rPr lang="en-US" dirty="0" err="1"/>
              <a:t>scelta</a:t>
            </a:r>
            <a:r>
              <a:rPr lang="en-US" dirty="0"/>
              <a:t> </a:t>
            </a:r>
            <a:r>
              <a:rPr lang="en-US" dirty="0" err="1"/>
              <a:t>giusta</a:t>
            </a:r>
            <a:r>
              <a:rPr lang="en-US" dirty="0"/>
              <a:t> se </a:t>
            </a:r>
            <a:r>
              <a:rPr lang="en-US" dirty="0" err="1"/>
              <a:t>avete</a:t>
            </a:r>
            <a:r>
              <a:rPr lang="en-US" dirty="0"/>
              <a:t> poco tempo. In mezza </a:t>
            </a:r>
            <a:r>
              <a:rPr lang="en-US" dirty="0" err="1"/>
              <a:t>giornata</a:t>
            </a:r>
            <a:r>
              <a:rPr lang="en-US" dirty="0"/>
              <a:t> </a:t>
            </a:r>
            <a:r>
              <a:rPr lang="en-US" dirty="0" err="1"/>
              <a:t>potete</a:t>
            </a:r>
            <a:r>
              <a:rPr lang="en-US" dirty="0"/>
              <a:t> </a:t>
            </a:r>
            <a:r>
              <a:rPr lang="en-US" dirty="0" err="1"/>
              <a:t>raccogliere</a:t>
            </a:r>
            <a:r>
              <a:rPr lang="en-US" dirty="0"/>
              <a:t> demo, </a:t>
            </a:r>
            <a:r>
              <a:rPr lang="en-US" dirty="0" err="1"/>
              <a:t>trainare</a:t>
            </a:r>
            <a:r>
              <a:rPr lang="en-US" dirty="0"/>
              <a:t> e </a:t>
            </a:r>
            <a:r>
              <a:rPr lang="en-US" dirty="0" err="1"/>
              <a:t>avere</a:t>
            </a:r>
            <a:r>
              <a:rPr lang="en-US" dirty="0"/>
              <a:t> un </a:t>
            </a:r>
            <a:r>
              <a:rPr lang="en-US" dirty="0" err="1"/>
              <a:t>agente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completa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giri</a:t>
            </a:r>
            <a:r>
              <a:rPr lang="en-US" dirty="0"/>
              <a:t>. Non </a:t>
            </a:r>
            <a:r>
              <a:rPr lang="en-US" dirty="0" err="1"/>
              <a:t>richiede</a:t>
            </a:r>
            <a:r>
              <a:rPr lang="en-US" dirty="0"/>
              <a:t> tuning degli </a:t>
            </a:r>
            <a:r>
              <a:rPr lang="en-US" dirty="0" err="1"/>
              <a:t>iperparametri</a:t>
            </a:r>
            <a:r>
              <a:rPr lang="en-US" dirty="0"/>
              <a:t> di RL. Il </a:t>
            </a:r>
            <a:r>
              <a:rPr lang="en-US" dirty="0" err="1"/>
              <a:t>limite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non </a:t>
            </a:r>
            <a:r>
              <a:rPr lang="en-US" dirty="0" err="1"/>
              <a:t>supera</a:t>
            </a:r>
            <a:r>
              <a:rPr lang="en-US" dirty="0"/>
              <a:t> </a:t>
            </a:r>
            <a:r>
              <a:rPr lang="en-US" dirty="0" err="1"/>
              <a:t>l'esperto</a:t>
            </a:r>
            <a:r>
              <a:rPr lang="en-US" dirty="0"/>
              <a:t> — se il bot TORCS </a:t>
            </a:r>
            <a:r>
              <a:rPr lang="en-US" dirty="0" err="1"/>
              <a:t>è</a:t>
            </a:r>
            <a:r>
              <a:rPr lang="en-US" dirty="0"/>
              <a:t> lento, </a:t>
            </a:r>
            <a:r>
              <a:rPr lang="en-US" dirty="0" err="1"/>
              <a:t>anche</a:t>
            </a:r>
            <a:r>
              <a:rPr lang="en-US" dirty="0"/>
              <a:t> </a:t>
            </a:r>
            <a:r>
              <a:rPr lang="en-US" dirty="0" err="1"/>
              <a:t>voi</a:t>
            </a:r>
            <a:r>
              <a:rPr lang="en-US" dirty="0"/>
              <a:t> </a:t>
            </a:r>
            <a:r>
              <a:rPr lang="en-US" dirty="0" err="1"/>
              <a:t>sarete</a:t>
            </a:r>
            <a:r>
              <a:rPr lang="en-US" dirty="0"/>
              <a:t> </a:t>
            </a:r>
            <a:r>
              <a:rPr lang="en-US" dirty="0" err="1"/>
              <a:t>lenti</a:t>
            </a:r>
            <a:r>
              <a:rPr lang="en-US" dirty="0"/>
              <a:t>.</a:t>
            </a:r>
          </a:p>
          <a:p>
            <a:r>
              <a:rPr lang="en-US" b="1" dirty="0"/>
              <a:t>PPO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la </a:t>
            </a:r>
            <a:r>
              <a:rPr lang="en-US" dirty="0" err="1"/>
              <a:t>scelta</a:t>
            </a:r>
            <a:r>
              <a:rPr lang="en-US" dirty="0"/>
              <a:t> </a:t>
            </a:r>
            <a:r>
              <a:rPr lang="en-US" dirty="0" err="1"/>
              <a:t>giusta</a:t>
            </a:r>
            <a:r>
              <a:rPr lang="en-US" dirty="0"/>
              <a:t> per </a:t>
            </a:r>
            <a:r>
              <a:rPr lang="en-US" dirty="0" err="1"/>
              <a:t>risultati</a:t>
            </a:r>
            <a:r>
              <a:rPr lang="en-US" dirty="0"/>
              <a:t> </a:t>
            </a:r>
            <a:r>
              <a:rPr lang="en-US" dirty="0" err="1"/>
              <a:t>affidabili</a:t>
            </a:r>
            <a:r>
              <a:rPr lang="en-US" dirty="0"/>
              <a:t> con effort medio. SB3 fa quasi </a:t>
            </a:r>
            <a:r>
              <a:rPr lang="en-US" dirty="0" err="1"/>
              <a:t>tutto</a:t>
            </a:r>
            <a:r>
              <a:rPr lang="en-US" dirty="0"/>
              <a:t> il </a:t>
            </a:r>
            <a:r>
              <a:rPr lang="en-US" dirty="0" err="1"/>
              <a:t>lavoro</a:t>
            </a:r>
            <a:r>
              <a:rPr lang="en-US" dirty="0"/>
              <a:t> </a:t>
            </a:r>
            <a:r>
              <a:rPr lang="en-US" dirty="0" err="1"/>
              <a:t>sporco</a:t>
            </a:r>
            <a:r>
              <a:rPr lang="en-US" dirty="0"/>
              <a:t>, la </a:t>
            </a:r>
            <a:r>
              <a:rPr lang="en-US" dirty="0" err="1"/>
              <a:t>convergenza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stabile, </a:t>
            </a:r>
            <a:r>
              <a:rPr lang="en-US" dirty="0" err="1"/>
              <a:t>c'è</a:t>
            </a:r>
            <a:r>
              <a:rPr lang="en-US" dirty="0"/>
              <a:t> </a:t>
            </a:r>
            <a:r>
              <a:rPr lang="en-US" dirty="0" err="1"/>
              <a:t>molta</a:t>
            </a:r>
            <a:r>
              <a:rPr lang="en-US" dirty="0"/>
              <a:t> </a:t>
            </a:r>
            <a:r>
              <a:rPr lang="en-US" dirty="0" err="1"/>
              <a:t>documentazione</a:t>
            </a:r>
            <a:r>
              <a:rPr lang="en-US" dirty="0"/>
              <a:t> online. </a:t>
            </a:r>
            <a:r>
              <a:rPr lang="en-US" dirty="0" err="1"/>
              <a:t>Richiede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tempo del BC ma </a:t>
            </a:r>
            <a:r>
              <a:rPr lang="en-US" dirty="0" err="1"/>
              <a:t>può</a:t>
            </a:r>
            <a:r>
              <a:rPr lang="en-US" dirty="0"/>
              <a:t> </a:t>
            </a:r>
            <a:r>
              <a:rPr lang="en-US" dirty="0" err="1"/>
              <a:t>superare</a:t>
            </a:r>
            <a:r>
              <a:rPr lang="en-US" dirty="0"/>
              <a:t> il bot </a:t>
            </a:r>
            <a:r>
              <a:rPr lang="en-US" dirty="0" err="1"/>
              <a:t>esperto</a:t>
            </a:r>
            <a:r>
              <a:rPr lang="en-US" dirty="0"/>
              <a:t>. SAC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probabilmente</a:t>
            </a:r>
            <a:r>
              <a:rPr lang="en-US" dirty="0"/>
              <a:t> </a:t>
            </a:r>
            <a:r>
              <a:rPr lang="en-US" dirty="0" err="1"/>
              <a:t>ancora</a:t>
            </a:r>
            <a:r>
              <a:rPr lang="en-US" dirty="0"/>
              <a:t> </a:t>
            </a:r>
            <a:r>
              <a:rPr lang="en-US" dirty="0" err="1"/>
              <a:t>meglio</a:t>
            </a:r>
            <a:r>
              <a:rPr lang="en-US" dirty="0"/>
              <a:t> di PPO per </a:t>
            </a:r>
            <a:r>
              <a:rPr lang="en-US" dirty="0" err="1"/>
              <a:t>questo</a:t>
            </a:r>
            <a:r>
              <a:rPr lang="en-US" dirty="0"/>
              <a:t> task </a:t>
            </a:r>
            <a:r>
              <a:rPr lang="en-US" dirty="0" err="1"/>
              <a:t>specifico</a:t>
            </a:r>
            <a:r>
              <a:rPr lang="en-US" dirty="0"/>
              <a:t>.</a:t>
            </a:r>
          </a:p>
          <a:p>
            <a:r>
              <a:rPr lang="en-US" b="1" dirty="0"/>
              <a:t>BC + RL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la </a:t>
            </a:r>
            <a:r>
              <a:rPr lang="en-US" dirty="0" err="1"/>
              <a:t>strategia</a:t>
            </a:r>
            <a:r>
              <a:rPr lang="en-US" dirty="0"/>
              <a:t> </a:t>
            </a:r>
            <a:r>
              <a:rPr lang="en-US" dirty="0" err="1"/>
              <a:t>ottimale</a:t>
            </a:r>
            <a:r>
              <a:rPr lang="en-US" dirty="0"/>
              <a:t> se </a:t>
            </a:r>
            <a:r>
              <a:rPr lang="en-US" dirty="0" err="1"/>
              <a:t>volete</a:t>
            </a:r>
            <a:r>
              <a:rPr lang="en-US" dirty="0"/>
              <a:t> </a:t>
            </a:r>
            <a:r>
              <a:rPr lang="en-US" dirty="0" err="1"/>
              <a:t>massimizzare</a:t>
            </a:r>
            <a:r>
              <a:rPr lang="en-US" dirty="0"/>
              <a:t> le performance. BC vi </a:t>
            </a:r>
            <a:r>
              <a:rPr lang="en-US" dirty="0" err="1"/>
              <a:t>dà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partenza</a:t>
            </a:r>
            <a:r>
              <a:rPr lang="en-US" dirty="0"/>
              <a:t> </a:t>
            </a:r>
            <a:r>
              <a:rPr lang="en-US" dirty="0" err="1"/>
              <a:t>decente</a:t>
            </a:r>
            <a:r>
              <a:rPr lang="en-US" dirty="0"/>
              <a:t>, RL </a:t>
            </a:r>
            <a:r>
              <a:rPr lang="en-US" dirty="0" err="1"/>
              <a:t>ottimizza</a:t>
            </a:r>
            <a:r>
              <a:rPr lang="en-US" dirty="0"/>
              <a:t> </a:t>
            </a:r>
            <a:r>
              <a:rPr lang="en-US" dirty="0" err="1"/>
              <a:t>fino</a:t>
            </a:r>
            <a:r>
              <a:rPr lang="en-US" dirty="0"/>
              <a:t> a </a:t>
            </a:r>
            <a:r>
              <a:rPr lang="en-US" dirty="0" err="1"/>
              <a:t>superare</a:t>
            </a:r>
            <a:r>
              <a:rPr lang="en-US" dirty="0"/>
              <a:t> </a:t>
            </a:r>
            <a:r>
              <a:rPr lang="en-US" dirty="0" err="1"/>
              <a:t>l'esperto</a:t>
            </a:r>
            <a:r>
              <a:rPr lang="en-US" dirty="0"/>
              <a:t>. Il </a:t>
            </a:r>
            <a:r>
              <a:rPr lang="en-US" dirty="0" err="1"/>
              <a:t>costo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la </a:t>
            </a:r>
            <a:r>
              <a:rPr lang="en-US" dirty="0" err="1"/>
              <a:t>complessità</a:t>
            </a:r>
            <a:r>
              <a:rPr lang="en-US" dirty="0"/>
              <a:t>: </a:t>
            </a:r>
            <a:r>
              <a:rPr lang="en-US" dirty="0" err="1"/>
              <a:t>dovete</a:t>
            </a:r>
            <a:r>
              <a:rPr lang="en-US" dirty="0"/>
              <a:t> </a:t>
            </a:r>
            <a:r>
              <a:rPr lang="en-US" dirty="0" err="1"/>
              <a:t>gestire</a:t>
            </a:r>
            <a:r>
              <a:rPr lang="en-US" dirty="0"/>
              <a:t> due </a:t>
            </a:r>
            <a:r>
              <a:rPr lang="en-US" dirty="0" err="1"/>
              <a:t>fasi</a:t>
            </a:r>
            <a:r>
              <a:rPr lang="en-US" dirty="0"/>
              <a:t> di training e </a:t>
            </a:r>
            <a:r>
              <a:rPr lang="en-US" dirty="0" err="1"/>
              <a:t>assicurarvi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la </a:t>
            </a:r>
            <a:r>
              <a:rPr lang="en-US" dirty="0" err="1"/>
              <a:t>transizione</a:t>
            </a:r>
            <a:r>
              <a:rPr lang="en-US" dirty="0"/>
              <a:t> </a:t>
            </a:r>
            <a:r>
              <a:rPr lang="en-US" dirty="0" err="1"/>
              <a:t>sia</a:t>
            </a:r>
            <a:r>
              <a:rPr lang="en-US" dirty="0"/>
              <a:t> </a:t>
            </a:r>
            <a:r>
              <a:rPr lang="en-US" dirty="0" err="1"/>
              <a:t>fluida</a:t>
            </a:r>
            <a:r>
              <a:rPr lang="en-US" dirty="0"/>
              <a:t> (es. </a:t>
            </a:r>
            <a:r>
              <a:rPr lang="en-US" dirty="0" err="1"/>
              <a:t>usare</a:t>
            </a:r>
            <a:r>
              <a:rPr lang="en-US" dirty="0"/>
              <a:t> un learning rate basso </a:t>
            </a:r>
            <a:r>
              <a:rPr lang="en-US" dirty="0" err="1"/>
              <a:t>all'inizio</a:t>
            </a:r>
            <a:r>
              <a:rPr lang="en-US" dirty="0"/>
              <a:t> del fine-tuning RL per non "</a:t>
            </a:r>
            <a:r>
              <a:rPr lang="en-US" dirty="0" err="1"/>
              <a:t>cancellare</a:t>
            </a:r>
            <a:r>
              <a:rPr lang="en-US" dirty="0"/>
              <a:t>" </a:t>
            </a:r>
            <a:r>
              <a:rPr lang="en-US" dirty="0" err="1"/>
              <a:t>quello</a:t>
            </a:r>
            <a:r>
              <a:rPr lang="en-US" dirty="0"/>
              <a:t> </a:t>
            </a:r>
            <a:r>
              <a:rPr lang="en-US" dirty="0" err="1"/>
              <a:t>imparato</a:t>
            </a:r>
            <a:r>
              <a:rPr lang="en-US" dirty="0"/>
              <a:t> con BC).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Tecniche di AI per TORCS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28346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· Imitation Learning · Ottimizzazione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Python per la gara di guida autonoma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0" y="137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kern="0" spc="500" dirty="0">
                <a:solidFill>
                  <a:srgbClr val="8FA3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TORCS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51760" cy="1371600"/>
          </a:xfrm>
          <a:prstGeom prst="rect">
            <a:avLst/>
          </a:prstGeom>
          <a:solidFill>
            <a:srgbClr val="1A2E44"/>
          </a:solidFill>
          <a:ln w="254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8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L'ambiente TORCS &amp; Python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1188720"/>
            <a:ext cx="2651760" cy="1371600"/>
          </a:xfrm>
          <a:prstGeom prst="rect">
            <a:avLst/>
          </a:prstGeom>
          <a:solidFill>
            <a:srgbClr val="1A2E44"/>
          </a:solidFill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0" y="12344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9184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&amp; varianti discrete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1188720"/>
            <a:ext cx="2651760" cy="1371600"/>
          </a:xfrm>
          <a:prstGeom prst="rect">
            <a:avLst/>
          </a:prstGeom>
          <a:solidFill>
            <a:srgbClr val="1A2E44"/>
          </a:solidFill>
          <a:ln w="254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35040" y="12344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12648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RL: DDPG e PPO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2651760" cy="1371600"/>
          </a:xfrm>
          <a:prstGeom prst="rect">
            <a:avLst/>
          </a:prstGeom>
          <a:solidFill>
            <a:srgbClr val="1A2E44"/>
          </a:solidFill>
          <a:ln w="25400">
            <a:solidFill>
              <a:srgbClr val="AA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8803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A6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" y="33832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Imitation Learning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0" y="2834640"/>
            <a:ext cx="2651760" cy="1371600"/>
          </a:xfrm>
          <a:prstGeom prst="rect">
            <a:avLst/>
          </a:prstGeom>
          <a:solidFill>
            <a:srgbClr val="1A2E44"/>
          </a:solidFill>
          <a:ln w="254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0" y="28803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291840" y="33832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Sfide comuni e consigli pratici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E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00C8E0">
                    <a:alpha val="7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L'ambiente TORCS &amp; Python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Cos'è TORCS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 Racing Car Simulator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Simulatore di guida open-source (1997, oggi versione 1.3.7)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Oltre 40 tracciati e 30 vetture disponibili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Esposizione di sensori virtuali via scr_server (protocollo UDP)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Usato in ricerca per motion planning, RL e gare AI (SCRC Competition)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TORCS?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Leggero, modificabile, completamente open-source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Lunga tradizione di benchmark per agenti AI autonomi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974336"/>
            <a:ext cx="36576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 TORCS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L'interfaccia Python: gym_torcs / pyTORCS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librerie principali: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gym_torcs</a:t>
            </a:r>
            <a:endParaRPr lang="en-US" sz="16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Interfaccia OpenAI Gym classica, semplice da usare (repo: ugo-nama/gym_torcs)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pyTORCS</a:t>
            </a:r>
            <a:endParaRPr lang="en-US" sz="16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 modernizzata con Docker, TORCS 1.3.7, nessun memory leak (repo: gerkone/pyTORCS-docker)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standard Gym: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env.reset()  →  stato iniziale s₀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env.step(action)  →  (s', reward, done)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Compatibile con Stable-Baselines3 e altri framework RL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974336"/>
            <a:ext cx="36576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 TORCS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Sensori disponibili (Spazio degli stati)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Sensori di posizione: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trackPos</a:t>
            </a:r>
            <a:endParaRPr lang="en-US" sz="14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posizione trasversale sulla pista (−1 = bordo sx, +1 = bordo dx)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</a:t>
            </a:r>
            <a:endParaRPr lang="en-US" sz="14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angolo tra l'asse del veicolo e la tangente alla pista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track[19]</a:t>
            </a:r>
            <a:endParaRPr lang="en-US" sz="14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raggi rangefinder, distanza dai bordi della pista (0°–180°)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Sensori di velocità e motore: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speedX, speedY, speedZ</a:t>
            </a:r>
            <a:endParaRPr lang="en-US" sz="14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velocità nei tre assi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rpm, gear, wheelSpinVel[4]</a:t>
            </a:r>
            <a:endParaRPr lang="en-US" sz="14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motore, marcia, velocità angolare ruote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Sensori opzionali: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focus[5] – rangefinder frontale ad alta risoluzione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opponents[36] – distanza dai 36 avversari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974336"/>
            <a:ext cx="36576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 TORCS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Spazio delle azioni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Azioni continue (default):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6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  ∈ [−1, 1]</a:t>
            </a:r>
            <a:endParaRPr lang="en-US" sz="16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sterzo, −1 = tutto a sx, +1 = tutto a dx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6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  ∈ [0, 1]</a:t>
            </a:r>
            <a:endParaRPr lang="en-US" sz="16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acceleratore (gas)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6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  ∈ [0, 1]</a:t>
            </a:r>
            <a:endParaRPr lang="en-US" sz="16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freno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6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   ∈ {−1, 1, …, 6}</a:t>
            </a:r>
            <a:endParaRPr lang="en-US" sz="16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marcia (opzionale, si può usare cambio automatico)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Semplificazione consigliata: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Usare solo steer + accel (e freno automatico se necessario)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Oppure aggiungere la marcia automatica per ridurre la complessità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Discretizzazione: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Q-Learning: quantizzare steer in N livelli (es. 5–9 valori)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974336"/>
            <a:ext cx="36576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 TORCS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Funzione di Reward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standard (lane keeping + velocità):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v_x · cos(angle) − v_x · |sin(angle)| − v_x · |trackPos|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Componenti: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6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v_x · cos(angle)</a:t>
            </a:r>
            <a:endParaRPr lang="en-US" sz="16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premia la velocità longitudinale sulla pista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6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 v_x · |sin(angle)|</a:t>
            </a:r>
            <a:endParaRPr lang="en-US" sz="16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penalizza l'angolo rispetto alla tangente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6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 v_x · |trackPos|</a:t>
            </a:r>
            <a:endParaRPr lang="en-US" sz="16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penalizza la distanza dal centro pista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per terminazione: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Penalità pesante se si esce di pista (es. −100)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Eventuale bonus per giro completato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974336"/>
            <a:ext cx="36576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 TORCS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E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00C8E0">
                    <a:alpha val="7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Q-Learning &amp; varianti discrete</a:t>
            </a:r>
            <a:endParaRPr 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Reinforcement Learning – Concetti base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loop agente-ambiente: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L'agente osserva lo stato s_t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Sceglie un'azione a_t seguendo la policy π(s)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L'ambiente risponde con reward r_t+1 e nuovo stato s_t+1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L'agente aggiorna la sua policy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Massimizzare il ritorno cumulato  G = Σ γᵏ · r_{t+k}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6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(gamma) = fattore di sconto:</a:t>
            </a:r>
            <a:endParaRPr lang="en-US" sz="16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valgono le reward future rispetto a quelle immediate (tipico: 0.95–0.99)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trade-off Exploration vs Exploitation: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ε-greedy: con prob. ε esplora, altrimenti sfrutta la conoscenza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974336"/>
            <a:ext cx="36576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 TORCS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Q-Learning: la tabella Q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Q(s, a) = valore atteso del ritorno: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e'  buono fare l'azione a nello stato 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Aggiornamento di Bellman: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Q(s,a) ← Q(s,a) + α [r + γ·max_a' Q(s',a') − Q(s,a)]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6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learning rate</a:t>
            </a:r>
            <a:endParaRPr lang="en-US" sz="16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velocemente aggiorniamo (tipico: 0.1–0.5)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6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max_a' Q(s',a')</a:t>
            </a:r>
            <a:endParaRPr lang="en-US" sz="16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valore migliore raggiungibile dal prossimo stato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con TORCS: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spazio degli stati è continuo → serve discretizzazione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molte variabili di stato la tabella esplode (curse of dimensionality)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974336"/>
            <a:ext cx="36576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 TORCS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Q-Learning su TORCS: Discretizzazione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consigliata: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 ridotto: (trackPos_bin, angle_bin, speed_bin)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trackPos: 7–9 bin da −1 a +1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angle: 5–7 bin da −π/2 a +π/2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 3–5 bin (lenta / media / veloce)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Azioni discretizzate: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steer: 5–9 valori equidistanti in [−1, 1]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accel: fisso o 2–3 livelli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 totale della Q-table: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× 7 × 4 × 7 ≈ 1764 celle  ← gestibile!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6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Inizializzazione:</a:t>
            </a:r>
            <a:endParaRPr lang="en-US" sz="16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zero o con valori ottimistici (+1) per incoraggiare esplorazione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974336"/>
            <a:ext cx="36576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 TORCS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Q-Learning: Struttura del codice Python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3840480"/>
          </a:xfrm>
          <a:prstGeom prst="rect">
            <a:avLst/>
          </a:prstGeom>
          <a:solidFill>
            <a:srgbClr val="0A1628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gym_torcs import TorcsEnv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8FA3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Discretizzazione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STEER_BINS = np.linspace(-1, 1, 7)   # 7 valori sterzo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TRACK_BINS = np.linspace(-1, 1, 9)   # 9 bin trackPos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ANGLE_BINS = np.linspace(-0.5, 0.5, 7)  # 7 bin angle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np.zeros((9, 7, 7))  # Q-table  [trackPos, angle, steer]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discretize(obs):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tp = np.digitize(obs['trackPos'], TRACK_BINS) - 1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 = np.digitize(obs['angle'],    ANGLE_BINS) - 1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np.clip(tp,0,8), np.clip(an,0,6)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choose_action(state, epsilon):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np.random.rand() &lt; epsilon: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np.random.randint(7)  # esplora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np.argmax(Q[state])       # sfrutta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974336"/>
            <a:ext cx="36576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 TORCS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E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00C8E0">
                    <a:alpha val="7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Reinforcement Learning: DDPG e PPO</a:t>
            </a:r>
            <a:endParaRPr lang="en-US" sz="3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Perché il Deep RL?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Limiti del Q-Learning tabellare: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tabella esplode con stati ad alta dimensione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generalizza: ogni stato è trattato indipendentemente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funziona con azioni continue (steer preciso, accel fine)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Soluzione: approssimare Q con una rete neurale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rete impara a generalizzare tra stati simili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Gestisce naturalmente stati continui (sensori, velocità, angoli)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Può imparare policy molto più sofisticate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potente ma anche più instabile e difficile da fare convergere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Richiede molti più episodi di training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974336"/>
            <a:ext cx="36576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 TORCS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DDPG – Deep Deterministic Policy Gradient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Ideale per azioni continue: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Actor: rete che mappa stato → azione continua (es. steer, accel)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Critic: rete che valuta quanto è buona quella coppia (stato, azione)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Componenti chiave: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6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Buffer</a:t>
            </a:r>
            <a:endParaRPr lang="en-US" sz="16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memorizza le transizioni (s, a, r, s') per rompere le correlazioni temporali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6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Networks</a:t>
            </a:r>
            <a:endParaRPr lang="en-US" sz="16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 lente dell'actor e del critic, aggiornate con soft-update τ≈0.001, stabilizzano il training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6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Rumore di esplorazione</a:t>
            </a:r>
            <a:endParaRPr lang="en-US" sz="16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aggiunge rumore OU (Ornstein-Uhlenbeck) all'azione per esplorare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Flusso: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genera azione → Critic valuta → Critic si aggiorna con Bellman → Actor si aggiorna per massimizzare il Critic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974336"/>
            <a:ext cx="36576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 TORCS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DDPG: Iperparametri tipici per TORCS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783080" cy="3291840"/>
          </a:xfrm>
          <a:prstGeom prst="rect">
            <a:avLst/>
          </a:prstGeom>
          <a:solidFill>
            <a:srgbClr val="1A2E44"/>
          </a:solidFill>
          <a:ln w="254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C8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64-256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1600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Neuroni per layer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nell'Actor e nel Critic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14600" y="1097280"/>
            <a:ext cx="1783080" cy="3291840"/>
          </a:xfrm>
          <a:prstGeom prst="rect">
            <a:avLst/>
          </a:prstGeom>
          <a:solidFill>
            <a:srgbClr val="1A2E44"/>
          </a:solidFill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14600" y="146304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1e-4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606040" y="2926080"/>
            <a:ext cx="1600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(Adam optimizer)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097280"/>
            <a:ext cx="1783080" cy="3291840"/>
          </a:xfrm>
          <a:prstGeom prst="rect">
            <a:avLst/>
          </a:prstGeom>
          <a:solidFill>
            <a:srgbClr val="1A2E44"/>
          </a:solidFill>
          <a:ln w="254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0" y="146304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50K+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663440" y="2926080"/>
            <a:ext cx="1600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Buffer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(transizioni memorizzate)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29400" y="1097280"/>
            <a:ext cx="1783080" cy="3291840"/>
          </a:xfrm>
          <a:prstGeom prst="rect">
            <a:avLst/>
          </a:prstGeom>
          <a:solidFill>
            <a:srgbClr val="1A2E44"/>
          </a:solidFill>
          <a:ln w="25400">
            <a:solidFill>
              <a:srgbClr val="AA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29400" y="146304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AA6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0.95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720840" y="2926080"/>
            <a:ext cx="1600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(discount factor)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giri completi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PPO – Proximal Policy Optimization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on-policy, stabile e versatile: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usa un replay buffer: impara dalla traiettoria corrente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 Value function condivise (o separate) in una rete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chiave – il clipping: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 quanto la policy può cambiare in un singolo aggiornamento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L(θ) = min(r·A, clip(r, 1−ε, 1+ε)·A)   con ε ≈ 0.2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aggiornamenti troppo grandi che destabilizzano la policy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Vantaggi rispetto a DDPG: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stabile: difficilmente esplode durante il training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semplice da implementare (Stable-Baselines3: 3 righe!)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Svantaggio: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On-policy: meno efficiente in termini di sample, serve più interazione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974336"/>
            <a:ext cx="36576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 TORCS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PPO con Stable-Baselines3 (3 righe!)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3840480"/>
          </a:xfrm>
          <a:prstGeom prst="rect">
            <a:avLst/>
          </a:prstGeom>
          <a:solidFill>
            <a:srgbClr val="0A1628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stable_baselines3 import PPO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gym_torcs import TorcsEnv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= TorcsEnv(throttle=True, gear_change=False)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8FA3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 e allena il modello PPO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PPO(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'MlpPolicy',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env,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learning_rate=3e-4,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n_steps=2048,      # step per aggiornamento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batch_size=64,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n_epochs=10,       # passi di ottimizzazione per batch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gamma=0.99,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verbose=1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model.learn(total_timesteps=1_000_000)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model.save('ppo_torcs')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974336"/>
            <a:ext cx="36576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 TORCS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DDPG vs PPO: confronto pratico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26280" y="1005840"/>
            <a:ext cx="36576" cy="374904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40690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Off-policy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riusa le esperienze passate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Azioni continue native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steer preciso senza discretizzare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Instabile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sensibile agli iperparametri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Richiede tuning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replay buffer, target nets, rumore OU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Buono se volete precisione massima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63440" y="1051560"/>
            <a:ext cx="41148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Molto stabile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raramente esplode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Semplice da usare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SB3 pronto all'uso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On-policy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meno efficiente, più episodi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Convergenza lenta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specialmente in ambienti complessi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Buono se volete risultati rapidi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4974336"/>
            <a:ext cx="36576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 TORCS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Stable-Baselines3: altri algoritmi disponibili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– Soft Actor-Critic (raccomandato!):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Off-policy come DDPG ma molto più stabile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Ottimizza anche l'entropia della policy (esplorazione automatica)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Spesso supera DDPG e PPO su task continui → ottimo per TORCS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TD3 – Twin Delayed DDPG: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 migliorata di DDPG (due critic, policy update ritardato)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 overestimation, più stabile di DDPG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disponibili con la stessa API: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stable_baselines3 import SAC, TD3, DDPG, PPO, A2C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Stessa interfaccia: .learn(), .predict(), .save()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974336"/>
            <a:ext cx="36576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 TORCS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2E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00C8E0">
                    <a:alpha val="7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Imitation Learning</a:t>
            </a:r>
            <a:endParaRPr lang="en-US" sz="3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Imitation Learning: l'idea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Invece di imparare per trial &amp; error: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Raccogliamo dimostrazioni da un guidatore esperto (o bot TORCS)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L'agente impara a imitare quel comportamento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Vantaggi: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veloce da trainare: non serve esplorare da zero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dipende da una reward function (che può essere difficile da progettare)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Utile come inizializzazione per RL successivo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Svantaggi: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Limitato dalla qualità del dimostratore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Distributional shift: l'agente incontra stati mai visti nelle demo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Fonti di dimostrazione in TORCS: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interni di TORCS (veloci, precisi sul tracciato noto)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 manuale con gamepad/tastiera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974336"/>
            <a:ext cx="36576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 TORCS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Behavioral Cloning (BC)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Approccio più semplice: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Trattare il problema come supervised learning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stato s_t  →  Output: azione a_t del dimostratore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Raccogliere N episodi con il bot TORCS (salva stato→azione)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Trainare una rete neurale su questi dati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Usare la rete come policy dell'agente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tipica: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[trackPos, angle, speed, track[5–19]] → Dense → Dense → [steer, accel]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MSE tra azione prevista e azione del dimostratore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principale: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Covariate shift: piccoli errori si accumulano → l'agente si perde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974336"/>
            <a:ext cx="36576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 TORCS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Behavioral Cloning: raccolta dati e training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3840480"/>
          </a:xfrm>
          <a:prstGeom prst="rect">
            <a:avLst/>
          </a:prstGeom>
          <a:solidFill>
            <a:srgbClr val="0A1628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8FA3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Raccolta dati dal bot TORCS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np; from gym_torcs import TorcsEnv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= TorcsEnv(throttle=True)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states, actions = [], []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 = env.reset(relaunch=True)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_ in range(10000):  # 10k step di demo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azione del bot integrato (scr_server)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action = bot_policy(obs)  # steer/accel dal bot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states.append(extract_features(obs))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actions.append(action)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obs, _, done = env.step(action)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done: obs = env.reset(relaunch=True)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8FA3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Training con keras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tensorflow import keras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keras.Sequential([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keras.layers.Dense(128, activation='relu'),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keras.layers.Dense(64,  activation='relu'),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keras.layers.Dense(2,   activation='tanh')  # [steer, accel]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model.compile(optimizer='adam', loss='mse')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00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model.fit(np.array(states), np.array(actions), epochs=50)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974336"/>
            <a:ext cx="36576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 TORCS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DAgger – Dataset Aggregation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Soluzione al covariate shift: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L'agente guida autonomamente, ma l'esperto corregge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iterativo: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Trainare policy π₁ su dati iniziali dell'esperto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Eseguire π₁ nell'ambiente e raccogliere stati visitati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Chiedere all'esperto le azioni corrette per quegli stati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Aggiungere al dataset e ri-trainare → π₂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Ripetere (3-5 iterazioni bastano spesso)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Vantaggio: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L'agente impara a correggere gli errori che lui stesso commette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dataset copre gli stati realmente visitati dall'agente (non solo quelli dell'esperto)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TORCS: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bot TORCS può fare da esperto in automatico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974336"/>
            <a:ext cx="36576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 TORCS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RL + Imitation Learning: ibrido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Approccio potente: BC per inizializzare, RL per ottimizzare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– Pre-training con BC: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Trainare l'actor di DDPG/SAC con behavioral cloning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L'agente parte già con una policy ragionevole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– Fine-tuning con RL: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Continuare il training con RL per superare il dimostratore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convergenza è molto più rapida (già si parte da una buona policy)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b="1" dirty="0">
                <a:solidFill>
                  <a:srgbClr val="A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Variante: GAIL (Generative Adversarial Imitation Learning):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discriminatore distingue l'agente dall'esperto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reward è implicita: imitare lo stile dell'esperto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Consiglio per la gara: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+ RL è il miglior rapporto sforzo/risultato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974336"/>
            <a:ext cx="36576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 TORCS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2E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00C8E0">
                    <a:alpha val="7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Sfide comuni e consigli pratici</a:t>
            </a:r>
            <a:endParaRPr lang="en-US" sz="3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Sfide del Deep RL su TORCS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950976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Hacking: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L'agente trova scorciatoie che massimizzano la reward senza guidare bene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Es. girare sul posto (accumula reward senza rischio di uscita)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Soluzioni:</a:t>
            </a:r>
            <a:endParaRPr lang="en-US" sz="11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10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penalizzare basse velocità, aggiungere reward per distanza percorsa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Catastrophic Forgetting: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Imparare su un nuovo tracciato cancella quello che si sapeva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Soluzioni:</a:t>
            </a:r>
            <a:endParaRPr lang="en-US" sz="11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10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replay (DDPG/SAC), cambio frequente di tracciato durante il training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 locali: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L'agente si stabilizza su comportamenti subottimali (es. va lento ma non esce)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Soluzioni:</a:t>
            </a:r>
            <a:endParaRPr lang="en-US" sz="11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10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bonus (PPO), rumore OU (DDPG), reset aggressivi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Target: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target Q cambia mentre la rete si aggiorna → instabilità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Soluzioni:</a:t>
            </a:r>
            <a:endParaRPr lang="en-US" sz="11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10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networks con soft update (DDPG/SAC)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974336"/>
            <a:ext cx="36576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 TORCS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Consigli pratici per la gara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26280" y="1005840"/>
            <a:ext cx="36576" cy="374904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40690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 err="1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Usate</a:t>
            </a: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termination aggressiva (uscita pista → reset)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Salvate checkpoint ogni 50 episodi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Monitorate reward media + deviazione standard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engineering: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Normalizzate tutti gli input in [−1, 1] o [0, 1]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19 raggi track sono molto informativi per le curve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speedX normalizzata è utile per decidere quando frenare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63440" y="1051560"/>
            <a:ext cx="41148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Debugging: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Visualizzate sempre la reward per episodio nel tempo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reward non sale dopo 100 ep → cambiate reward o iperparametri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Renderate qualche episodio per capire cosa sta facendo l'agente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b="1" dirty="0">
                <a:solidFill>
                  <a:srgbClr val="A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rete: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layer hidden, 64–256 neuroni per layer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Attivazioni ReLU (hidden), tanh (output azioni)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normalization può aiutare la stabilità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SAC/PPO: risultati decenti in 200K–500K step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DDPG: 500K–1M step per convergere bene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4974336"/>
            <a:ext cx="36576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 TORCS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Confronto tra tutti gli approcci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tabellare: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Semplice da implementare, comprensibile, nessuna libreria esterna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Discretizzazione forzata, non scala a stati complessi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Ideale come primo approccio o per lane keeping di base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Cloning: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Veloce, non richiede reward function, buon punto di partenza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Limitato dall'esperto, covariate shift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Ottimo come inizializzazione o per risultati rapidi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/ SAC (Deep RL):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Stabile, versatile, pronto all'uso con SB3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Richiede molti episodi, iperparametri da tuggare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Miglior potenziale di performance finale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b="1" dirty="0">
                <a:solidFill>
                  <a:srgbClr val="A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+ RL (ibrido):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 Convergenza rapida + performance superiori all'esperto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974336"/>
            <a:ext cx="36576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 TORCS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Buona fortuna!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C8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Risorse utili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github.com/ugo-nama-kun/gym_torcs  —  interfaccia Python storica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github.com/gerkone/pyTORCS-docker  —  versione moderna con Docker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github.com/YurongYou/rlTORCS  —  esempi Deep RL su TORCS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github.com/A-Raafat/Torcs---Reinforcement-Learning-using-Q-Learning  —  Q-Learning discreto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stable-baselines3.readthedocs.io  —  framework RL PPO/SAC/DDPG/TD3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amslaurea.unibo.it (Galletti, 2019)  —  tesi pyTORCS e confronto DDPG vs PPO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11218</TotalTime>
  <Words>11712</Words>
  <Application>Microsoft Macintosh PowerPoint</Application>
  <PresentationFormat>On-screen Show (16:9)</PresentationFormat>
  <Paragraphs>671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Tecniche AI per TORCS</dc:title>
  <dc:subject>PptxGenJS Presentation</dc:subject>
  <dc:creator>Gara TORCS</dc:creator>
  <cp:lastModifiedBy>Giovanni Galatro</cp:lastModifiedBy>
  <cp:revision>3</cp:revision>
  <dcterms:created xsi:type="dcterms:W3CDTF">2026-04-29T09:00:49Z</dcterms:created>
  <dcterms:modified xsi:type="dcterms:W3CDTF">2026-05-07T07:12:37Z</dcterms:modified>
</cp:coreProperties>
</file>